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86036"/>
  </p:normalViewPr>
  <p:slideViewPr>
    <p:cSldViewPr snapToGrid="0" snapToObjects="1">
      <p:cViewPr varScale="1">
        <p:scale>
          <a:sx n="349" d="100"/>
          <a:sy n="349" d="100"/>
        </p:scale>
        <p:origin x="238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User mix</c:v>
                </c:pt>
              </c:strCache>
            </c:strRef>
          </c:tx>
          <c:spPr>
            <a:solidFill>
              <a:schemeClr val="accent1"/>
            </a:solidFill>
            <a:ln w="9525" cap="flat">
              <a:solidFill>
                <a:srgbClr val="F9F9F9"/>
              </a:solidFill>
              <a:prstDash val="solid"/>
              <a:round/>
            </a:ln>
            <a:effectLst/>
          </c:spPr>
          <c:dPt>
            <c:idx val="0"/>
            <c:bubble3D val="0"/>
            <c:spPr>
              <a:solidFill>
                <a:srgbClr val="065A82"/>
              </a:solidFill>
              <a:effectLst/>
            </c:spPr>
            <c:extLst>
              <c:ext xmlns:c16="http://schemas.microsoft.com/office/drawing/2014/chart" uri="{C3380CC4-5D6E-409C-BE32-E72D297353CC}">
                <c16:uniqueId val="{00000001-28B0-1842-B6CB-780E2723C794}"/>
              </c:ext>
            </c:extLst>
          </c:dPt>
          <c:dPt>
            <c:idx val="1"/>
            <c:bubble3D val="0"/>
            <c:spPr>
              <a:solidFill>
                <a:srgbClr val="1C7293"/>
              </a:solidFill>
              <a:effectLst/>
            </c:spPr>
            <c:extLst>
              <c:ext xmlns:c16="http://schemas.microsoft.com/office/drawing/2014/chart" uri="{C3380CC4-5D6E-409C-BE32-E72D297353CC}">
                <c16:uniqueId val="{00000003-28B0-1842-B6CB-780E2723C794}"/>
              </c:ext>
            </c:extLst>
          </c:dPt>
          <c:dPt>
            <c:idx val="2"/>
            <c:bubble3D val="0"/>
            <c:spPr>
              <a:solidFill>
                <a:srgbClr val="9CB7CB"/>
              </a:solidFill>
              <a:effectLst/>
            </c:spPr>
            <c:extLst>
              <c:ext xmlns:c16="http://schemas.microsoft.com/office/drawing/2014/chart" uri="{C3380CC4-5D6E-409C-BE32-E72D297353CC}">
                <c16:uniqueId val="{00000005-28B0-1842-B6CB-780E2723C794}"/>
              </c:ext>
            </c:extLst>
          </c:dPt>
          <c:dLbls>
            <c:dLbl>
              <c:idx val="0"/>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28B0-1842-B6CB-780E2723C794}"/>
                </c:ext>
              </c:extLst>
            </c:dLbl>
            <c:dLbl>
              <c:idx val="1"/>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28B0-1842-B6CB-780E2723C794}"/>
                </c:ext>
              </c:extLst>
            </c:dLbl>
            <c:dLbl>
              <c:idx val="2"/>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28B0-1842-B6CB-780E2723C794}"/>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Users at R1 universities (54)</c:v>
                </c:pt>
                <c:pt idx="1">
                  <c:v>Users at non-R1 institutions (97)</c:v>
                </c:pt>
                <c:pt idx="2">
                  <c:v>Other / unclassified</c:v>
                </c:pt>
              </c:strCache>
            </c:strRef>
          </c:cat>
          <c:val>
            <c:numRef>
              <c:f>Sheet1!$B$2:$B$4</c:f>
              <c:numCache>
                <c:formatCode>General</c:formatCode>
                <c:ptCount val="3"/>
                <c:pt idx="0">
                  <c:v>73</c:v>
                </c:pt>
                <c:pt idx="1">
                  <c:v>25</c:v>
                </c:pt>
                <c:pt idx="2">
                  <c:v>2</c:v>
                </c:pt>
              </c:numCache>
            </c:numRef>
          </c:val>
          <c:extLst>
            <c:ext xmlns:c16="http://schemas.microsoft.com/office/drawing/2014/chart" uri="{C3380CC4-5D6E-409C-BE32-E72D297353CC}">
              <c16:uniqueId val="{00000006-28B0-1842-B6CB-780E2723C794}"/>
            </c:ext>
          </c:extLst>
        </c:ser>
        <c:dLbls>
          <c:showLegendKey val="0"/>
          <c:showVal val="0"/>
          <c:showCatName val="0"/>
          <c:showSerName val="0"/>
          <c:showPercent val="0"/>
          <c:showBubbleSize val="0"/>
          <c:showLeaderLines val="0"/>
        </c:dLbls>
        <c:firstSliceAng val="0"/>
        <c:holeSize val="50"/>
      </c:doughnutChart>
      <c:spPr>
        <a:solidFill>
          <a:srgbClr val="FFFFFF"/>
        </a:solidFill>
        <a:ln>
          <a:noFill/>
        </a:ln>
        <a:effectLst/>
      </c:spPr>
    </c:plotArea>
    <c:legend>
      <c:legendPos val="b"/>
      <c:overlay val="0"/>
      <c:txPr>
        <a:bodyPr/>
        <a:lstStyle/>
        <a:p>
          <a:pPr>
            <a:defRPr sz="1000">
              <a:solidFill>
                <a:srgbClr val="374151"/>
              </a:solidFill>
              <a:latin typeface="Calibri"/>
              <a:cs typeface="Calibri"/>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27267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I'm going to spend the next twenty minutes giving you a tour of the National Research Platform — or NRP — and what I learned at the 7NRP conference earlier this month in San Diego.
My goal is to leave you with three things: a clear mental model of what NRP is and how it works, a feel for who is already using it and how, and a sense of why I think this matters for Cal Poly and for the work many of you do in IT.
This is intentionally a high-level talk. I'm not going to go deep on Kubernetes or networking — but I will point to where to learn more. Hold questions to the end if you can; if not, jump 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sections. We'll spend the most time in the middle three — how NRP works, who's using it, and what Cal Poly and the CSUs are doing today.
I'm aiming to leave four or five minutes at the end for discussion. If something I say sparks a thought, jot it down — we'll come back to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elevator pitch. The simplest way I can describe NRP is "community-owned cyberinfrastructure" — and every word in that phrase matters.
Community-owned: the hardware mostly belongs to participating institutions. SDSC, Nebraska-Lincoln, MGHPCC, and Internet2 operate it as a federation. CENIC handles networking on the West Coast.
Cyberinfrastructure: it's not just compute. It's a tightly integrated stack of Kubernetes, storage, networking, identity, and software — designed to make research and teaching workloads run easily across institutions.
And it sits on three pillars: research, education, and public-private partnerships. The research mission was there from day one; the education mission is what makes NRP unusual among national-scale cyberinfrastructure; the public-private piece is how the platform keeps growing.
One important framing — Frank Würthwein, who directs SDSC, was clear at the conference that the proposal was for Kubernetes. The Jupyter explosion was a surprise. We'll come back to that.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numbers Frank shared in his State of NRP keynote.
A few things to call out. First, the geographic footprint — 129 sites in 45 states. This isn't a regional resource. Second, the GPU number is up dramatically from 2023; that growth comes almost entirely from contributing institutions, not from NSF. Third, that 90% Jupyter figure is the surprise of the platform — only a small slice of users ever touch raw Kubernetes.
For comparison: NSF ACCESS, the primary national allocation mechanism, serves about 12,000 users per year. NRP serves roughly half that — and is growing fast. We'll come back to the comparison.
If you only remember one slide from this talk, this is a good candidate.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does this actually work? Picture four layers.
At the bottom: hardware contributed by member campuses, connected over research and education networks — Pacific Wave, CENIC out here in California, Internet2 nationally.
Above that: Kubernetes — the cluster is called Nautilus — plus CILogon for federated single sign-on, and namespaces to isolate institutional workloads.
Above that: platform services. JupyterHub for notebooks, vLLM serving open-weight models, an Envoy gateway that handles all the authentication and token accounting, and OSDF for object storage.
And at the top: the user experience. For 90% of people that's Jupyter in a browser. For others it's chat-style LLM access or raw Kubernetes for custom workflows.
The right side is the part that matters for IT folks: when a campus contributes hardware, NRP runs it. They handle the cluster operations, the patching, the security responses. A faculty member from CSU Fullerton at the conference said "we still have root access — we just don't have to do anything." That's the model.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 keep coming back to.
When NRP was proposed, it was described as a Kubernetes platform — and Kubernetes was supposed to be the API. What actually happened is that JupyterHub became the front door for almost everyone. Today 90% of NRP users are Jupyter users; they may never write a YAML file in their lives.
That matters for two reasons. First, it dramatically lowers the barrier to entry. A student in an intro stats class clicks a link in Canvas and is computing. No installs, no environment hell, no package management.
Second — and this is the Frank Würthwein argument — Jupyter changes the shape of the classroom. Students stop watching the instructor work problems and start working problems themselves, in real time, on real data, even in classes with hundreds of students. UCSD has built an institution around this idea.
For us in IT: when a faculty member says "I want my students to use the cloud" or "we need GPUs for our class," nine times out of ten what they actually want is a managed Jupyter environment. NRP is one of the strongest options on the table.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most exciting developments — and a real surprise — is what NRP is doing with LLM inference.
They've stood up an OpenAI-compatible API in front of about ten frontier open-weight models — Llama, Qwen, Mistral, the usual suspects. You log in at nrp.ai with your campus credentials, generate a bearer token, and you can hit it from a Jupyter notebook, OpenWebUI, LibreChat, or your own script.
It's free for any NRP user. Mohammad Firas Sada from SDSC walked us through the architecture — there's exactly one door, one auth, one log, and Envoy handles routing and accounting.
The usage stats are striking. They've peaked at 17 billion tokens per week. Roughly $300K worth of inference in the last quarter — and 72% of that token consumption is from California. The traffic is overwhelmingly input-heavy, which means people aren't chatting with these models, they're running retrieval-augmented workflows over large documents.
The takeaway for us: if we have faculty or students who want to experiment with LLMs but can't justify OpenAI bills, this is a real option. And it works inside their Jupyter notebooks.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who actually uses this thing?
You'd expect a national cyberinfrastructure platform to be dominated by R1 research universities. NRP isn't — and that's the most interesting fact on this slide.
73% of users are at the 54 R1 institutions on the platform. 25% are at the 97 non-R1 institutions. There are nearly twice as many non-R1 institutions participating as R1s. That ratio is unusual and intentional.
The reason is the classroom workload. NRP isn't measured in supercomputing hours; it's measured in students taught. A community college teaching intro data science can plug in just as easily as Stanford running deep-learning regulatory genomics.
The access model is simple — free at point of use for any U.S. researcher or educator. Students need a PI to authorize them, but otherwise the friction is low.
This is the part of NRP's design that I think is most worth thinking about for Cal Poly. Our profile — strong teaching, growing research, comprehensive polytechnic — is exactly the kind of institution NRP is built for.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does a campus actually become part of NRP?
The pattern, as Frank described it, has four stages.
First, faculty explore. A handful of curious researchers or educators just start using the platform — no contribution required, no money, no MOUs. They sign in at nrp.ai and they're working.
Second, when there's enough faculty interest, the campus decides whether to contribute hardware. This is typically a one-time capital purchase — a rack of GPU servers — that the campus owns but lets NRP operate.
Third, the regional network — CENIC for us — provisions a Science DMZ to bring that hardware online at 10 gigabits or more. Worth defining that term for this audience: a Science DMZ is a dedicated, high-throughput network segment at the campus edge, purpose-built for large research data flows. Unlike our standard CENIC connection — where traffic passes through stateful firewalls and enterprise security appliances that throttle big transfers — a Science DMZ routes science data around those bottlenecks on a friction-free path, securing it with targeted access controls and monitoring tools like perfSONAR rather than throughput-limiting firewalls. The good news is Cal Poly already has a Science DMZ, so a key piece of the NRP on-ramp is effectively already built for us.
Fourth, the NRP team takes over operations from IPMI up. The campus keeps its own namespace and root access if it wants it; what they're outsourcing is the day-to-day cluster ops, the patching, the on-call.
The CSU campuses on the platform — SDSU, San Bernardino, Fullerton, Humboldt — all followed roughly this path. We'll look at their stories next.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I first drafted this talk I only knew of one Cal Poly researcher on NRP — Lauren Chan. Since then I've become an admin of the Cal Poly root namespace, with access to the NRP Grafana usage dashboards, and the real picture is much richer.
We have 8 active namespaces, 8 unique PIs, and roughly 16,000 GPU hours and 251,000 CPU hours of activity. GPU usage is dominated by Paul Anderson's lab, with Lauren Chan's lab second; CPU usage is spread broadly across all eight researchers — Anderson, Appleby, Chan, Pantoja, Ruiz, Villafana, Farzan, and my own test namespace.
The striking thing is that all of this happened organically — these researchers found NRP and started using it with no central ITS involvement at all. That's both the headline and the opportunity: there's real, broad-based demand here that we could be supporting and accelerating.
On the right is one researcher's work in depth. Lauren Chan in Evolutionary Biology does conservation computational genomics — reference-genome decontamination, variant calling across full genomes for a hundred individuals — and her lab has logged 892 GPU hours and 27.3K CPU hours to date. Larry Smarr highlighted her work in the "Whirlwind Tour of Science" session at the conference.
I'll come back to specific opportunities for ITS later in the talk.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useful session for me personally was the CSU panel — Kyle Krick from SDSU, Dung Vu from San Bernardino, and Dhusdee Chandswang from Fullerton. Three campuses, three approaches, all worth borrowing from.
SDSU built a named instructional cluster called VERNE — $650K, with JupyterHub on top and student assistants doing tier-one support. Their hard-won lesson was the obvious one in retrospect: just because you build it doesn't mean they will come. Demand creation, faculty engagement, and instructor onboarding turned out to be the real work.
San Bernardino has the most interesting model: Build, Operate, Transfer. They stand up a JupyterHub for a partner — a community college, or in their case Loma Linda University — run it during the term, and gradually hand it over. They've built playbooks for staging resources ahead of demand.
Fullerton went big on faculty enablement. The IT shop partnered with Academic Affairs and the colleges to co-design reusable course modules with instructional designers. Their key insight: Jupyter is not just for STEM. Once you've got the infrastructure, you can put humanities and social science faculty on it too.
Three different routes, same destination — and all useful patterns if we decide to go deeper.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going to fly through this. Six science vignettes — three from the CSUs, three from elsewhere.
AIIRA out of Iowa State trained pest and weed identification models with 200,000 GPU hours on the DGX cloud and now serves InsectNet through a web app with 98% accuracy across 3,800 species. The Iron Horse vineyard in Sonoma is a CENIC-connected living lab where the vineyard owner calls AI "the new tractor."
BurnPro3D runs full 3D fire and smoke simulations to plan prescribed burns. CAL FIRE is using it operationally. It only became possible because NRP gives them elastic compute they couldn't get on a traditional supercomputer schedule.
JAX climate emulators from Duncan Watson-Parris at Scripps are rewriting legacy Fortran climate models in differentiable Python, runnable on any accelerator. Deep learning is being used to mine satellite imagery for cloud morphology.
On the health side, a CSU Fullerton graduate student used 4,500 GPU hours building an Alzheimer's classification pipeline on brain MRIs across 1,200 participants.
San Bernardino is running 50,000 GPU hours of VASP for quantum molecular dynamics — and Cal Poly's Lauren Chan is on the same infrastructure as Stanford's Anshul Kundaje, who used 130,000 GPU hours decoding regulatory genomics.
The point isn't the specific projects. It's the breadth — climate to materials to genomics to wildfire, R1s and CSUs side by side.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want to see what "digital assets in the classroom" looks like at scale, UCSD is the case study.
30,000 students per year on their DataHub. 30 departments. Sam Lau showed us a Music and Machine Learning class with 1,523 students in a single section, all in Jupyter notebooks.
The history here is instructive. In 2017 UCSD asked the question "what happens if we make compute free for instructors?" The answer was that the whole institution reorganized around it.
In 2025 they rolled out personalized AI tutors across multiple large courses. The argument from Frank Würthwein, who's not exactly a softie, was blunt — "colleges that fail to adopt these methods will go bankrupt."
I'm not asking you to agree with him. But the framing matters: human beings learn better by doing than by watching, and digital assets — notebooks and tutors and LLMs — are what make doing possible in a 1,500-person lecture hall.
The 2026 experiment at UCSD is "what happens if we make AI free for instructors?" That experiment is running on the same NRP infrastructure I described two slides ago.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part of the conference that stuck with me most.
California has the strongest community college system in the country — 2.2 million students across 116 colleges, more than the CSUs and UCs combined. 30% of all U.S. transfer students come out of CCCs. Half of every CSU incoming class is a transfer student.
So when UCSD or Stanford gives every undergraduate a personalized AI tutor and a Jupyter environment, the question is what happens to the student transferring in from Cuesta or Allan Hancock who's never seen any of it.
Sean Michael Morris from UC Berkeley walked us through their Data8 outreach — 3,000 students per semester, now reaching 27 California community colleges, 2 high schools, and 11 CSUs and UCs. It's free, the notebooks are open-source, the infrastructure runs on CloudBank.
For Cal Poly — given our strong transfer relationship with Cuesta and Allan Hancock — this is exactly the kind of work that's directly relevant. And IT can play a real role on two fronts. First, the unglamorous plumbing: identity federation, single sign-on, the connectivity that makes pipelines like this work. Second — and this is newer — we're making real program investments. In partnership with the Noyce School of Applied Computing, ITS is standing up focused academic and research computing support, so this kind of work has a dedicated home in IT rather than depending on individual faculty to navigate it alone.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NRP fit in the larger research computing ecosystem?
The simplest way to think about it: there's a small constellation of national-scale platforms, and NRP is the one purpose-built for breadth — both research and education, both R1s and non-R1s.
NSF ACCESS is the umbrella allocation system — about 12,000 users a year, very proposal-driven. NAIRR is the federal AI testbed that grew out of the CHIPS Act conversation; about 700 active projects, 6,000+ students. NERSC is the DOE Office of Science workhorse — Perlmutter and its successors, very different audience.
NDP — the National Data Platform — is something I haven't said much about yet. It's the data layer designed to sit alongside NRP. Ilkay Altintas's argument at the conference was that GPUs alone aren't AI infrastructure — what's missing is data readiness, knowledge graphs, and agentic workflows. NDP is the answer. Increasingly NRP and NDP are referenced as a pair.
For our purposes: NRP is the one with the broadest open access model, the most education focus, and the most direct California presence. NAIRR is worth tracking; it's where the federal AI investment is flowing.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words on where I think this is headed, based on what I heard at the conference.
First — and this came up in almost every keynote — the next wave isn't better chatbots. It's agentic AI sitting on top of trusted national-scale scientific infrastructure. The argument from Ilkay Altintas at SDSC was that GPUs alone are not AI infrastructure; you need workflows, governance, knowledge graphs, and data lineage. NDP is being built explicitly for that.
Second, the federation of NRP and NDP is increasingly explicit. NDP endpoints — lightweight catalog and workspace services — are designed to be deployable anywhere, including on a campus, an edge device, or a cloud. The phrase that stuck with me was "workflow is not teamflow."
Third, the same ecosystem now spans from a vineyard sensor in Sebastopol up through campus GPU clusters to NSF's Leadership Class Computing Facility coming online with 4,000 Blackwell GPUs.
Fourth — and this is the bit that touches all of us — the sustainability picture is genuinely uncertain. NSF is open and making awards, but it's reorganizing. NAIRR is on a path from pilot to foundation to at-scale. NRP is itself part of that conversation.
The short version: things are moving, the architecture is converging, and now is a reasonable time to pay attention.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takeaways to leave you with.
One: NRP is real and operating at meaningful scale. Cal Poly is already on it through at least one researcher. The cost of exploring more is zero.
Two: Kubernetes is the substrate but Jupyter is the front door for almost everyone. If we're going to engage, the question isn't "do we run Kubernetes" — it's "do we make Jupyter easy for our faculty and students."
Three: NRP genuinely serves both research and education. Jupyter is what makes it accessible, and it's how the majority of users get in — but I don't want to overstate it. A significant portion of actual cluster usage happens through other Kubernetes-based methods. The user counts and the usage counts tell slightly different stories, and I haven't found clean statistics that cleanly separate the two. The real point is breadth: NRP supports teaching and research at once, which is a strong fit for a comprehensive polytechnic like ours.
Four: California — and especially the CSU system — is central to the NRP story. CENIC is the network. SDSU, CSUSB, Fullerton, and Humboldt are already on the platform. We have ready peers to learn from.
Five: this work doesn't fit neatly into the boxes IT typically uses. It's part research computing, part academic technology, part identity and security, part network engineering, part data governance. Some of the most interesting opportunities sit in the seams between those teams — including the one we're in right now.</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resource page so you have something to take with you.
The single most useful link is nrp.ai itself — you can sign in with your campus credentials and start exploring inside of five minutes. nrp.ai/llmtoken gets you an LLM API token if you want to play with that.
The National Data Platform is at nationaldataplatform.org — they're running an educator workshop in early August if you're interested. NAIRR resource requests are a three-page form with a six-week turnaround, much lighter weight than a full NSF proposal.
For the curricular side, data8.org has the open course materials, and the Carpentries are still the best general community for teaching computational skills. SDSC's Societal Computing &amp; Innovation Lab — scil.ucsd.edu — is where the wildfire and climate work I mentioned is centered.
And of course, please reach out. I have notes from every session, contacts at SDSU, San Bernardino, Fullerton, and SDSC who've offered to help, and I'd much rather have a conversation than answer questions in chat.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I'd love to hear what's catching your attention — whether that's a particular use case, a question about how we'd actually get hardware on the platform, or a connection to something you're working on.
A few prompts in case nothing jumps out:
— Do any of you know Cal Poly faculty already using NRP? I'd love to be connected.
— Where do you see the most natural starting point for ITS engagement — identity federation, networking, namespace operations, faculty support?
— Are there CSU or CCC partnerships in your part of the org that we should be coordinating with?
Floor is open.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9B2D"/>
          </a:solidFill>
          <a:ln w="12700">
            <a:solidFill>
              <a:srgbClr val="C99B2D"/>
            </a:solidFill>
            <a:prstDash val="solid"/>
          </a:ln>
        </p:spPr>
        <p:txBody>
          <a:bodyPr/>
          <a:lstStyle/>
          <a:p>
            <a:endParaRPr lang="en-US"/>
          </a:p>
        </p:txBody>
      </p:sp>
      <p:sp>
        <p:nvSpPr>
          <p:cNvPr id="3" name="Text 1"/>
          <p:cNvSpPr/>
          <p:nvPr/>
        </p:nvSpPr>
        <p:spPr>
          <a:xfrm>
            <a:off x="640080" y="1280160"/>
            <a:ext cx="7863840" cy="502920"/>
          </a:xfrm>
          <a:prstGeom prst="rect">
            <a:avLst/>
          </a:prstGeom>
          <a:noFill/>
          <a:ln/>
        </p:spPr>
        <p:txBody>
          <a:bodyPr wrap="square" lIns="0" tIns="0" rIns="0" bIns="0" rtlCol="0" anchor="ctr"/>
          <a:lstStyle/>
          <a:p>
            <a:pPr marL="0" indent="0" algn="l">
              <a:buNone/>
            </a:pPr>
            <a:r>
              <a:rPr lang="en-US" sz="1600" b="1" kern="0" spc="800" dirty="0">
                <a:solidFill>
                  <a:srgbClr val="9CC2DC"/>
                </a:solidFill>
                <a:latin typeface="Calibri" pitchFamily="34" charset="0"/>
                <a:ea typeface="Calibri" pitchFamily="34" charset="-122"/>
                <a:cs typeface="Calibri" pitchFamily="34" charset="-120"/>
              </a:rPr>
              <a:t>THE NATIONAL RESEARCH PLATFORM</a:t>
            </a:r>
            <a:endParaRPr lang="en-US" sz="1600" dirty="0"/>
          </a:p>
        </p:txBody>
      </p:sp>
      <p:sp>
        <p:nvSpPr>
          <p:cNvPr id="4" name="Text 2"/>
          <p:cNvSpPr/>
          <p:nvPr/>
        </p:nvSpPr>
        <p:spPr>
          <a:xfrm>
            <a:off x="640080" y="1783080"/>
            <a:ext cx="7863840" cy="1463040"/>
          </a:xfrm>
          <a:prstGeom prst="rect">
            <a:avLst/>
          </a:prstGeom>
          <a:noFill/>
          <a:ln/>
        </p:spPr>
        <p:txBody>
          <a:bodyPr wrap="square" lIns="0" tIns="0" rIns="0" bIns="0" rtlCol="0" anchor="t"/>
          <a:lstStyle/>
          <a:p>
            <a:pPr marL="0" indent="0" algn="l">
              <a:buNone/>
            </a:pPr>
            <a:r>
              <a:rPr lang="en-US" sz="3600" b="1" dirty="0">
                <a:solidFill>
                  <a:srgbClr val="FFFFFF"/>
                </a:solidFill>
                <a:latin typeface="Calibri" pitchFamily="34" charset="0"/>
                <a:ea typeface="Calibri" pitchFamily="34" charset="-122"/>
                <a:cs typeface="Calibri" pitchFamily="34" charset="-120"/>
              </a:rPr>
              <a:t>Insights from 7NRP, and what they mean for Cal Poly</a:t>
            </a:r>
            <a:endParaRPr lang="en-US" sz="3600" dirty="0"/>
          </a:p>
        </p:txBody>
      </p:sp>
      <p:sp>
        <p:nvSpPr>
          <p:cNvPr id="5" name="Text 3"/>
          <p:cNvSpPr/>
          <p:nvPr/>
        </p:nvSpPr>
        <p:spPr>
          <a:xfrm>
            <a:off x="640080" y="4114800"/>
            <a:ext cx="786384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Brian Spolarich</a:t>
            </a:r>
            <a:r>
              <a:rPr lang="en-US" sz="1400" dirty="0">
                <a:solidFill>
                  <a:srgbClr val="B9C7DA"/>
                </a:solidFill>
                <a:latin typeface="Calibri" pitchFamily="34" charset="0"/>
                <a:ea typeface="Calibri" pitchFamily="34" charset="-122"/>
                <a:cs typeface="Calibri" pitchFamily="34" charset="-120"/>
              </a:rPr>
              <a:t>  ·  ITS AI Community of Practice  ·  May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lIns="0" tIns="0" rIns="0" bIns="0" rtlCol="0" anchor="ctr"/>
          <a:lstStyle/>
          <a:p>
            <a:pPr marL="0" indent="0" algn="l">
              <a:buNone/>
            </a:pPr>
            <a:r>
              <a:rPr lang="en-US" sz="1100" b="1" kern="0" spc="400" dirty="0">
                <a:solidFill>
                  <a:srgbClr val="1C7293"/>
                </a:solidFill>
                <a:latin typeface="Calibri" pitchFamily="34" charset="0"/>
                <a:ea typeface="Calibri" pitchFamily="34" charset="-122"/>
                <a:cs typeface="Calibri" pitchFamily="34" charset="-120"/>
              </a:rPr>
              <a:t>AGENDA</a:t>
            </a:r>
            <a:endParaRPr lang="en-US" sz="1100" dirty="0"/>
          </a:p>
        </p:txBody>
      </p:sp>
      <p:sp>
        <p:nvSpPr>
          <p:cNvPr id="3" name="Text 1"/>
          <p:cNvSpPr/>
          <p:nvPr/>
        </p:nvSpPr>
        <p:spPr>
          <a:xfrm>
            <a:off x="457200" y="292608"/>
            <a:ext cx="8229600" cy="548640"/>
          </a:xfrm>
          <a:prstGeom prst="rect">
            <a:avLst/>
          </a:prstGeom>
          <a:noFill/>
          <a:ln/>
        </p:spPr>
        <p:txBody>
          <a:bodyPr wrap="square" lIns="0" tIns="0" rIns="0" bIns="0" rtlCol="0" anchor="ctr"/>
          <a:lstStyle/>
          <a:p>
            <a:pPr marL="0" indent="0" algn="l">
              <a:buNone/>
            </a:pPr>
            <a:r>
              <a:rPr lang="en-US" sz="2800" b="1" dirty="0">
                <a:solidFill>
                  <a:srgbClr val="21295C"/>
                </a:solidFill>
                <a:latin typeface="Calibri" pitchFamily="34" charset="0"/>
                <a:ea typeface="Calibri" pitchFamily="34" charset="-122"/>
                <a:cs typeface="Calibri" pitchFamily="34" charset="-120"/>
              </a:rPr>
              <a:t>What we'll cover</a:t>
            </a:r>
            <a:endParaRPr lang="en-US" sz="2800" dirty="0"/>
          </a:p>
        </p:txBody>
      </p:sp>
      <p:sp>
        <p:nvSpPr>
          <p:cNvPr id="4" name="Shape 2"/>
          <p:cNvSpPr/>
          <p:nvPr/>
        </p:nvSpPr>
        <p:spPr>
          <a:xfrm>
            <a:off x="457200" y="868680"/>
            <a:ext cx="8229600" cy="0"/>
          </a:xfrm>
          <a:prstGeom prst="line">
            <a:avLst/>
          </a:prstGeom>
          <a:noFill/>
          <a:ln w="9525">
            <a:solidFill>
              <a:srgbClr val="CBD5E1"/>
            </a:solidFill>
            <a:prstDash val="solid"/>
          </a:ln>
        </p:spPr>
        <p:txBody>
          <a:bodyPr/>
          <a:lstStyle/>
          <a:p>
            <a:endParaRPr lang="en-US"/>
          </a:p>
        </p:txBody>
      </p:sp>
      <p:sp>
        <p:nvSpPr>
          <p:cNvPr id="5" name="Shape 3"/>
          <p:cNvSpPr/>
          <p:nvPr/>
        </p:nvSpPr>
        <p:spPr>
          <a:xfrm>
            <a:off x="502920" y="1115568"/>
            <a:ext cx="384048" cy="384048"/>
          </a:xfrm>
          <a:prstGeom prst="ellipse">
            <a:avLst/>
          </a:prstGeom>
          <a:solidFill>
            <a:srgbClr val="065A82"/>
          </a:solidFill>
          <a:ln w="12700">
            <a:solidFill>
              <a:srgbClr val="065A82"/>
            </a:solidFill>
            <a:prstDash val="solid"/>
          </a:ln>
        </p:spPr>
        <p:txBody>
          <a:bodyPr/>
          <a:lstStyle/>
          <a:p>
            <a:endParaRPr lang="en-US"/>
          </a:p>
        </p:txBody>
      </p:sp>
      <p:sp>
        <p:nvSpPr>
          <p:cNvPr id="6" name="Text 4"/>
          <p:cNvSpPr/>
          <p:nvPr/>
        </p:nvSpPr>
        <p:spPr>
          <a:xfrm>
            <a:off x="502920" y="111556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051560" y="1051560"/>
            <a:ext cx="3291840" cy="502920"/>
          </a:xfrm>
          <a:prstGeom prst="rect">
            <a:avLst/>
          </a:prstGeom>
          <a:noFill/>
          <a:ln/>
        </p:spPr>
        <p:txBody>
          <a:bodyPr wrap="square" lIns="0" tIns="0" rIns="0" bIns="0" rtlCol="0" anchor="ctr"/>
          <a:lstStyle/>
          <a:p>
            <a:pPr marL="0" indent="0" algn="l">
              <a:buNone/>
            </a:pPr>
            <a:r>
              <a:rPr lang="en-US" sz="1600" b="1" dirty="0">
                <a:solidFill>
                  <a:srgbClr val="1A2233"/>
                </a:solidFill>
                <a:latin typeface="Calibri" pitchFamily="34" charset="0"/>
                <a:ea typeface="Calibri" pitchFamily="34" charset="-122"/>
                <a:cs typeface="Calibri" pitchFamily="34" charset="-120"/>
              </a:rPr>
              <a:t>What NRP is</a:t>
            </a:r>
            <a:endParaRPr lang="en-US" sz="1600" dirty="0"/>
          </a:p>
        </p:txBody>
      </p:sp>
      <p:sp>
        <p:nvSpPr>
          <p:cNvPr id="8" name="Text 6"/>
          <p:cNvSpPr/>
          <p:nvPr/>
        </p:nvSpPr>
        <p:spPr>
          <a:xfrm>
            <a:off x="4389120" y="1051560"/>
            <a:ext cx="4297680" cy="502920"/>
          </a:xfrm>
          <a:prstGeom prst="rect">
            <a:avLst/>
          </a:prstGeom>
          <a:noFill/>
          <a:ln/>
        </p:spPr>
        <p:txBody>
          <a:bodyPr wrap="square" lIns="0" tIns="0" rIns="0" bIns="0" rtlCol="0" anchor="ctr"/>
          <a:lstStyle/>
          <a:p>
            <a:pPr marL="0" indent="0" algn="l">
              <a:buNone/>
            </a:pPr>
            <a:r>
              <a:rPr lang="en-US" sz="1300" dirty="0">
                <a:solidFill>
                  <a:srgbClr val="374151"/>
                </a:solidFill>
                <a:latin typeface="Calibri" pitchFamily="34" charset="0"/>
                <a:ea typeface="Calibri" pitchFamily="34" charset="-122"/>
                <a:cs typeface="Calibri" pitchFamily="34" charset="-120"/>
              </a:rPr>
              <a:t>Vision, scale, and the headline numbers</a:t>
            </a:r>
            <a:endParaRPr lang="en-US" sz="1300" dirty="0"/>
          </a:p>
        </p:txBody>
      </p:sp>
      <p:sp>
        <p:nvSpPr>
          <p:cNvPr id="9" name="Shape 7"/>
          <p:cNvSpPr/>
          <p:nvPr/>
        </p:nvSpPr>
        <p:spPr>
          <a:xfrm>
            <a:off x="502920" y="1618488"/>
            <a:ext cx="384048" cy="384048"/>
          </a:xfrm>
          <a:prstGeom prst="ellipse">
            <a:avLst/>
          </a:prstGeom>
          <a:solidFill>
            <a:srgbClr val="065A82"/>
          </a:solidFill>
          <a:ln w="12700">
            <a:solidFill>
              <a:srgbClr val="065A82"/>
            </a:solidFill>
            <a:prstDash val="solid"/>
          </a:ln>
        </p:spPr>
        <p:txBody>
          <a:bodyPr/>
          <a:lstStyle/>
          <a:p>
            <a:endParaRPr lang="en-US"/>
          </a:p>
        </p:txBody>
      </p:sp>
      <p:sp>
        <p:nvSpPr>
          <p:cNvPr id="10" name="Text 8"/>
          <p:cNvSpPr/>
          <p:nvPr/>
        </p:nvSpPr>
        <p:spPr>
          <a:xfrm>
            <a:off x="502920" y="161848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051560" y="1554480"/>
            <a:ext cx="3291840" cy="502920"/>
          </a:xfrm>
          <a:prstGeom prst="rect">
            <a:avLst/>
          </a:prstGeom>
          <a:noFill/>
          <a:ln/>
        </p:spPr>
        <p:txBody>
          <a:bodyPr wrap="square" lIns="0" tIns="0" rIns="0" bIns="0" rtlCol="0" anchor="ctr"/>
          <a:lstStyle/>
          <a:p>
            <a:pPr marL="0" indent="0" algn="l">
              <a:buNone/>
            </a:pPr>
            <a:r>
              <a:rPr lang="en-US" sz="1600" b="1" dirty="0">
                <a:solidFill>
                  <a:srgbClr val="1A2233"/>
                </a:solidFill>
                <a:latin typeface="Calibri" pitchFamily="34" charset="0"/>
                <a:ea typeface="Calibri" pitchFamily="34" charset="-122"/>
                <a:cs typeface="Calibri" pitchFamily="34" charset="-120"/>
              </a:rPr>
              <a:t>How it works</a:t>
            </a:r>
            <a:endParaRPr lang="en-US" sz="1600" dirty="0"/>
          </a:p>
        </p:txBody>
      </p:sp>
      <p:sp>
        <p:nvSpPr>
          <p:cNvPr id="12" name="Text 10"/>
          <p:cNvSpPr/>
          <p:nvPr/>
        </p:nvSpPr>
        <p:spPr>
          <a:xfrm>
            <a:off x="4389120" y="1554480"/>
            <a:ext cx="4297680" cy="502920"/>
          </a:xfrm>
          <a:prstGeom prst="rect">
            <a:avLst/>
          </a:prstGeom>
          <a:noFill/>
          <a:ln/>
        </p:spPr>
        <p:txBody>
          <a:bodyPr wrap="square" lIns="0" tIns="0" rIns="0" bIns="0" rtlCol="0" anchor="ctr"/>
          <a:lstStyle/>
          <a:p>
            <a:pPr marL="0" indent="0" algn="l">
              <a:buNone/>
            </a:pPr>
            <a:r>
              <a:rPr lang="en-US" sz="1300" dirty="0">
                <a:solidFill>
                  <a:srgbClr val="374151"/>
                </a:solidFill>
                <a:latin typeface="Calibri" pitchFamily="34" charset="0"/>
                <a:ea typeface="Calibri" pitchFamily="34" charset="-122"/>
                <a:cs typeface="Calibri" pitchFamily="34" charset="-120"/>
              </a:rPr>
              <a:t>Kubernetes, Jupyter, and a federated REN backbone</a:t>
            </a:r>
            <a:endParaRPr lang="en-US" sz="1300" dirty="0"/>
          </a:p>
        </p:txBody>
      </p:sp>
      <p:sp>
        <p:nvSpPr>
          <p:cNvPr id="13" name="Shape 11"/>
          <p:cNvSpPr/>
          <p:nvPr/>
        </p:nvSpPr>
        <p:spPr>
          <a:xfrm>
            <a:off x="502920" y="2121408"/>
            <a:ext cx="384048" cy="384048"/>
          </a:xfrm>
          <a:prstGeom prst="ellipse">
            <a:avLst/>
          </a:prstGeom>
          <a:solidFill>
            <a:srgbClr val="065A82"/>
          </a:solidFill>
          <a:ln w="12700">
            <a:solidFill>
              <a:srgbClr val="065A82"/>
            </a:solidFill>
            <a:prstDash val="solid"/>
          </a:ln>
        </p:spPr>
        <p:txBody>
          <a:bodyPr/>
          <a:lstStyle/>
          <a:p>
            <a:endParaRPr lang="en-US"/>
          </a:p>
        </p:txBody>
      </p:sp>
      <p:sp>
        <p:nvSpPr>
          <p:cNvPr id="14" name="Text 12"/>
          <p:cNvSpPr/>
          <p:nvPr/>
        </p:nvSpPr>
        <p:spPr>
          <a:xfrm>
            <a:off x="502920" y="212140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p:nvPr/>
        </p:nvSpPr>
        <p:spPr>
          <a:xfrm>
            <a:off x="1051560" y="2057400"/>
            <a:ext cx="3291840" cy="502920"/>
          </a:xfrm>
          <a:prstGeom prst="rect">
            <a:avLst/>
          </a:prstGeom>
          <a:noFill/>
          <a:ln/>
        </p:spPr>
        <p:txBody>
          <a:bodyPr wrap="square" lIns="0" tIns="0" rIns="0" bIns="0" rtlCol="0" anchor="ctr"/>
          <a:lstStyle/>
          <a:p>
            <a:pPr marL="0" indent="0" algn="l">
              <a:buNone/>
            </a:pPr>
            <a:r>
              <a:rPr lang="en-US" sz="1600" b="1" dirty="0">
                <a:solidFill>
                  <a:srgbClr val="1A2233"/>
                </a:solidFill>
                <a:latin typeface="Calibri" pitchFamily="34" charset="0"/>
                <a:ea typeface="Calibri" pitchFamily="34" charset="-122"/>
                <a:cs typeface="Calibri" pitchFamily="34" charset="-120"/>
              </a:rPr>
              <a:t>Who uses it — and how</a:t>
            </a:r>
            <a:endParaRPr lang="en-US" sz="1600" dirty="0"/>
          </a:p>
        </p:txBody>
      </p:sp>
      <p:sp>
        <p:nvSpPr>
          <p:cNvPr id="16" name="Text 14"/>
          <p:cNvSpPr/>
          <p:nvPr/>
        </p:nvSpPr>
        <p:spPr>
          <a:xfrm>
            <a:off x="4389120" y="2057400"/>
            <a:ext cx="4297680" cy="502920"/>
          </a:xfrm>
          <a:prstGeom prst="rect">
            <a:avLst/>
          </a:prstGeom>
          <a:noFill/>
          <a:ln/>
        </p:spPr>
        <p:txBody>
          <a:bodyPr wrap="square" lIns="0" tIns="0" rIns="0" bIns="0" rtlCol="0" anchor="ctr"/>
          <a:lstStyle/>
          <a:p>
            <a:pPr marL="0" indent="0" algn="l">
              <a:buNone/>
            </a:pPr>
            <a:r>
              <a:rPr lang="en-US" sz="1300" dirty="0">
                <a:solidFill>
                  <a:srgbClr val="374151"/>
                </a:solidFill>
                <a:latin typeface="Calibri" pitchFamily="34" charset="0"/>
                <a:ea typeface="Calibri" pitchFamily="34" charset="-122"/>
                <a:cs typeface="Calibri" pitchFamily="34" charset="-120"/>
              </a:rPr>
              <a:t>Researchers, educators, students; LLM service</a:t>
            </a:r>
            <a:endParaRPr lang="en-US" sz="1300" dirty="0"/>
          </a:p>
        </p:txBody>
      </p:sp>
      <p:sp>
        <p:nvSpPr>
          <p:cNvPr id="17" name="Shape 15"/>
          <p:cNvSpPr/>
          <p:nvPr/>
        </p:nvSpPr>
        <p:spPr>
          <a:xfrm>
            <a:off x="502920" y="2624328"/>
            <a:ext cx="384048" cy="384048"/>
          </a:xfrm>
          <a:prstGeom prst="ellipse">
            <a:avLst/>
          </a:prstGeom>
          <a:solidFill>
            <a:srgbClr val="065A82"/>
          </a:solidFill>
          <a:ln w="12700">
            <a:solidFill>
              <a:srgbClr val="065A82"/>
            </a:solidFill>
            <a:prstDash val="solid"/>
          </a:ln>
        </p:spPr>
        <p:txBody>
          <a:bodyPr/>
          <a:lstStyle/>
          <a:p>
            <a:endParaRPr lang="en-US"/>
          </a:p>
        </p:txBody>
      </p:sp>
      <p:sp>
        <p:nvSpPr>
          <p:cNvPr id="18" name="Text 16"/>
          <p:cNvSpPr/>
          <p:nvPr/>
        </p:nvSpPr>
        <p:spPr>
          <a:xfrm>
            <a:off x="502920" y="262432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7"/>
          <p:cNvSpPr/>
          <p:nvPr/>
        </p:nvSpPr>
        <p:spPr>
          <a:xfrm>
            <a:off x="1051560" y="2560320"/>
            <a:ext cx="3291840" cy="502920"/>
          </a:xfrm>
          <a:prstGeom prst="rect">
            <a:avLst/>
          </a:prstGeom>
          <a:noFill/>
          <a:ln/>
        </p:spPr>
        <p:txBody>
          <a:bodyPr wrap="square" lIns="0" tIns="0" rIns="0" bIns="0" rtlCol="0" anchor="ctr"/>
          <a:lstStyle/>
          <a:p>
            <a:pPr marL="0" indent="0" algn="l">
              <a:buNone/>
            </a:pPr>
            <a:r>
              <a:rPr lang="en-US" sz="1600" b="1" dirty="0">
                <a:solidFill>
                  <a:srgbClr val="1A2233"/>
                </a:solidFill>
                <a:latin typeface="Calibri" pitchFamily="34" charset="0"/>
                <a:ea typeface="Calibri" pitchFamily="34" charset="-122"/>
                <a:cs typeface="Calibri" pitchFamily="34" charset="-120"/>
              </a:rPr>
              <a:t>Cal Poly &amp; the CSUs today</a:t>
            </a:r>
            <a:endParaRPr lang="en-US" sz="1600" dirty="0"/>
          </a:p>
        </p:txBody>
      </p:sp>
      <p:sp>
        <p:nvSpPr>
          <p:cNvPr id="20" name="Text 18"/>
          <p:cNvSpPr/>
          <p:nvPr/>
        </p:nvSpPr>
        <p:spPr>
          <a:xfrm>
            <a:off x="4389120" y="2560320"/>
            <a:ext cx="4297680" cy="502920"/>
          </a:xfrm>
          <a:prstGeom prst="rect">
            <a:avLst/>
          </a:prstGeom>
          <a:noFill/>
          <a:ln/>
        </p:spPr>
        <p:txBody>
          <a:bodyPr wrap="square" lIns="0" tIns="0" rIns="0" bIns="0" rtlCol="0" anchor="ctr"/>
          <a:lstStyle/>
          <a:p>
            <a:pPr marL="0" indent="0" algn="l">
              <a:buNone/>
            </a:pPr>
            <a:r>
              <a:rPr lang="en-US" sz="1300" dirty="0">
                <a:solidFill>
                  <a:srgbClr val="374151"/>
                </a:solidFill>
                <a:latin typeface="Calibri" pitchFamily="34" charset="0"/>
                <a:ea typeface="Calibri" pitchFamily="34" charset="-122"/>
                <a:cs typeface="Calibri" pitchFamily="34" charset="-120"/>
              </a:rPr>
              <a:t>Where we are; what SDSU, CSUSB, and CSUF are doing</a:t>
            </a:r>
            <a:endParaRPr lang="en-US" sz="1300" dirty="0"/>
          </a:p>
        </p:txBody>
      </p:sp>
      <p:sp>
        <p:nvSpPr>
          <p:cNvPr id="21" name="Shape 19"/>
          <p:cNvSpPr/>
          <p:nvPr/>
        </p:nvSpPr>
        <p:spPr>
          <a:xfrm>
            <a:off x="502920" y="3127248"/>
            <a:ext cx="384048" cy="384048"/>
          </a:xfrm>
          <a:prstGeom prst="ellipse">
            <a:avLst/>
          </a:prstGeom>
          <a:solidFill>
            <a:srgbClr val="065A82"/>
          </a:solidFill>
          <a:ln w="12700">
            <a:solidFill>
              <a:srgbClr val="065A82"/>
            </a:solidFill>
            <a:prstDash val="solid"/>
          </a:ln>
        </p:spPr>
        <p:txBody>
          <a:bodyPr/>
          <a:lstStyle/>
          <a:p>
            <a:endParaRPr lang="en-US"/>
          </a:p>
        </p:txBody>
      </p:sp>
      <p:sp>
        <p:nvSpPr>
          <p:cNvPr id="22" name="Text 20"/>
          <p:cNvSpPr/>
          <p:nvPr/>
        </p:nvSpPr>
        <p:spPr>
          <a:xfrm>
            <a:off x="502920" y="312724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3" name="Text 21"/>
          <p:cNvSpPr/>
          <p:nvPr/>
        </p:nvSpPr>
        <p:spPr>
          <a:xfrm>
            <a:off x="1051560" y="3063240"/>
            <a:ext cx="3291840" cy="502920"/>
          </a:xfrm>
          <a:prstGeom prst="rect">
            <a:avLst/>
          </a:prstGeom>
          <a:noFill/>
          <a:ln/>
        </p:spPr>
        <p:txBody>
          <a:bodyPr wrap="square" lIns="0" tIns="0" rIns="0" bIns="0" rtlCol="0" anchor="ctr"/>
          <a:lstStyle/>
          <a:p>
            <a:pPr marL="0" indent="0" algn="l">
              <a:buNone/>
            </a:pPr>
            <a:r>
              <a:rPr lang="en-US" sz="1600" b="1" dirty="0">
                <a:solidFill>
                  <a:srgbClr val="1A2233"/>
                </a:solidFill>
                <a:latin typeface="Calibri" pitchFamily="34" charset="0"/>
                <a:ea typeface="Calibri" pitchFamily="34" charset="-122"/>
                <a:cs typeface="Calibri" pitchFamily="34" charset="-120"/>
              </a:rPr>
              <a:t>The broader landscape</a:t>
            </a:r>
            <a:endParaRPr lang="en-US" sz="1600" dirty="0"/>
          </a:p>
        </p:txBody>
      </p:sp>
      <p:sp>
        <p:nvSpPr>
          <p:cNvPr id="24" name="Text 22"/>
          <p:cNvSpPr/>
          <p:nvPr/>
        </p:nvSpPr>
        <p:spPr>
          <a:xfrm>
            <a:off x="4389120" y="3063240"/>
            <a:ext cx="4297680" cy="502920"/>
          </a:xfrm>
          <a:prstGeom prst="rect">
            <a:avLst/>
          </a:prstGeom>
          <a:noFill/>
          <a:ln/>
        </p:spPr>
        <p:txBody>
          <a:bodyPr wrap="square" lIns="0" tIns="0" rIns="0" bIns="0" rtlCol="0" anchor="ctr"/>
          <a:lstStyle/>
          <a:p>
            <a:pPr marL="0" indent="0" algn="l">
              <a:buNone/>
            </a:pPr>
            <a:r>
              <a:rPr lang="en-US" sz="1300" dirty="0">
                <a:solidFill>
                  <a:srgbClr val="374151"/>
                </a:solidFill>
                <a:latin typeface="Calibri" pitchFamily="34" charset="0"/>
                <a:ea typeface="Calibri" pitchFamily="34" charset="-122"/>
                <a:cs typeface="Calibri" pitchFamily="34" charset="-120"/>
              </a:rPr>
              <a:t>NRP vs. ACCESS, NAIRR, NERSC, NDP</a:t>
            </a:r>
            <a:endParaRPr lang="en-US" sz="1300" dirty="0"/>
          </a:p>
        </p:txBody>
      </p:sp>
      <p:sp>
        <p:nvSpPr>
          <p:cNvPr id="25" name="Shape 23"/>
          <p:cNvSpPr/>
          <p:nvPr/>
        </p:nvSpPr>
        <p:spPr>
          <a:xfrm>
            <a:off x="502920" y="3630168"/>
            <a:ext cx="384048" cy="384048"/>
          </a:xfrm>
          <a:prstGeom prst="ellipse">
            <a:avLst/>
          </a:prstGeom>
          <a:solidFill>
            <a:srgbClr val="065A82"/>
          </a:solidFill>
          <a:ln w="12700">
            <a:solidFill>
              <a:srgbClr val="065A82"/>
            </a:solidFill>
            <a:prstDash val="solid"/>
          </a:ln>
        </p:spPr>
        <p:txBody>
          <a:bodyPr/>
          <a:lstStyle/>
          <a:p>
            <a:endParaRPr lang="en-US"/>
          </a:p>
        </p:txBody>
      </p:sp>
      <p:sp>
        <p:nvSpPr>
          <p:cNvPr id="26" name="Text 24"/>
          <p:cNvSpPr/>
          <p:nvPr/>
        </p:nvSpPr>
        <p:spPr>
          <a:xfrm>
            <a:off x="502920" y="363016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7" name="Text 25"/>
          <p:cNvSpPr/>
          <p:nvPr/>
        </p:nvSpPr>
        <p:spPr>
          <a:xfrm>
            <a:off x="1051560" y="3566160"/>
            <a:ext cx="3291840" cy="502920"/>
          </a:xfrm>
          <a:prstGeom prst="rect">
            <a:avLst/>
          </a:prstGeom>
          <a:noFill/>
          <a:ln/>
        </p:spPr>
        <p:txBody>
          <a:bodyPr wrap="square" lIns="0" tIns="0" rIns="0" bIns="0" rtlCol="0" anchor="ctr"/>
          <a:lstStyle/>
          <a:p>
            <a:pPr marL="0" indent="0" algn="l">
              <a:buNone/>
            </a:pPr>
            <a:r>
              <a:rPr lang="en-US" sz="1600" b="1" dirty="0">
                <a:solidFill>
                  <a:srgbClr val="1A2233"/>
                </a:solidFill>
                <a:latin typeface="Calibri" pitchFamily="34" charset="0"/>
                <a:ea typeface="Calibri" pitchFamily="34" charset="-122"/>
                <a:cs typeface="Calibri" pitchFamily="34" charset="-120"/>
              </a:rPr>
              <a:t>Takeaways</a:t>
            </a:r>
            <a:endParaRPr lang="en-US" sz="1600" dirty="0"/>
          </a:p>
        </p:txBody>
      </p:sp>
      <p:sp>
        <p:nvSpPr>
          <p:cNvPr id="28" name="Text 26"/>
          <p:cNvSpPr/>
          <p:nvPr/>
        </p:nvSpPr>
        <p:spPr>
          <a:xfrm>
            <a:off x="4389120" y="3566160"/>
            <a:ext cx="4297680" cy="502920"/>
          </a:xfrm>
          <a:prstGeom prst="rect">
            <a:avLst/>
          </a:prstGeom>
          <a:noFill/>
          <a:ln/>
        </p:spPr>
        <p:txBody>
          <a:bodyPr wrap="square" lIns="0" tIns="0" rIns="0" bIns="0" rtlCol="0" anchor="ctr"/>
          <a:lstStyle/>
          <a:p>
            <a:pPr marL="0" indent="0" algn="l">
              <a:buNone/>
            </a:pPr>
            <a:r>
              <a:rPr lang="en-US" sz="1300" dirty="0">
                <a:solidFill>
                  <a:srgbClr val="374151"/>
                </a:solidFill>
                <a:latin typeface="Calibri" pitchFamily="34" charset="0"/>
                <a:ea typeface="Calibri" pitchFamily="34" charset="-122"/>
                <a:cs typeface="Calibri" pitchFamily="34" charset="-120"/>
              </a:rPr>
              <a:t>What's interesting; questions for our group</a:t>
            </a:r>
            <a:endParaRPr lang="en-US" sz="1300" dirty="0"/>
          </a:p>
        </p:txBody>
      </p:sp>
      <p:sp>
        <p:nvSpPr>
          <p:cNvPr id="29" name="Text 27"/>
          <p:cNvSpPr/>
          <p:nvPr/>
        </p:nvSpPr>
        <p:spPr>
          <a:xfrm>
            <a:off x="457200" y="4800600"/>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NRP @ 7NRP  ·  ITS AI Community of Practice  ·  May 2026</a:t>
            </a:r>
            <a:endParaRPr lang="en-US" sz="900" dirty="0"/>
          </a:p>
        </p:txBody>
      </p:sp>
      <p:sp>
        <p:nvSpPr>
          <p:cNvPr id="30" name="Text 28"/>
          <p:cNvSpPr/>
          <p:nvPr/>
        </p:nvSpPr>
        <p:spPr>
          <a:xfrm>
            <a:off x="8229600" y="4800600"/>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 / 19</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lIns="0" tIns="0" rIns="0" bIns="0" rtlCol="0" anchor="ctr"/>
          <a:lstStyle/>
          <a:p>
            <a:pPr marL="0" indent="0" algn="l">
              <a:buNone/>
            </a:pPr>
            <a:r>
              <a:rPr lang="en-US" sz="1100" b="1" kern="0" spc="400" dirty="0">
                <a:solidFill>
                  <a:srgbClr val="1C7293"/>
                </a:solidFill>
                <a:latin typeface="Calibri" pitchFamily="34" charset="0"/>
                <a:ea typeface="Calibri" pitchFamily="34" charset="-122"/>
                <a:cs typeface="Calibri" pitchFamily="34" charset="-120"/>
              </a:rPr>
              <a:t>WHAT IS NRP</a:t>
            </a:r>
            <a:endParaRPr lang="en-US" sz="1100" dirty="0"/>
          </a:p>
        </p:txBody>
      </p:sp>
      <p:sp>
        <p:nvSpPr>
          <p:cNvPr id="3" name="Text 1"/>
          <p:cNvSpPr/>
          <p:nvPr/>
        </p:nvSpPr>
        <p:spPr>
          <a:xfrm>
            <a:off x="457200" y="292608"/>
            <a:ext cx="8229600" cy="548640"/>
          </a:xfrm>
          <a:prstGeom prst="rect">
            <a:avLst/>
          </a:prstGeom>
          <a:noFill/>
          <a:ln/>
        </p:spPr>
        <p:txBody>
          <a:bodyPr wrap="square" lIns="0" tIns="0" rIns="0" bIns="0" rtlCol="0" anchor="ctr"/>
          <a:lstStyle/>
          <a:p>
            <a:pPr marL="0" indent="0" algn="l">
              <a:buNone/>
            </a:pPr>
            <a:r>
              <a:rPr lang="en-US" sz="2800" b="1" dirty="0">
                <a:solidFill>
                  <a:srgbClr val="21295C"/>
                </a:solidFill>
                <a:latin typeface="Calibri" pitchFamily="34" charset="0"/>
                <a:ea typeface="Calibri" pitchFamily="34" charset="-122"/>
                <a:cs typeface="Calibri" pitchFamily="34" charset="-120"/>
              </a:rPr>
              <a:t>Community-owned cyberinfrastructure</a:t>
            </a:r>
            <a:endParaRPr lang="en-US" sz="2800" dirty="0"/>
          </a:p>
        </p:txBody>
      </p:sp>
      <p:sp>
        <p:nvSpPr>
          <p:cNvPr id="4" name="Shape 2"/>
          <p:cNvSpPr/>
          <p:nvPr/>
        </p:nvSpPr>
        <p:spPr>
          <a:xfrm>
            <a:off x="457200" y="868680"/>
            <a:ext cx="8229600" cy="0"/>
          </a:xfrm>
          <a:prstGeom prst="line">
            <a:avLst/>
          </a:prstGeom>
          <a:noFill/>
          <a:ln w="9525">
            <a:solidFill>
              <a:srgbClr val="CBD5E1"/>
            </a:solidFill>
            <a:prstDash val="solid"/>
          </a:ln>
        </p:spPr>
        <p:txBody>
          <a:bodyPr/>
          <a:lstStyle/>
          <a:p>
            <a:endParaRPr lang="en-US"/>
          </a:p>
        </p:txBody>
      </p:sp>
      <p:sp>
        <p:nvSpPr>
          <p:cNvPr id="5" name="Shape 3"/>
          <p:cNvSpPr/>
          <p:nvPr/>
        </p:nvSpPr>
        <p:spPr>
          <a:xfrm>
            <a:off x="457200" y="1051560"/>
            <a:ext cx="4206240" cy="3383280"/>
          </a:xfrm>
          <a:prstGeom prst="rect">
            <a:avLst/>
          </a:prstGeom>
          <a:solidFill>
            <a:srgbClr val="F4F6FA"/>
          </a:solidFill>
          <a:ln w="12700">
            <a:solidFill>
              <a:srgbClr val="F4F6FA"/>
            </a:solidFill>
            <a:prstDash val="solid"/>
          </a:ln>
        </p:spPr>
        <p:txBody>
          <a:bodyPr/>
          <a:lstStyle/>
          <a:p>
            <a:endParaRPr lang="en-US"/>
          </a:p>
        </p:txBody>
      </p:sp>
      <p:sp>
        <p:nvSpPr>
          <p:cNvPr id="6" name="Text 4"/>
          <p:cNvSpPr/>
          <p:nvPr/>
        </p:nvSpPr>
        <p:spPr>
          <a:xfrm>
            <a:off x="685800" y="1234440"/>
            <a:ext cx="3749040" cy="1737360"/>
          </a:xfrm>
          <a:prstGeom prst="rect">
            <a:avLst/>
          </a:prstGeom>
          <a:noFill/>
          <a:ln/>
        </p:spPr>
        <p:txBody>
          <a:bodyPr wrap="square" lIns="0" tIns="0" rIns="0" bIns="0" rtlCol="0" anchor="t"/>
          <a:lstStyle/>
          <a:p>
            <a:pPr marL="0" indent="0" algn="l">
              <a:buNone/>
            </a:pPr>
            <a:r>
              <a:rPr lang="en-US" sz="1600" i="1" dirty="0">
                <a:solidFill>
                  <a:srgbClr val="21295C"/>
                </a:solidFill>
                <a:latin typeface="Calibri" pitchFamily="34" charset="0"/>
                <a:ea typeface="Calibri" pitchFamily="34" charset="-122"/>
                <a:cs typeface="Calibri" pitchFamily="34" charset="-120"/>
              </a:rPr>
              <a:t>"A global-scale Kubernetes cluster for research, education, and public-private partnerships — built and run by the community it serves."</a:t>
            </a:r>
            <a:endParaRPr lang="en-US" sz="1600" dirty="0"/>
          </a:p>
        </p:txBody>
      </p:sp>
      <p:sp>
        <p:nvSpPr>
          <p:cNvPr id="7" name="Text 5"/>
          <p:cNvSpPr/>
          <p:nvPr/>
        </p:nvSpPr>
        <p:spPr>
          <a:xfrm>
            <a:off x="685800" y="3063240"/>
            <a:ext cx="3749040" cy="3657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 Frank Würthwein, Director, San Diego Supercomputer Center</a:t>
            </a:r>
            <a:endParaRPr lang="en-US" sz="1100" dirty="0"/>
          </a:p>
        </p:txBody>
      </p:sp>
      <p:sp>
        <p:nvSpPr>
          <p:cNvPr id="8" name="Text 6"/>
          <p:cNvSpPr/>
          <p:nvPr/>
        </p:nvSpPr>
        <p:spPr>
          <a:xfrm>
            <a:off x="685800" y="3520440"/>
            <a:ext cx="3749040" cy="822960"/>
          </a:xfrm>
          <a:prstGeom prst="rect">
            <a:avLst/>
          </a:prstGeom>
          <a:noFill/>
          <a:ln/>
        </p:spPr>
        <p:txBody>
          <a:bodyPr wrap="square" lIns="0" tIns="0" rIns="0" bIns="0" rtlCol="0" anchor="ctr"/>
          <a:lstStyle/>
          <a:p>
            <a:pPr marL="0" indent="0">
              <a:buNone/>
            </a:pPr>
            <a:r>
              <a:rPr lang="en-US" sz="1200" dirty="0">
                <a:solidFill>
                  <a:srgbClr val="374151"/>
                </a:solidFill>
                <a:latin typeface="Calibri" pitchFamily="34" charset="0"/>
                <a:ea typeface="Calibri" pitchFamily="34" charset="-122"/>
                <a:cs typeface="Calibri" pitchFamily="34" charset="-120"/>
              </a:rPr>
              <a:t>Operated jointly by SDSC (UCSD), the University of Nebraska–Lincoln, MGHPCC, and Internet2 — with Pacific Wave / CENIC providing networking.</a:t>
            </a:r>
            <a:endParaRPr lang="en-US" sz="1200" dirty="0"/>
          </a:p>
        </p:txBody>
      </p:sp>
      <p:sp>
        <p:nvSpPr>
          <p:cNvPr id="9" name="Shape 7"/>
          <p:cNvSpPr/>
          <p:nvPr/>
        </p:nvSpPr>
        <p:spPr>
          <a:xfrm>
            <a:off x="4846320" y="1051560"/>
            <a:ext cx="73152" cy="1005840"/>
          </a:xfrm>
          <a:prstGeom prst="rect">
            <a:avLst/>
          </a:prstGeom>
          <a:solidFill>
            <a:srgbClr val="1C7293"/>
          </a:solidFill>
          <a:ln w="12700">
            <a:solidFill>
              <a:srgbClr val="1C7293"/>
            </a:solidFill>
            <a:prstDash val="solid"/>
          </a:ln>
        </p:spPr>
        <p:txBody>
          <a:bodyPr/>
          <a:lstStyle/>
          <a:p>
            <a:endParaRPr lang="en-US"/>
          </a:p>
        </p:txBody>
      </p:sp>
      <p:sp>
        <p:nvSpPr>
          <p:cNvPr id="10" name="Text 8"/>
          <p:cNvSpPr/>
          <p:nvPr/>
        </p:nvSpPr>
        <p:spPr>
          <a:xfrm>
            <a:off x="5029200" y="1051560"/>
            <a:ext cx="3657600" cy="320040"/>
          </a:xfrm>
          <a:prstGeom prst="rect">
            <a:avLst/>
          </a:prstGeom>
          <a:noFill/>
          <a:ln/>
        </p:spPr>
        <p:txBody>
          <a:bodyPr wrap="square" lIns="0" tIns="0" rIns="0" bIns="0"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Research</a:t>
            </a:r>
            <a:endParaRPr lang="en-US" sz="1500" dirty="0"/>
          </a:p>
        </p:txBody>
      </p:sp>
      <p:sp>
        <p:nvSpPr>
          <p:cNvPr id="11" name="Text 9"/>
          <p:cNvSpPr/>
          <p:nvPr/>
        </p:nvSpPr>
        <p:spPr>
          <a:xfrm>
            <a:off x="5029200" y="1399032"/>
            <a:ext cx="3657600" cy="640080"/>
          </a:xfrm>
          <a:prstGeom prst="rect">
            <a:avLst/>
          </a:prstGeom>
          <a:noFill/>
          <a:ln/>
        </p:spPr>
        <p:txBody>
          <a:bodyPr wrap="square" lIns="0" tIns="0" rIns="0" bIns="0" rtlCol="0" anchor="ctr"/>
          <a:lstStyle/>
          <a:p>
            <a:pPr marL="0" indent="0">
              <a:buNone/>
            </a:pPr>
            <a:r>
              <a:rPr lang="en-US" sz="1200" dirty="0">
                <a:solidFill>
                  <a:srgbClr val="374151"/>
                </a:solidFill>
                <a:latin typeface="Calibri" pitchFamily="34" charset="0"/>
                <a:ea typeface="Calibri" pitchFamily="34" charset="-122"/>
                <a:cs typeface="Calibri" pitchFamily="34" charset="-120"/>
              </a:rPr>
              <a:t>Freely accessible compute, storage, and GPUs for U.S. researchers and their collaborators.</a:t>
            </a:r>
            <a:endParaRPr lang="en-US" sz="1200" dirty="0"/>
          </a:p>
        </p:txBody>
      </p:sp>
      <p:sp>
        <p:nvSpPr>
          <p:cNvPr id="12" name="Shape 10"/>
          <p:cNvSpPr/>
          <p:nvPr/>
        </p:nvSpPr>
        <p:spPr>
          <a:xfrm>
            <a:off x="4846320" y="2194560"/>
            <a:ext cx="73152" cy="1005840"/>
          </a:xfrm>
          <a:prstGeom prst="rect">
            <a:avLst/>
          </a:prstGeom>
          <a:solidFill>
            <a:srgbClr val="1C7293"/>
          </a:solidFill>
          <a:ln w="12700">
            <a:solidFill>
              <a:srgbClr val="1C7293"/>
            </a:solidFill>
            <a:prstDash val="solid"/>
          </a:ln>
        </p:spPr>
        <p:txBody>
          <a:bodyPr/>
          <a:lstStyle/>
          <a:p>
            <a:endParaRPr lang="en-US"/>
          </a:p>
        </p:txBody>
      </p:sp>
      <p:sp>
        <p:nvSpPr>
          <p:cNvPr id="13" name="Text 11"/>
          <p:cNvSpPr/>
          <p:nvPr/>
        </p:nvSpPr>
        <p:spPr>
          <a:xfrm>
            <a:off x="5029200" y="2194560"/>
            <a:ext cx="3657600" cy="320040"/>
          </a:xfrm>
          <a:prstGeom prst="rect">
            <a:avLst/>
          </a:prstGeom>
          <a:noFill/>
          <a:ln/>
        </p:spPr>
        <p:txBody>
          <a:bodyPr wrap="square" lIns="0" tIns="0" rIns="0" bIns="0"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Education</a:t>
            </a:r>
            <a:endParaRPr lang="en-US" sz="1500" dirty="0"/>
          </a:p>
        </p:txBody>
      </p:sp>
      <p:sp>
        <p:nvSpPr>
          <p:cNvPr id="14" name="Text 12"/>
          <p:cNvSpPr/>
          <p:nvPr/>
        </p:nvSpPr>
        <p:spPr>
          <a:xfrm>
            <a:off x="5029200" y="2542032"/>
            <a:ext cx="3657600" cy="640080"/>
          </a:xfrm>
          <a:prstGeom prst="rect">
            <a:avLst/>
          </a:prstGeom>
          <a:noFill/>
          <a:ln/>
        </p:spPr>
        <p:txBody>
          <a:bodyPr wrap="square" lIns="0" tIns="0" rIns="0" bIns="0" rtlCol="0" anchor="ctr"/>
          <a:lstStyle/>
          <a:p>
            <a:pPr marL="0" indent="0">
              <a:buNone/>
            </a:pPr>
            <a:r>
              <a:rPr lang="en-US" sz="1200" dirty="0">
                <a:solidFill>
                  <a:srgbClr val="374151"/>
                </a:solidFill>
                <a:latin typeface="Calibri" pitchFamily="34" charset="0"/>
                <a:ea typeface="Calibri" pitchFamily="34" charset="-122"/>
                <a:cs typeface="Calibri" pitchFamily="34" charset="-120"/>
              </a:rPr>
              <a:t>NRP's hosted JupyterHub — unplanned at launch, now a primary access path — is built for students and instructors.</a:t>
            </a:r>
            <a:endParaRPr lang="en-US" sz="1200" dirty="0"/>
          </a:p>
        </p:txBody>
      </p:sp>
      <p:sp>
        <p:nvSpPr>
          <p:cNvPr id="15" name="Shape 13"/>
          <p:cNvSpPr/>
          <p:nvPr/>
        </p:nvSpPr>
        <p:spPr>
          <a:xfrm>
            <a:off x="4846320" y="3337560"/>
            <a:ext cx="73152" cy="1005840"/>
          </a:xfrm>
          <a:prstGeom prst="rect">
            <a:avLst/>
          </a:prstGeom>
          <a:solidFill>
            <a:srgbClr val="1C7293"/>
          </a:solidFill>
          <a:ln w="12700">
            <a:solidFill>
              <a:srgbClr val="1C7293"/>
            </a:solidFill>
            <a:prstDash val="solid"/>
          </a:ln>
        </p:spPr>
        <p:txBody>
          <a:bodyPr/>
          <a:lstStyle/>
          <a:p>
            <a:endParaRPr lang="en-US"/>
          </a:p>
        </p:txBody>
      </p:sp>
      <p:sp>
        <p:nvSpPr>
          <p:cNvPr id="16" name="Text 14"/>
          <p:cNvSpPr/>
          <p:nvPr/>
        </p:nvSpPr>
        <p:spPr>
          <a:xfrm>
            <a:off x="5029200" y="3337560"/>
            <a:ext cx="3657600" cy="320040"/>
          </a:xfrm>
          <a:prstGeom prst="rect">
            <a:avLst/>
          </a:prstGeom>
          <a:noFill/>
          <a:ln/>
        </p:spPr>
        <p:txBody>
          <a:bodyPr wrap="square" lIns="0" tIns="0" rIns="0" bIns="0"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Public–private partners</a:t>
            </a:r>
            <a:endParaRPr lang="en-US" sz="1500" dirty="0"/>
          </a:p>
        </p:txBody>
      </p:sp>
      <p:sp>
        <p:nvSpPr>
          <p:cNvPr id="17" name="Text 15"/>
          <p:cNvSpPr/>
          <p:nvPr/>
        </p:nvSpPr>
        <p:spPr>
          <a:xfrm>
            <a:off x="5029200" y="3685032"/>
            <a:ext cx="3657600" cy="640080"/>
          </a:xfrm>
          <a:prstGeom prst="rect">
            <a:avLst/>
          </a:prstGeom>
          <a:noFill/>
          <a:ln/>
        </p:spPr>
        <p:txBody>
          <a:bodyPr wrap="square" lIns="0" tIns="0" rIns="0" bIns="0" rtlCol="0" anchor="ctr"/>
          <a:lstStyle/>
          <a:p>
            <a:pPr marL="0" indent="0">
              <a:buNone/>
            </a:pPr>
            <a:r>
              <a:rPr lang="en-US" sz="1200" dirty="0">
                <a:solidFill>
                  <a:srgbClr val="374151"/>
                </a:solidFill>
                <a:latin typeface="Calibri" pitchFamily="34" charset="0"/>
                <a:ea typeface="Calibri" pitchFamily="34" charset="-122"/>
                <a:cs typeface="Calibri" pitchFamily="34" charset="-120"/>
              </a:rPr>
              <a:t>Vendors, government, and industry contribute hardware, data, and use cases.</a:t>
            </a:r>
            <a:endParaRPr lang="en-US" sz="1200" dirty="0"/>
          </a:p>
        </p:txBody>
      </p:sp>
      <p:sp>
        <p:nvSpPr>
          <p:cNvPr id="18" name="Text 16"/>
          <p:cNvSpPr/>
          <p:nvPr/>
        </p:nvSpPr>
        <p:spPr>
          <a:xfrm>
            <a:off x="457200" y="4800600"/>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NRP @ 7NRP  ·  ITS AI Community of Practice  ·  May 2026</a:t>
            </a:r>
            <a:endParaRPr lang="en-US" sz="900" dirty="0"/>
          </a:p>
        </p:txBody>
      </p:sp>
      <p:sp>
        <p:nvSpPr>
          <p:cNvPr id="19" name="Text 17"/>
          <p:cNvSpPr/>
          <p:nvPr/>
        </p:nvSpPr>
        <p:spPr>
          <a:xfrm>
            <a:off x="8229600" y="4800600"/>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 / 19</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lIns="0" tIns="0" rIns="0" bIns="0" rtlCol="0" anchor="ctr"/>
          <a:lstStyle/>
          <a:p>
            <a:pPr marL="0" indent="0" algn="l">
              <a:buNone/>
            </a:pPr>
            <a:r>
              <a:rPr lang="en-US" sz="1100" b="1" kern="0" spc="400" dirty="0">
                <a:solidFill>
                  <a:srgbClr val="1C7293"/>
                </a:solidFill>
                <a:latin typeface="Calibri" pitchFamily="34" charset="0"/>
                <a:ea typeface="Calibri" pitchFamily="34" charset="-122"/>
                <a:cs typeface="Calibri" pitchFamily="34" charset="-120"/>
              </a:rPr>
              <a:t>NRP AT A GLANCE</a:t>
            </a:r>
            <a:endParaRPr lang="en-US" sz="1100" dirty="0"/>
          </a:p>
        </p:txBody>
      </p:sp>
      <p:sp>
        <p:nvSpPr>
          <p:cNvPr id="3" name="Text 1"/>
          <p:cNvSpPr/>
          <p:nvPr/>
        </p:nvSpPr>
        <p:spPr>
          <a:xfrm>
            <a:off x="457200" y="292608"/>
            <a:ext cx="8229600" cy="548640"/>
          </a:xfrm>
          <a:prstGeom prst="rect">
            <a:avLst/>
          </a:prstGeom>
          <a:noFill/>
          <a:ln/>
        </p:spPr>
        <p:txBody>
          <a:bodyPr wrap="square" lIns="0" tIns="0" rIns="0" bIns="0" rtlCol="0" anchor="ctr"/>
          <a:lstStyle/>
          <a:p>
            <a:pPr marL="0" indent="0" algn="l">
              <a:buNone/>
            </a:pPr>
            <a:r>
              <a:rPr lang="en-US" sz="2800" b="1" dirty="0">
                <a:solidFill>
                  <a:srgbClr val="21295C"/>
                </a:solidFill>
                <a:latin typeface="Calibri" pitchFamily="34" charset="0"/>
                <a:ea typeface="Calibri" pitchFamily="34" charset="-122"/>
                <a:cs typeface="Calibri" pitchFamily="34" charset="-120"/>
              </a:rPr>
              <a:t>The numbers — as of May 2026</a:t>
            </a:r>
            <a:endParaRPr lang="en-US" sz="2800" dirty="0"/>
          </a:p>
        </p:txBody>
      </p:sp>
      <p:sp>
        <p:nvSpPr>
          <p:cNvPr id="4" name="Shape 2"/>
          <p:cNvSpPr/>
          <p:nvPr/>
        </p:nvSpPr>
        <p:spPr>
          <a:xfrm>
            <a:off x="457200" y="868680"/>
            <a:ext cx="8229600" cy="0"/>
          </a:xfrm>
          <a:prstGeom prst="line">
            <a:avLst/>
          </a:prstGeom>
          <a:noFill/>
          <a:ln w="9525">
            <a:solidFill>
              <a:srgbClr val="CBD5E1"/>
            </a:solidFill>
            <a:prstDash val="solid"/>
          </a:ln>
        </p:spPr>
        <p:txBody>
          <a:bodyPr/>
          <a:lstStyle/>
          <a:p>
            <a:endParaRPr lang="en-US"/>
          </a:p>
        </p:txBody>
      </p:sp>
      <p:sp>
        <p:nvSpPr>
          <p:cNvPr id="5" name="Shape 3"/>
          <p:cNvSpPr/>
          <p:nvPr/>
        </p:nvSpPr>
        <p:spPr>
          <a:xfrm>
            <a:off x="457200" y="1051560"/>
            <a:ext cx="2697480" cy="1508760"/>
          </a:xfrm>
          <a:prstGeom prst="rect">
            <a:avLst/>
          </a:prstGeom>
          <a:solidFill>
            <a:srgbClr val="F4F6FA"/>
          </a:solidFill>
          <a:ln w="12700">
            <a:solidFill>
              <a:srgbClr val="F4F6FA"/>
            </a:solidFill>
            <a:prstDash val="solid"/>
          </a:ln>
        </p:spPr>
        <p:txBody>
          <a:bodyPr/>
          <a:lstStyle/>
          <a:p>
            <a:endParaRPr lang="en-US"/>
          </a:p>
        </p:txBody>
      </p:sp>
      <p:sp>
        <p:nvSpPr>
          <p:cNvPr id="6" name="Shape 4"/>
          <p:cNvSpPr/>
          <p:nvPr/>
        </p:nvSpPr>
        <p:spPr>
          <a:xfrm>
            <a:off x="457200" y="1051560"/>
            <a:ext cx="64008" cy="1508760"/>
          </a:xfrm>
          <a:prstGeom prst="rect">
            <a:avLst/>
          </a:prstGeom>
          <a:solidFill>
            <a:srgbClr val="065A82"/>
          </a:solidFill>
          <a:ln w="12700">
            <a:solidFill>
              <a:srgbClr val="065A82"/>
            </a:solidFill>
            <a:prstDash val="solid"/>
          </a:ln>
        </p:spPr>
        <p:txBody>
          <a:bodyPr/>
          <a:lstStyle/>
          <a:p>
            <a:endParaRPr lang="en-US"/>
          </a:p>
        </p:txBody>
      </p:sp>
      <p:sp>
        <p:nvSpPr>
          <p:cNvPr id="7" name="Text 5"/>
          <p:cNvSpPr/>
          <p:nvPr/>
        </p:nvSpPr>
        <p:spPr>
          <a:xfrm>
            <a:off x="640080" y="1188720"/>
            <a:ext cx="2423160" cy="640080"/>
          </a:xfrm>
          <a:prstGeom prst="rect">
            <a:avLst/>
          </a:prstGeom>
          <a:noFill/>
          <a:ln/>
        </p:spPr>
        <p:txBody>
          <a:bodyPr wrap="square" lIns="0" tIns="0" rIns="0" bIns="0" rtlCol="0" anchor="ctr"/>
          <a:lstStyle/>
          <a:p>
            <a:pPr marL="0" indent="0" algn="l">
              <a:buNone/>
            </a:pPr>
            <a:r>
              <a:rPr lang="en-US" sz="3600" b="1" dirty="0">
                <a:solidFill>
                  <a:srgbClr val="065A82"/>
                </a:solidFill>
                <a:latin typeface="Calibri" pitchFamily="34" charset="0"/>
                <a:ea typeface="Calibri" pitchFamily="34" charset="-122"/>
                <a:cs typeface="Calibri" pitchFamily="34" charset="-120"/>
              </a:rPr>
              <a:t>129</a:t>
            </a:r>
            <a:endParaRPr lang="en-US" sz="3600" dirty="0"/>
          </a:p>
        </p:txBody>
      </p:sp>
      <p:sp>
        <p:nvSpPr>
          <p:cNvPr id="8" name="Text 6"/>
          <p:cNvSpPr/>
          <p:nvPr/>
        </p:nvSpPr>
        <p:spPr>
          <a:xfrm>
            <a:off x="640080" y="1828800"/>
            <a:ext cx="2423160" cy="274320"/>
          </a:xfrm>
          <a:prstGeom prst="rect">
            <a:avLst/>
          </a:prstGeom>
          <a:noFill/>
          <a:ln/>
        </p:spPr>
        <p:txBody>
          <a:bodyPr wrap="square" lIns="0" tIns="0" rIns="0" bIns="0" rtlCol="0" anchor="ctr"/>
          <a:lstStyle/>
          <a:p>
            <a:pPr marL="0" indent="0" algn="l">
              <a:buNone/>
            </a:pPr>
            <a:r>
              <a:rPr lang="en-US" sz="1200" b="1" dirty="0">
                <a:solidFill>
                  <a:srgbClr val="21295C"/>
                </a:solidFill>
                <a:latin typeface="Calibri" pitchFamily="34" charset="0"/>
                <a:ea typeface="Calibri" pitchFamily="34" charset="-122"/>
                <a:cs typeface="Calibri" pitchFamily="34" charset="-120"/>
              </a:rPr>
              <a:t>sites</a:t>
            </a:r>
            <a:endParaRPr lang="en-US" sz="1200" dirty="0"/>
          </a:p>
        </p:txBody>
      </p:sp>
      <p:sp>
        <p:nvSpPr>
          <p:cNvPr id="9" name="Text 7"/>
          <p:cNvSpPr/>
          <p:nvPr/>
        </p:nvSpPr>
        <p:spPr>
          <a:xfrm>
            <a:off x="640080" y="2103120"/>
            <a:ext cx="2423160" cy="411480"/>
          </a:xfrm>
          <a:prstGeom prst="rect">
            <a:avLst/>
          </a:prstGeom>
          <a:noFill/>
          <a:ln/>
        </p:spPr>
        <p:txBody>
          <a:bodyPr wrap="square" lIns="0" tIns="0" rIns="0" bIns="0" rtlCol="0" anchor="ctr"/>
          <a:lstStyle/>
          <a:p>
            <a:pPr marL="0" indent="0" algn="l">
              <a:buNone/>
            </a:pPr>
            <a:r>
              <a:rPr lang="en-US" sz="1000" dirty="0">
                <a:solidFill>
                  <a:srgbClr val="374151"/>
                </a:solidFill>
                <a:latin typeface="Calibri" pitchFamily="34" charset="0"/>
                <a:ea typeface="Calibri" pitchFamily="34" charset="-122"/>
                <a:cs typeface="Calibri" pitchFamily="34" charset="-120"/>
              </a:rPr>
              <a:t>hosting NRP nodes across 45 U.S. states</a:t>
            </a:r>
            <a:endParaRPr lang="en-US" sz="1000" dirty="0"/>
          </a:p>
        </p:txBody>
      </p:sp>
      <p:sp>
        <p:nvSpPr>
          <p:cNvPr id="10" name="Shape 8"/>
          <p:cNvSpPr/>
          <p:nvPr/>
        </p:nvSpPr>
        <p:spPr>
          <a:xfrm>
            <a:off x="3319272" y="1051560"/>
            <a:ext cx="2697480" cy="1508760"/>
          </a:xfrm>
          <a:prstGeom prst="rect">
            <a:avLst/>
          </a:prstGeom>
          <a:solidFill>
            <a:srgbClr val="F4F6FA"/>
          </a:solidFill>
          <a:ln w="12700">
            <a:solidFill>
              <a:srgbClr val="F4F6FA"/>
            </a:solidFill>
            <a:prstDash val="solid"/>
          </a:ln>
        </p:spPr>
        <p:txBody>
          <a:bodyPr/>
          <a:lstStyle/>
          <a:p>
            <a:endParaRPr lang="en-US"/>
          </a:p>
        </p:txBody>
      </p:sp>
      <p:sp>
        <p:nvSpPr>
          <p:cNvPr id="11" name="Shape 9"/>
          <p:cNvSpPr/>
          <p:nvPr/>
        </p:nvSpPr>
        <p:spPr>
          <a:xfrm>
            <a:off x="3319272" y="1051560"/>
            <a:ext cx="64008" cy="1508760"/>
          </a:xfrm>
          <a:prstGeom prst="rect">
            <a:avLst/>
          </a:prstGeom>
          <a:solidFill>
            <a:srgbClr val="065A82"/>
          </a:solidFill>
          <a:ln w="12700">
            <a:solidFill>
              <a:srgbClr val="065A82"/>
            </a:solidFill>
            <a:prstDash val="solid"/>
          </a:ln>
        </p:spPr>
        <p:txBody>
          <a:bodyPr/>
          <a:lstStyle/>
          <a:p>
            <a:endParaRPr lang="en-US"/>
          </a:p>
        </p:txBody>
      </p:sp>
      <p:sp>
        <p:nvSpPr>
          <p:cNvPr id="12" name="Text 10"/>
          <p:cNvSpPr/>
          <p:nvPr/>
        </p:nvSpPr>
        <p:spPr>
          <a:xfrm>
            <a:off x="3502152" y="1188720"/>
            <a:ext cx="2423160" cy="640080"/>
          </a:xfrm>
          <a:prstGeom prst="rect">
            <a:avLst/>
          </a:prstGeom>
          <a:noFill/>
          <a:ln/>
        </p:spPr>
        <p:txBody>
          <a:bodyPr wrap="square" lIns="0" tIns="0" rIns="0" bIns="0" rtlCol="0" anchor="ctr"/>
          <a:lstStyle/>
          <a:p>
            <a:pPr marL="0" indent="0" algn="l">
              <a:buNone/>
            </a:pPr>
            <a:r>
              <a:rPr lang="en-US" sz="3600" b="1" dirty="0">
                <a:solidFill>
                  <a:srgbClr val="065A82"/>
                </a:solidFill>
                <a:latin typeface="Calibri" pitchFamily="34" charset="0"/>
                <a:ea typeface="Calibri" pitchFamily="34" charset="-122"/>
                <a:cs typeface="Calibri" pitchFamily="34" charset="-120"/>
              </a:rPr>
              <a:t>1,532</a:t>
            </a:r>
            <a:endParaRPr lang="en-US" sz="3600" dirty="0"/>
          </a:p>
        </p:txBody>
      </p:sp>
      <p:sp>
        <p:nvSpPr>
          <p:cNvPr id="13" name="Text 11"/>
          <p:cNvSpPr/>
          <p:nvPr/>
        </p:nvSpPr>
        <p:spPr>
          <a:xfrm>
            <a:off x="3502152" y="1828800"/>
            <a:ext cx="2423160" cy="274320"/>
          </a:xfrm>
          <a:prstGeom prst="rect">
            <a:avLst/>
          </a:prstGeom>
          <a:noFill/>
          <a:ln/>
        </p:spPr>
        <p:txBody>
          <a:bodyPr wrap="square" lIns="0" tIns="0" rIns="0" bIns="0" rtlCol="0" anchor="ctr"/>
          <a:lstStyle/>
          <a:p>
            <a:pPr marL="0" indent="0" algn="l">
              <a:buNone/>
            </a:pPr>
            <a:r>
              <a:rPr lang="en-US" sz="1200" b="1" dirty="0">
                <a:solidFill>
                  <a:srgbClr val="21295C"/>
                </a:solidFill>
                <a:latin typeface="Calibri" pitchFamily="34" charset="0"/>
                <a:ea typeface="Calibri" pitchFamily="34" charset="-122"/>
                <a:cs typeface="Calibri" pitchFamily="34" charset="-120"/>
              </a:rPr>
              <a:t>GPUs</a:t>
            </a:r>
            <a:endParaRPr lang="en-US" sz="1200" dirty="0"/>
          </a:p>
        </p:txBody>
      </p:sp>
      <p:sp>
        <p:nvSpPr>
          <p:cNvPr id="14" name="Text 12"/>
          <p:cNvSpPr/>
          <p:nvPr/>
        </p:nvSpPr>
        <p:spPr>
          <a:xfrm>
            <a:off x="3502152" y="2103120"/>
            <a:ext cx="2423160" cy="411480"/>
          </a:xfrm>
          <a:prstGeom prst="rect">
            <a:avLst/>
          </a:prstGeom>
          <a:noFill/>
          <a:ln/>
        </p:spPr>
        <p:txBody>
          <a:bodyPr wrap="square" lIns="0" tIns="0" rIns="0" bIns="0" rtlCol="0" anchor="ctr"/>
          <a:lstStyle/>
          <a:p>
            <a:pPr marL="0" indent="0" algn="l">
              <a:buNone/>
            </a:pPr>
            <a:r>
              <a:rPr lang="en-US" sz="1000" dirty="0">
                <a:solidFill>
                  <a:srgbClr val="374151"/>
                </a:solidFill>
                <a:latin typeface="Calibri" pitchFamily="34" charset="0"/>
                <a:ea typeface="Calibri" pitchFamily="34" charset="-122"/>
                <a:cs typeface="Calibri" pitchFamily="34" charset="-120"/>
              </a:rPr>
              <a:t>shared pool; 74 reserved for LLM serving</a:t>
            </a:r>
            <a:endParaRPr lang="en-US" sz="1000" dirty="0"/>
          </a:p>
        </p:txBody>
      </p:sp>
      <p:sp>
        <p:nvSpPr>
          <p:cNvPr id="15" name="Shape 13"/>
          <p:cNvSpPr/>
          <p:nvPr/>
        </p:nvSpPr>
        <p:spPr>
          <a:xfrm>
            <a:off x="6181344" y="1051560"/>
            <a:ext cx="2697480" cy="1508760"/>
          </a:xfrm>
          <a:prstGeom prst="rect">
            <a:avLst/>
          </a:prstGeom>
          <a:solidFill>
            <a:srgbClr val="F4F6FA"/>
          </a:solidFill>
          <a:ln w="12700">
            <a:solidFill>
              <a:srgbClr val="F4F6FA"/>
            </a:solidFill>
            <a:prstDash val="solid"/>
          </a:ln>
        </p:spPr>
        <p:txBody>
          <a:bodyPr/>
          <a:lstStyle/>
          <a:p>
            <a:endParaRPr lang="en-US"/>
          </a:p>
        </p:txBody>
      </p:sp>
      <p:sp>
        <p:nvSpPr>
          <p:cNvPr id="16" name="Shape 14"/>
          <p:cNvSpPr/>
          <p:nvPr/>
        </p:nvSpPr>
        <p:spPr>
          <a:xfrm>
            <a:off x="6181344" y="1051560"/>
            <a:ext cx="64008" cy="1508760"/>
          </a:xfrm>
          <a:prstGeom prst="rect">
            <a:avLst/>
          </a:prstGeom>
          <a:solidFill>
            <a:srgbClr val="065A82"/>
          </a:solidFill>
          <a:ln w="12700">
            <a:solidFill>
              <a:srgbClr val="065A82"/>
            </a:solidFill>
            <a:prstDash val="solid"/>
          </a:ln>
        </p:spPr>
        <p:txBody>
          <a:bodyPr/>
          <a:lstStyle/>
          <a:p>
            <a:endParaRPr lang="en-US"/>
          </a:p>
        </p:txBody>
      </p:sp>
      <p:sp>
        <p:nvSpPr>
          <p:cNvPr id="17" name="Text 15"/>
          <p:cNvSpPr/>
          <p:nvPr/>
        </p:nvSpPr>
        <p:spPr>
          <a:xfrm>
            <a:off x="6364224" y="1188720"/>
            <a:ext cx="2423160" cy="640080"/>
          </a:xfrm>
          <a:prstGeom prst="rect">
            <a:avLst/>
          </a:prstGeom>
          <a:noFill/>
          <a:ln/>
        </p:spPr>
        <p:txBody>
          <a:bodyPr wrap="square" lIns="0" tIns="0" rIns="0" bIns="0" rtlCol="0" anchor="ctr"/>
          <a:lstStyle/>
          <a:p>
            <a:pPr marL="0" indent="0" algn="l">
              <a:buNone/>
            </a:pPr>
            <a:r>
              <a:rPr lang="en-US" sz="3600" b="1" dirty="0">
                <a:solidFill>
                  <a:srgbClr val="065A82"/>
                </a:solidFill>
                <a:latin typeface="Calibri" pitchFamily="34" charset="0"/>
                <a:ea typeface="Calibri" pitchFamily="34" charset="-122"/>
                <a:cs typeface="Calibri" pitchFamily="34" charset="-120"/>
              </a:rPr>
              <a:t>32.3K</a:t>
            </a:r>
            <a:endParaRPr lang="en-US" sz="3600" dirty="0"/>
          </a:p>
        </p:txBody>
      </p:sp>
      <p:sp>
        <p:nvSpPr>
          <p:cNvPr id="18" name="Text 16"/>
          <p:cNvSpPr/>
          <p:nvPr/>
        </p:nvSpPr>
        <p:spPr>
          <a:xfrm>
            <a:off x="6364224" y="1828800"/>
            <a:ext cx="2423160" cy="274320"/>
          </a:xfrm>
          <a:prstGeom prst="rect">
            <a:avLst/>
          </a:prstGeom>
          <a:noFill/>
          <a:ln/>
        </p:spPr>
        <p:txBody>
          <a:bodyPr wrap="square" lIns="0" tIns="0" rIns="0" bIns="0" rtlCol="0" anchor="ctr"/>
          <a:lstStyle/>
          <a:p>
            <a:pPr marL="0" indent="0" algn="l">
              <a:buNone/>
            </a:pPr>
            <a:r>
              <a:rPr lang="en-US" sz="1200" b="1" dirty="0">
                <a:solidFill>
                  <a:srgbClr val="21295C"/>
                </a:solidFill>
                <a:latin typeface="Calibri" pitchFamily="34" charset="0"/>
                <a:ea typeface="Calibri" pitchFamily="34" charset="-122"/>
                <a:cs typeface="Calibri" pitchFamily="34" charset="-120"/>
              </a:rPr>
              <a:t>CPU cores</a:t>
            </a:r>
            <a:endParaRPr lang="en-US" sz="1200" dirty="0"/>
          </a:p>
        </p:txBody>
      </p:sp>
      <p:sp>
        <p:nvSpPr>
          <p:cNvPr id="19" name="Text 17"/>
          <p:cNvSpPr/>
          <p:nvPr/>
        </p:nvSpPr>
        <p:spPr>
          <a:xfrm>
            <a:off x="6364224" y="2103120"/>
            <a:ext cx="2423160" cy="411480"/>
          </a:xfrm>
          <a:prstGeom prst="rect">
            <a:avLst/>
          </a:prstGeom>
          <a:noFill/>
          <a:ln/>
        </p:spPr>
        <p:txBody>
          <a:bodyPr wrap="square" lIns="0" tIns="0" rIns="0" bIns="0" rtlCol="0" anchor="ctr"/>
          <a:lstStyle/>
          <a:p>
            <a:pPr marL="0" indent="0" algn="l">
              <a:buNone/>
            </a:pPr>
            <a:r>
              <a:rPr lang="en-US" sz="1000" dirty="0">
                <a:solidFill>
                  <a:srgbClr val="374151"/>
                </a:solidFill>
                <a:latin typeface="Calibri" pitchFamily="34" charset="0"/>
                <a:ea typeface="Calibri" pitchFamily="34" charset="-122"/>
                <a:cs typeface="Calibri" pitchFamily="34" charset="-120"/>
              </a:rPr>
              <a:t>across 501 registered Kubernetes nodes</a:t>
            </a:r>
            <a:endParaRPr lang="en-US" sz="1000" dirty="0"/>
          </a:p>
        </p:txBody>
      </p:sp>
      <p:sp>
        <p:nvSpPr>
          <p:cNvPr id="20" name="Shape 18"/>
          <p:cNvSpPr/>
          <p:nvPr/>
        </p:nvSpPr>
        <p:spPr>
          <a:xfrm>
            <a:off x="457200" y="2724912"/>
            <a:ext cx="2697480" cy="1508760"/>
          </a:xfrm>
          <a:prstGeom prst="rect">
            <a:avLst/>
          </a:prstGeom>
          <a:solidFill>
            <a:srgbClr val="F4F6FA"/>
          </a:solidFill>
          <a:ln w="12700">
            <a:solidFill>
              <a:srgbClr val="F4F6FA"/>
            </a:solidFill>
            <a:prstDash val="solid"/>
          </a:ln>
        </p:spPr>
        <p:txBody>
          <a:bodyPr/>
          <a:lstStyle/>
          <a:p>
            <a:endParaRPr lang="en-US"/>
          </a:p>
        </p:txBody>
      </p:sp>
      <p:sp>
        <p:nvSpPr>
          <p:cNvPr id="21" name="Shape 19"/>
          <p:cNvSpPr/>
          <p:nvPr/>
        </p:nvSpPr>
        <p:spPr>
          <a:xfrm>
            <a:off x="457200" y="2724912"/>
            <a:ext cx="64008" cy="1508760"/>
          </a:xfrm>
          <a:prstGeom prst="rect">
            <a:avLst/>
          </a:prstGeom>
          <a:solidFill>
            <a:srgbClr val="065A82"/>
          </a:solidFill>
          <a:ln w="12700">
            <a:solidFill>
              <a:srgbClr val="065A82"/>
            </a:solidFill>
            <a:prstDash val="solid"/>
          </a:ln>
        </p:spPr>
        <p:txBody>
          <a:bodyPr/>
          <a:lstStyle/>
          <a:p>
            <a:endParaRPr lang="en-US"/>
          </a:p>
        </p:txBody>
      </p:sp>
      <p:sp>
        <p:nvSpPr>
          <p:cNvPr id="22" name="Text 20"/>
          <p:cNvSpPr/>
          <p:nvPr/>
        </p:nvSpPr>
        <p:spPr>
          <a:xfrm>
            <a:off x="640080" y="2862072"/>
            <a:ext cx="2423160" cy="640080"/>
          </a:xfrm>
          <a:prstGeom prst="rect">
            <a:avLst/>
          </a:prstGeom>
          <a:noFill/>
          <a:ln/>
        </p:spPr>
        <p:txBody>
          <a:bodyPr wrap="square" lIns="0" tIns="0" rIns="0" bIns="0" rtlCol="0" anchor="ctr"/>
          <a:lstStyle/>
          <a:p>
            <a:pPr marL="0" indent="0" algn="l">
              <a:buNone/>
            </a:pPr>
            <a:r>
              <a:rPr lang="en-US" sz="3600" b="1" dirty="0">
                <a:solidFill>
                  <a:srgbClr val="065A82"/>
                </a:solidFill>
                <a:latin typeface="Calibri" pitchFamily="34" charset="0"/>
                <a:ea typeface="Calibri" pitchFamily="34" charset="-122"/>
                <a:cs typeface="Calibri" pitchFamily="34" charset="-120"/>
              </a:rPr>
              <a:t>22 PB</a:t>
            </a:r>
            <a:endParaRPr lang="en-US" sz="3600" dirty="0"/>
          </a:p>
        </p:txBody>
      </p:sp>
      <p:sp>
        <p:nvSpPr>
          <p:cNvPr id="23" name="Text 21"/>
          <p:cNvSpPr/>
          <p:nvPr/>
        </p:nvSpPr>
        <p:spPr>
          <a:xfrm>
            <a:off x="640080" y="3502152"/>
            <a:ext cx="2423160" cy="274320"/>
          </a:xfrm>
          <a:prstGeom prst="rect">
            <a:avLst/>
          </a:prstGeom>
          <a:noFill/>
          <a:ln/>
        </p:spPr>
        <p:txBody>
          <a:bodyPr wrap="square" lIns="0" tIns="0" rIns="0" bIns="0" rtlCol="0" anchor="ctr"/>
          <a:lstStyle/>
          <a:p>
            <a:pPr marL="0" indent="0" algn="l">
              <a:buNone/>
            </a:pPr>
            <a:r>
              <a:rPr lang="en-US" sz="1200" b="1" dirty="0">
                <a:solidFill>
                  <a:srgbClr val="21295C"/>
                </a:solidFill>
                <a:latin typeface="Calibri" pitchFamily="34" charset="0"/>
                <a:ea typeface="Calibri" pitchFamily="34" charset="-122"/>
                <a:cs typeface="Calibri" pitchFamily="34" charset="-120"/>
              </a:rPr>
              <a:t>storage</a:t>
            </a:r>
            <a:endParaRPr lang="en-US" sz="1200" dirty="0"/>
          </a:p>
        </p:txBody>
      </p:sp>
      <p:sp>
        <p:nvSpPr>
          <p:cNvPr id="24" name="Text 22"/>
          <p:cNvSpPr/>
          <p:nvPr/>
        </p:nvSpPr>
        <p:spPr>
          <a:xfrm>
            <a:off x="640080" y="3776472"/>
            <a:ext cx="2423160" cy="411480"/>
          </a:xfrm>
          <a:prstGeom prst="rect">
            <a:avLst/>
          </a:prstGeom>
          <a:noFill/>
          <a:ln/>
        </p:spPr>
        <p:txBody>
          <a:bodyPr wrap="square" lIns="0" tIns="0" rIns="0" bIns="0" rtlCol="0" anchor="ctr"/>
          <a:lstStyle/>
          <a:p>
            <a:pPr marL="0" indent="0" algn="l">
              <a:buNone/>
            </a:pPr>
            <a:r>
              <a:rPr lang="en-US" sz="1000" dirty="0">
                <a:solidFill>
                  <a:srgbClr val="374151"/>
                </a:solidFill>
                <a:latin typeface="Calibri" pitchFamily="34" charset="0"/>
                <a:ea typeface="Calibri" pitchFamily="34" charset="-122"/>
                <a:cs typeface="Calibri" pitchFamily="34" charset="-120"/>
              </a:rPr>
              <a:t>31 OSDF nodes; capacity to host community data</a:t>
            </a:r>
            <a:endParaRPr lang="en-US" sz="1000" dirty="0"/>
          </a:p>
        </p:txBody>
      </p:sp>
      <p:sp>
        <p:nvSpPr>
          <p:cNvPr id="25" name="Shape 23"/>
          <p:cNvSpPr/>
          <p:nvPr/>
        </p:nvSpPr>
        <p:spPr>
          <a:xfrm>
            <a:off x="3319272" y="2724912"/>
            <a:ext cx="2697480" cy="1508760"/>
          </a:xfrm>
          <a:prstGeom prst="rect">
            <a:avLst/>
          </a:prstGeom>
          <a:solidFill>
            <a:srgbClr val="F4F6FA"/>
          </a:solidFill>
          <a:ln w="12700">
            <a:solidFill>
              <a:srgbClr val="F4F6FA"/>
            </a:solidFill>
            <a:prstDash val="solid"/>
          </a:ln>
        </p:spPr>
        <p:txBody>
          <a:bodyPr/>
          <a:lstStyle/>
          <a:p>
            <a:endParaRPr lang="en-US"/>
          </a:p>
        </p:txBody>
      </p:sp>
      <p:sp>
        <p:nvSpPr>
          <p:cNvPr id="26" name="Shape 24"/>
          <p:cNvSpPr/>
          <p:nvPr/>
        </p:nvSpPr>
        <p:spPr>
          <a:xfrm>
            <a:off x="3319272" y="2724912"/>
            <a:ext cx="64008" cy="1508760"/>
          </a:xfrm>
          <a:prstGeom prst="rect">
            <a:avLst/>
          </a:prstGeom>
          <a:solidFill>
            <a:srgbClr val="065A82"/>
          </a:solidFill>
          <a:ln w="12700">
            <a:solidFill>
              <a:srgbClr val="065A82"/>
            </a:solidFill>
            <a:prstDash val="solid"/>
          </a:ln>
        </p:spPr>
        <p:txBody>
          <a:bodyPr/>
          <a:lstStyle/>
          <a:p>
            <a:endParaRPr lang="en-US"/>
          </a:p>
        </p:txBody>
      </p:sp>
      <p:sp>
        <p:nvSpPr>
          <p:cNvPr id="27" name="Text 25"/>
          <p:cNvSpPr/>
          <p:nvPr/>
        </p:nvSpPr>
        <p:spPr>
          <a:xfrm>
            <a:off x="3502152" y="2862072"/>
            <a:ext cx="2423160" cy="640080"/>
          </a:xfrm>
          <a:prstGeom prst="rect">
            <a:avLst/>
          </a:prstGeom>
          <a:noFill/>
          <a:ln/>
        </p:spPr>
        <p:txBody>
          <a:bodyPr wrap="square" lIns="0" tIns="0" rIns="0" bIns="0" rtlCol="0" anchor="ctr"/>
          <a:lstStyle/>
          <a:p>
            <a:pPr marL="0" indent="0" algn="l">
              <a:buNone/>
            </a:pPr>
            <a:r>
              <a:rPr lang="en-US" sz="3600" b="1" dirty="0">
                <a:solidFill>
                  <a:srgbClr val="065A82"/>
                </a:solidFill>
                <a:latin typeface="Calibri" pitchFamily="34" charset="0"/>
                <a:ea typeface="Calibri" pitchFamily="34" charset="-122"/>
                <a:cs typeface="Calibri" pitchFamily="34" charset="-120"/>
              </a:rPr>
              <a:t>5,800</a:t>
            </a:r>
            <a:endParaRPr lang="en-US" sz="3600" dirty="0"/>
          </a:p>
        </p:txBody>
      </p:sp>
      <p:sp>
        <p:nvSpPr>
          <p:cNvPr id="28" name="Text 26"/>
          <p:cNvSpPr/>
          <p:nvPr/>
        </p:nvSpPr>
        <p:spPr>
          <a:xfrm>
            <a:off x="3502152" y="3502152"/>
            <a:ext cx="2423160" cy="274320"/>
          </a:xfrm>
          <a:prstGeom prst="rect">
            <a:avLst/>
          </a:prstGeom>
          <a:noFill/>
          <a:ln/>
        </p:spPr>
        <p:txBody>
          <a:bodyPr wrap="square" lIns="0" tIns="0" rIns="0" bIns="0" rtlCol="0" anchor="ctr"/>
          <a:lstStyle/>
          <a:p>
            <a:pPr marL="0" indent="0" algn="l">
              <a:buNone/>
            </a:pPr>
            <a:r>
              <a:rPr lang="en-US" sz="1200" b="1" dirty="0">
                <a:solidFill>
                  <a:srgbClr val="21295C"/>
                </a:solidFill>
                <a:latin typeface="Calibri" pitchFamily="34" charset="0"/>
                <a:ea typeface="Calibri" pitchFamily="34" charset="-122"/>
                <a:cs typeface="Calibri" pitchFamily="34" charset="-120"/>
              </a:rPr>
              <a:t>users (past year)</a:t>
            </a:r>
            <a:endParaRPr lang="en-US" sz="1200" dirty="0"/>
          </a:p>
        </p:txBody>
      </p:sp>
      <p:sp>
        <p:nvSpPr>
          <p:cNvPr id="29" name="Text 27"/>
          <p:cNvSpPr/>
          <p:nvPr/>
        </p:nvSpPr>
        <p:spPr>
          <a:xfrm>
            <a:off x="3502152" y="3776472"/>
            <a:ext cx="2423160" cy="411480"/>
          </a:xfrm>
          <a:prstGeom prst="rect">
            <a:avLst/>
          </a:prstGeom>
          <a:noFill/>
          <a:ln/>
        </p:spPr>
        <p:txBody>
          <a:bodyPr wrap="square" lIns="0" tIns="0" rIns="0" bIns="0" rtlCol="0" anchor="ctr"/>
          <a:lstStyle/>
          <a:p>
            <a:pPr marL="0" indent="0" algn="l">
              <a:buNone/>
            </a:pPr>
            <a:r>
              <a:rPr lang="en-US" sz="1000" dirty="0">
                <a:solidFill>
                  <a:srgbClr val="374151"/>
                </a:solidFill>
                <a:latin typeface="Calibri" pitchFamily="34" charset="0"/>
                <a:ea typeface="Calibri" pitchFamily="34" charset="-122"/>
                <a:cs typeface="Calibri" pitchFamily="34" charset="-120"/>
              </a:rPr>
              <a:t>across 8,000+ projects; freely accessible in U.S.</a:t>
            </a:r>
            <a:endParaRPr lang="en-US" sz="1000" dirty="0"/>
          </a:p>
        </p:txBody>
      </p:sp>
      <p:sp>
        <p:nvSpPr>
          <p:cNvPr id="30" name="Shape 28"/>
          <p:cNvSpPr/>
          <p:nvPr/>
        </p:nvSpPr>
        <p:spPr>
          <a:xfrm>
            <a:off x="6181344" y="2724912"/>
            <a:ext cx="2697480" cy="1508760"/>
          </a:xfrm>
          <a:prstGeom prst="rect">
            <a:avLst/>
          </a:prstGeom>
          <a:solidFill>
            <a:srgbClr val="F4F6FA"/>
          </a:solidFill>
          <a:ln w="12700">
            <a:solidFill>
              <a:srgbClr val="F4F6FA"/>
            </a:solidFill>
            <a:prstDash val="solid"/>
          </a:ln>
        </p:spPr>
        <p:txBody>
          <a:bodyPr/>
          <a:lstStyle/>
          <a:p>
            <a:endParaRPr lang="en-US"/>
          </a:p>
        </p:txBody>
      </p:sp>
      <p:sp>
        <p:nvSpPr>
          <p:cNvPr id="31" name="Shape 29"/>
          <p:cNvSpPr/>
          <p:nvPr/>
        </p:nvSpPr>
        <p:spPr>
          <a:xfrm>
            <a:off x="6181344" y="2724912"/>
            <a:ext cx="64008" cy="1508760"/>
          </a:xfrm>
          <a:prstGeom prst="rect">
            <a:avLst/>
          </a:prstGeom>
          <a:solidFill>
            <a:srgbClr val="065A82"/>
          </a:solidFill>
          <a:ln w="12700">
            <a:solidFill>
              <a:srgbClr val="065A82"/>
            </a:solidFill>
            <a:prstDash val="solid"/>
          </a:ln>
        </p:spPr>
        <p:txBody>
          <a:bodyPr/>
          <a:lstStyle/>
          <a:p>
            <a:endParaRPr lang="en-US"/>
          </a:p>
        </p:txBody>
      </p:sp>
      <p:sp>
        <p:nvSpPr>
          <p:cNvPr id="32" name="Text 30"/>
          <p:cNvSpPr/>
          <p:nvPr/>
        </p:nvSpPr>
        <p:spPr>
          <a:xfrm>
            <a:off x="6364224" y="2862072"/>
            <a:ext cx="2423160" cy="640080"/>
          </a:xfrm>
          <a:prstGeom prst="rect">
            <a:avLst/>
          </a:prstGeom>
          <a:noFill/>
          <a:ln/>
        </p:spPr>
        <p:txBody>
          <a:bodyPr wrap="square" lIns="0" tIns="0" rIns="0" bIns="0" rtlCol="0" anchor="ctr"/>
          <a:lstStyle/>
          <a:p>
            <a:pPr marL="0" indent="0" algn="l">
              <a:buNone/>
            </a:pPr>
            <a:r>
              <a:rPr lang="en-US" sz="3600" b="1" dirty="0">
                <a:solidFill>
                  <a:srgbClr val="065A82"/>
                </a:solidFill>
                <a:latin typeface="Calibri" pitchFamily="34" charset="0"/>
                <a:ea typeface="Calibri" pitchFamily="34" charset="-122"/>
                <a:cs typeface="Calibri" pitchFamily="34" charset="-120"/>
              </a:rPr>
              <a:t>151</a:t>
            </a:r>
            <a:endParaRPr lang="en-US" sz="3600" dirty="0"/>
          </a:p>
        </p:txBody>
      </p:sp>
      <p:sp>
        <p:nvSpPr>
          <p:cNvPr id="33" name="Text 31"/>
          <p:cNvSpPr/>
          <p:nvPr/>
        </p:nvSpPr>
        <p:spPr>
          <a:xfrm>
            <a:off x="6364224" y="3502152"/>
            <a:ext cx="2423160" cy="274320"/>
          </a:xfrm>
          <a:prstGeom prst="rect">
            <a:avLst/>
          </a:prstGeom>
          <a:noFill/>
          <a:ln/>
        </p:spPr>
        <p:txBody>
          <a:bodyPr wrap="square" lIns="0" tIns="0" rIns="0" bIns="0" rtlCol="0" anchor="ctr"/>
          <a:lstStyle/>
          <a:p>
            <a:pPr marL="0" indent="0" algn="l">
              <a:buNone/>
            </a:pPr>
            <a:r>
              <a:rPr lang="en-US" sz="1200" b="1" dirty="0">
                <a:solidFill>
                  <a:srgbClr val="21295C"/>
                </a:solidFill>
                <a:latin typeface="Calibri" pitchFamily="34" charset="0"/>
                <a:ea typeface="Calibri" pitchFamily="34" charset="-122"/>
                <a:cs typeface="Calibri" pitchFamily="34" charset="-120"/>
              </a:rPr>
              <a:t>JupyterHubs</a:t>
            </a:r>
            <a:endParaRPr lang="en-US" sz="1200" dirty="0"/>
          </a:p>
        </p:txBody>
      </p:sp>
      <p:sp>
        <p:nvSpPr>
          <p:cNvPr id="34" name="Text 32"/>
          <p:cNvSpPr/>
          <p:nvPr/>
        </p:nvSpPr>
        <p:spPr>
          <a:xfrm>
            <a:off x="6364224" y="3776472"/>
            <a:ext cx="2423160" cy="411480"/>
          </a:xfrm>
          <a:prstGeom prst="rect">
            <a:avLst/>
          </a:prstGeom>
          <a:noFill/>
          <a:ln/>
        </p:spPr>
        <p:txBody>
          <a:bodyPr wrap="square" lIns="0" tIns="0" rIns="0" bIns="0" rtlCol="0" anchor="ctr"/>
          <a:lstStyle/>
          <a:p>
            <a:pPr marL="0" indent="0" algn="l">
              <a:buNone/>
            </a:pPr>
            <a:r>
              <a:rPr lang="en-US" sz="1000" dirty="0">
                <a:solidFill>
                  <a:srgbClr val="374151"/>
                </a:solidFill>
                <a:latin typeface="Calibri" pitchFamily="34" charset="0"/>
                <a:ea typeface="Calibri" pitchFamily="34" charset="-122"/>
                <a:cs typeface="Calibri" pitchFamily="34" charset="-120"/>
              </a:rPr>
              <a:t>90% of NRP users reach the platform through Jupyter</a:t>
            </a:r>
            <a:endParaRPr lang="en-US" sz="1000" dirty="0"/>
          </a:p>
        </p:txBody>
      </p:sp>
      <p:sp>
        <p:nvSpPr>
          <p:cNvPr id="35" name="Text 33"/>
          <p:cNvSpPr/>
          <p:nvPr/>
        </p:nvSpPr>
        <p:spPr>
          <a:xfrm>
            <a:off x="457200" y="4434840"/>
            <a:ext cx="8229600" cy="27432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Source: "State of NRP" keynote, Frank Würthwein, 7NRP, May 2026.</a:t>
            </a:r>
            <a:endParaRPr lang="en-US" sz="900" dirty="0"/>
          </a:p>
        </p:txBody>
      </p:sp>
      <p:sp>
        <p:nvSpPr>
          <p:cNvPr id="36" name="Text 34"/>
          <p:cNvSpPr/>
          <p:nvPr/>
        </p:nvSpPr>
        <p:spPr>
          <a:xfrm>
            <a:off x="457200" y="4800600"/>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NRP @ 7NRP  ·  ITS AI Community of Practice  ·  May 2026</a:t>
            </a:r>
            <a:endParaRPr lang="en-US" sz="900" dirty="0"/>
          </a:p>
        </p:txBody>
      </p:sp>
      <p:sp>
        <p:nvSpPr>
          <p:cNvPr id="37" name="Text 35"/>
          <p:cNvSpPr/>
          <p:nvPr/>
        </p:nvSpPr>
        <p:spPr>
          <a:xfrm>
            <a:off x="8229600" y="4800600"/>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4 / 19</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lIns="0" tIns="0" rIns="0" bIns="0" rtlCol="0" anchor="ctr"/>
          <a:lstStyle/>
          <a:p>
            <a:pPr marL="0" indent="0" algn="l">
              <a:buNone/>
            </a:pPr>
            <a:r>
              <a:rPr lang="en-US" sz="1100" b="1" kern="0" spc="400" dirty="0">
                <a:solidFill>
                  <a:srgbClr val="1C7293"/>
                </a:solidFill>
                <a:latin typeface="Calibri" pitchFamily="34" charset="0"/>
                <a:ea typeface="Calibri" pitchFamily="34" charset="-122"/>
                <a:cs typeface="Calibri" pitchFamily="34" charset="-120"/>
              </a:rPr>
              <a:t>HOW IT WORKS</a:t>
            </a:r>
            <a:endParaRPr lang="en-US" sz="1100" dirty="0"/>
          </a:p>
        </p:txBody>
      </p:sp>
      <p:sp>
        <p:nvSpPr>
          <p:cNvPr id="3" name="Text 1"/>
          <p:cNvSpPr/>
          <p:nvPr/>
        </p:nvSpPr>
        <p:spPr>
          <a:xfrm>
            <a:off x="457200" y="292608"/>
            <a:ext cx="8229600" cy="548640"/>
          </a:xfrm>
          <a:prstGeom prst="rect">
            <a:avLst/>
          </a:prstGeom>
          <a:noFill/>
          <a:ln/>
        </p:spPr>
        <p:txBody>
          <a:bodyPr wrap="square" lIns="0" tIns="0" rIns="0" bIns="0" rtlCol="0" anchor="ctr"/>
          <a:lstStyle/>
          <a:p>
            <a:pPr marL="0" indent="0" algn="l">
              <a:buNone/>
            </a:pPr>
            <a:r>
              <a:rPr lang="en-US" sz="2800" b="1" dirty="0">
                <a:solidFill>
                  <a:srgbClr val="21295C"/>
                </a:solidFill>
                <a:latin typeface="Calibri" pitchFamily="34" charset="0"/>
                <a:ea typeface="Calibri" pitchFamily="34" charset="-122"/>
                <a:cs typeface="Calibri" pitchFamily="34" charset="-120"/>
              </a:rPr>
              <a:t>A federated Kubernetes cluster with Jupyter on top</a:t>
            </a:r>
            <a:endParaRPr lang="en-US" sz="2800" dirty="0"/>
          </a:p>
        </p:txBody>
      </p:sp>
      <p:sp>
        <p:nvSpPr>
          <p:cNvPr id="4" name="Shape 2"/>
          <p:cNvSpPr/>
          <p:nvPr/>
        </p:nvSpPr>
        <p:spPr>
          <a:xfrm>
            <a:off x="457200" y="868680"/>
            <a:ext cx="8229600" cy="0"/>
          </a:xfrm>
          <a:prstGeom prst="line">
            <a:avLst/>
          </a:prstGeom>
          <a:noFill/>
          <a:ln w="9525">
            <a:solidFill>
              <a:srgbClr val="CBD5E1"/>
            </a:solidFill>
            <a:prstDash val="solid"/>
          </a:ln>
        </p:spPr>
        <p:txBody>
          <a:bodyPr/>
          <a:lstStyle/>
          <a:p>
            <a:endParaRPr lang="en-US"/>
          </a:p>
        </p:txBody>
      </p:sp>
      <p:sp>
        <p:nvSpPr>
          <p:cNvPr id="5" name="Shape 3"/>
          <p:cNvSpPr/>
          <p:nvPr/>
        </p:nvSpPr>
        <p:spPr>
          <a:xfrm>
            <a:off x="457200" y="1051560"/>
            <a:ext cx="5120640" cy="713232"/>
          </a:xfrm>
          <a:prstGeom prst="rect">
            <a:avLst/>
          </a:prstGeom>
          <a:solidFill>
            <a:srgbClr val="065A82"/>
          </a:solidFill>
          <a:ln w="12700">
            <a:solidFill>
              <a:srgbClr val="065A82"/>
            </a:solidFill>
            <a:prstDash val="solid"/>
          </a:ln>
        </p:spPr>
        <p:txBody>
          <a:bodyPr/>
          <a:lstStyle/>
          <a:p>
            <a:endParaRPr lang="en-US"/>
          </a:p>
        </p:txBody>
      </p:sp>
      <p:sp>
        <p:nvSpPr>
          <p:cNvPr id="6" name="Text 4"/>
          <p:cNvSpPr/>
          <p:nvPr/>
        </p:nvSpPr>
        <p:spPr>
          <a:xfrm>
            <a:off x="640080" y="1097280"/>
            <a:ext cx="475488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User experience</a:t>
            </a:r>
            <a:endParaRPr lang="en-US" sz="1300" dirty="0"/>
          </a:p>
        </p:txBody>
      </p:sp>
      <p:sp>
        <p:nvSpPr>
          <p:cNvPr id="7" name="Text 5"/>
          <p:cNvSpPr/>
          <p:nvPr/>
        </p:nvSpPr>
        <p:spPr>
          <a:xfrm>
            <a:off x="640080" y="1399032"/>
            <a:ext cx="4754880" cy="310896"/>
          </a:xfrm>
          <a:prstGeom prst="rect">
            <a:avLst/>
          </a:prstGeom>
          <a:noFill/>
          <a:ln/>
        </p:spPr>
        <p:txBody>
          <a:bodyPr wrap="square" lIns="0" tIns="0" rIns="0" bIns="0" rtlCol="0" anchor="ctr"/>
          <a:lstStyle/>
          <a:p>
            <a:pPr marL="0" indent="0">
              <a:buNone/>
            </a:pPr>
            <a:r>
              <a:rPr lang="en-US" sz="1100" dirty="0">
                <a:solidFill>
                  <a:srgbClr val="DDE7F0"/>
                </a:solidFill>
                <a:latin typeface="Calibri" pitchFamily="34" charset="0"/>
                <a:ea typeface="Calibri" pitchFamily="34" charset="-122"/>
                <a:cs typeface="Calibri" pitchFamily="34" charset="-120"/>
              </a:rPr>
              <a:t>Jupyter notebooks, browser-based LLM chat, MCP agents</a:t>
            </a:r>
            <a:endParaRPr lang="en-US" sz="1100" dirty="0"/>
          </a:p>
        </p:txBody>
      </p:sp>
      <p:sp>
        <p:nvSpPr>
          <p:cNvPr id="8" name="Shape 6"/>
          <p:cNvSpPr/>
          <p:nvPr/>
        </p:nvSpPr>
        <p:spPr>
          <a:xfrm>
            <a:off x="457200" y="1828800"/>
            <a:ext cx="5120640" cy="713232"/>
          </a:xfrm>
          <a:prstGeom prst="rect">
            <a:avLst/>
          </a:prstGeom>
          <a:solidFill>
            <a:srgbClr val="1C7293"/>
          </a:solidFill>
          <a:ln w="12700">
            <a:solidFill>
              <a:srgbClr val="1C7293"/>
            </a:solidFill>
            <a:prstDash val="solid"/>
          </a:ln>
        </p:spPr>
        <p:txBody>
          <a:bodyPr/>
          <a:lstStyle/>
          <a:p>
            <a:endParaRPr lang="en-US"/>
          </a:p>
        </p:txBody>
      </p:sp>
      <p:sp>
        <p:nvSpPr>
          <p:cNvPr id="9" name="Text 7"/>
          <p:cNvSpPr/>
          <p:nvPr/>
        </p:nvSpPr>
        <p:spPr>
          <a:xfrm>
            <a:off x="640080" y="1874520"/>
            <a:ext cx="475488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Platform services</a:t>
            </a:r>
            <a:endParaRPr lang="en-US" sz="1300" dirty="0"/>
          </a:p>
        </p:txBody>
      </p:sp>
      <p:sp>
        <p:nvSpPr>
          <p:cNvPr id="10" name="Text 8"/>
          <p:cNvSpPr/>
          <p:nvPr/>
        </p:nvSpPr>
        <p:spPr>
          <a:xfrm>
            <a:off x="640080" y="2176272"/>
            <a:ext cx="4754880" cy="310896"/>
          </a:xfrm>
          <a:prstGeom prst="rect">
            <a:avLst/>
          </a:prstGeom>
          <a:noFill/>
          <a:ln/>
        </p:spPr>
        <p:txBody>
          <a:bodyPr wrap="square" lIns="0" tIns="0" rIns="0" bIns="0" rtlCol="0" anchor="ctr"/>
          <a:lstStyle/>
          <a:p>
            <a:pPr marL="0" indent="0">
              <a:buNone/>
            </a:pPr>
            <a:r>
              <a:rPr lang="en-US" sz="1100" dirty="0">
                <a:solidFill>
                  <a:srgbClr val="DDE7F0"/>
                </a:solidFill>
                <a:latin typeface="Calibri" pitchFamily="34" charset="0"/>
                <a:ea typeface="Calibri" pitchFamily="34" charset="-122"/>
                <a:cs typeface="Calibri" pitchFamily="34" charset="-120"/>
              </a:rPr>
              <a:t>JupyterHub, vLLM, Envoy API gateway, CILogon identity, OSDF storage</a:t>
            </a:r>
            <a:endParaRPr lang="en-US" sz="1100" dirty="0"/>
          </a:p>
        </p:txBody>
      </p:sp>
      <p:sp>
        <p:nvSpPr>
          <p:cNvPr id="11" name="Shape 9"/>
          <p:cNvSpPr/>
          <p:nvPr/>
        </p:nvSpPr>
        <p:spPr>
          <a:xfrm>
            <a:off x="457200" y="2606040"/>
            <a:ext cx="5120640" cy="713232"/>
          </a:xfrm>
          <a:prstGeom prst="rect">
            <a:avLst/>
          </a:prstGeom>
          <a:solidFill>
            <a:srgbClr val="3A7BAA"/>
          </a:solidFill>
          <a:ln w="12700">
            <a:solidFill>
              <a:srgbClr val="3A7BAA"/>
            </a:solidFill>
            <a:prstDash val="solid"/>
          </a:ln>
        </p:spPr>
        <p:txBody>
          <a:bodyPr/>
          <a:lstStyle/>
          <a:p>
            <a:endParaRPr lang="en-US"/>
          </a:p>
        </p:txBody>
      </p:sp>
      <p:sp>
        <p:nvSpPr>
          <p:cNvPr id="12" name="Text 10"/>
          <p:cNvSpPr/>
          <p:nvPr/>
        </p:nvSpPr>
        <p:spPr>
          <a:xfrm>
            <a:off x="640080" y="2651760"/>
            <a:ext cx="475488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Orchestration</a:t>
            </a:r>
            <a:endParaRPr lang="en-US" sz="1300" dirty="0"/>
          </a:p>
        </p:txBody>
      </p:sp>
      <p:sp>
        <p:nvSpPr>
          <p:cNvPr id="13" name="Text 11"/>
          <p:cNvSpPr/>
          <p:nvPr/>
        </p:nvSpPr>
        <p:spPr>
          <a:xfrm>
            <a:off x="640080" y="2953512"/>
            <a:ext cx="4754880" cy="310896"/>
          </a:xfrm>
          <a:prstGeom prst="rect">
            <a:avLst/>
          </a:prstGeom>
          <a:noFill/>
          <a:ln/>
        </p:spPr>
        <p:txBody>
          <a:bodyPr wrap="square" lIns="0" tIns="0" rIns="0" bIns="0" rtlCol="0" anchor="ctr"/>
          <a:lstStyle/>
          <a:p>
            <a:pPr marL="0" indent="0">
              <a:buNone/>
            </a:pPr>
            <a:r>
              <a:rPr lang="en-US" sz="1100" dirty="0">
                <a:solidFill>
                  <a:srgbClr val="DDE7F0"/>
                </a:solidFill>
                <a:latin typeface="Calibri" pitchFamily="34" charset="0"/>
                <a:ea typeface="Calibri" pitchFamily="34" charset="-122"/>
                <a:cs typeface="Calibri" pitchFamily="34" charset="-120"/>
              </a:rPr>
              <a:t>Kubernetes ("Nautilus"), namespaces, GPU scheduling</a:t>
            </a:r>
            <a:endParaRPr lang="en-US" sz="1100" dirty="0"/>
          </a:p>
        </p:txBody>
      </p:sp>
      <p:sp>
        <p:nvSpPr>
          <p:cNvPr id="14" name="Shape 12"/>
          <p:cNvSpPr/>
          <p:nvPr/>
        </p:nvSpPr>
        <p:spPr>
          <a:xfrm>
            <a:off x="457200" y="3383280"/>
            <a:ext cx="5120640" cy="713232"/>
          </a:xfrm>
          <a:prstGeom prst="rect">
            <a:avLst/>
          </a:prstGeom>
          <a:solidFill>
            <a:srgbClr val="5C95B8"/>
          </a:solidFill>
          <a:ln w="12700">
            <a:solidFill>
              <a:srgbClr val="5C95B8"/>
            </a:solidFill>
            <a:prstDash val="solid"/>
          </a:ln>
        </p:spPr>
        <p:txBody>
          <a:bodyPr/>
          <a:lstStyle/>
          <a:p>
            <a:endParaRPr lang="en-US"/>
          </a:p>
        </p:txBody>
      </p:sp>
      <p:sp>
        <p:nvSpPr>
          <p:cNvPr id="15" name="Text 13"/>
          <p:cNvSpPr/>
          <p:nvPr/>
        </p:nvSpPr>
        <p:spPr>
          <a:xfrm>
            <a:off x="640080" y="3429000"/>
            <a:ext cx="475488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Hardware &amp; network</a:t>
            </a:r>
            <a:endParaRPr lang="en-US" sz="1300" dirty="0"/>
          </a:p>
        </p:txBody>
      </p:sp>
      <p:sp>
        <p:nvSpPr>
          <p:cNvPr id="16" name="Text 14"/>
          <p:cNvSpPr/>
          <p:nvPr/>
        </p:nvSpPr>
        <p:spPr>
          <a:xfrm>
            <a:off x="640080" y="3730752"/>
            <a:ext cx="4754880" cy="310896"/>
          </a:xfrm>
          <a:prstGeom prst="rect">
            <a:avLst/>
          </a:prstGeom>
          <a:noFill/>
          <a:ln/>
        </p:spPr>
        <p:txBody>
          <a:bodyPr wrap="square" lIns="0" tIns="0" rIns="0" bIns="0" rtlCol="0" anchor="ctr"/>
          <a:lstStyle/>
          <a:p>
            <a:pPr marL="0" indent="0">
              <a:buNone/>
            </a:pPr>
            <a:r>
              <a:rPr lang="en-US" sz="1100" dirty="0">
                <a:solidFill>
                  <a:srgbClr val="DDE7F0"/>
                </a:solidFill>
                <a:latin typeface="Calibri" pitchFamily="34" charset="0"/>
                <a:ea typeface="Calibri" pitchFamily="34" charset="-122"/>
                <a:cs typeface="Calibri" pitchFamily="34" charset="-120"/>
              </a:rPr>
              <a:t>GPUs/CPUs at member sites, Pacific Wave / CENIC / Internet2</a:t>
            </a:r>
            <a:endParaRPr lang="en-US" sz="1100" dirty="0"/>
          </a:p>
        </p:txBody>
      </p:sp>
      <p:sp>
        <p:nvSpPr>
          <p:cNvPr id="17" name="Text 15"/>
          <p:cNvSpPr/>
          <p:nvPr/>
        </p:nvSpPr>
        <p:spPr>
          <a:xfrm>
            <a:off x="5852160" y="1051560"/>
            <a:ext cx="2834640" cy="274320"/>
          </a:xfrm>
          <a:prstGeom prst="rect">
            <a:avLst/>
          </a:prstGeom>
          <a:noFill/>
          <a:ln/>
        </p:spPr>
        <p:txBody>
          <a:bodyPr wrap="square" lIns="0" tIns="0" rIns="0" bIns="0" rtlCol="0" anchor="ctr"/>
          <a:lstStyle/>
          <a:p>
            <a:pPr marL="0" indent="0">
              <a:buNone/>
            </a:pPr>
            <a:r>
              <a:rPr lang="en-US" sz="1100" b="1" kern="0" spc="400" dirty="0">
                <a:solidFill>
                  <a:srgbClr val="1C7293"/>
                </a:solidFill>
                <a:latin typeface="Calibri" pitchFamily="34" charset="0"/>
                <a:ea typeface="Calibri" pitchFamily="34" charset="-122"/>
                <a:cs typeface="Calibri" pitchFamily="34" charset="-120"/>
              </a:rPr>
              <a:t>WHAT NRP DOES FOR YOU</a:t>
            </a:r>
            <a:endParaRPr lang="en-US" sz="1100" dirty="0"/>
          </a:p>
        </p:txBody>
      </p:sp>
      <p:sp>
        <p:nvSpPr>
          <p:cNvPr id="18" name="Text 16"/>
          <p:cNvSpPr/>
          <p:nvPr/>
        </p:nvSpPr>
        <p:spPr>
          <a:xfrm>
            <a:off x="5852160" y="1371600"/>
            <a:ext cx="2834640" cy="457200"/>
          </a:xfrm>
          <a:prstGeom prst="rect">
            <a:avLst/>
          </a:prstGeom>
          <a:noFill/>
          <a:ln/>
        </p:spPr>
        <p:txBody>
          <a:bodyPr wrap="square" lIns="0" tIns="0" rIns="0" bIns="0" rtlCol="0" anchor="ctr"/>
          <a:lstStyle/>
          <a:p>
            <a:pPr marL="0" indent="0">
              <a:buNone/>
            </a:pPr>
            <a:r>
              <a:rPr lang="en-US" sz="1100" b="1" dirty="0">
                <a:solidFill>
                  <a:srgbClr val="C99B2D"/>
                </a:solidFill>
                <a:latin typeface="Calibri" pitchFamily="34" charset="0"/>
                <a:ea typeface="Calibri" pitchFamily="34" charset="-122"/>
                <a:cs typeface="Calibri" pitchFamily="34" charset="-120"/>
              </a:rPr>
              <a:t>▸  </a:t>
            </a:r>
            <a:r>
              <a:rPr lang="en-US" sz="1100" dirty="0">
                <a:solidFill>
                  <a:srgbClr val="374151"/>
                </a:solidFill>
                <a:latin typeface="Calibri" pitchFamily="34" charset="0"/>
                <a:ea typeface="Calibri" pitchFamily="34" charset="-122"/>
                <a:cs typeface="Calibri" pitchFamily="34" charset="-120"/>
              </a:rPr>
              <a:t>Runs your hardware from IPMI up</a:t>
            </a:r>
            <a:endParaRPr lang="en-US" sz="1100" dirty="0"/>
          </a:p>
        </p:txBody>
      </p:sp>
      <p:sp>
        <p:nvSpPr>
          <p:cNvPr id="19" name="Text 17"/>
          <p:cNvSpPr/>
          <p:nvPr/>
        </p:nvSpPr>
        <p:spPr>
          <a:xfrm>
            <a:off x="5852160" y="1874520"/>
            <a:ext cx="2834640" cy="457200"/>
          </a:xfrm>
          <a:prstGeom prst="rect">
            <a:avLst/>
          </a:prstGeom>
          <a:noFill/>
          <a:ln/>
        </p:spPr>
        <p:txBody>
          <a:bodyPr wrap="square" lIns="0" tIns="0" rIns="0" bIns="0" rtlCol="0" anchor="ctr"/>
          <a:lstStyle/>
          <a:p>
            <a:pPr marL="0" indent="0">
              <a:buNone/>
            </a:pPr>
            <a:r>
              <a:rPr lang="en-US" sz="1100" b="1" dirty="0">
                <a:solidFill>
                  <a:srgbClr val="C99B2D"/>
                </a:solidFill>
                <a:latin typeface="Calibri" pitchFamily="34" charset="0"/>
                <a:ea typeface="Calibri" pitchFamily="34" charset="-122"/>
                <a:cs typeface="Calibri" pitchFamily="34" charset="-120"/>
              </a:rPr>
              <a:t>▸  </a:t>
            </a:r>
            <a:r>
              <a:rPr lang="en-US" sz="1100" dirty="0">
                <a:solidFill>
                  <a:srgbClr val="374151"/>
                </a:solidFill>
                <a:latin typeface="Calibri" pitchFamily="34" charset="0"/>
                <a:ea typeface="Calibri" pitchFamily="34" charset="-122"/>
                <a:cs typeface="Calibri" pitchFamily="34" charset="-120"/>
              </a:rPr>
              <a:t>Patches the cluster (CopyFail-style fixes happen automatically)</a:t>
            </a:r>
            <a:endParaRPr lang="en-US" sz="1100" dirty="0"/>
          </a:p>
        </p:txBody>
      </p:sp>
      <p:sp>
        <p:nvSpPr>
          <p:cNvPr id="20" name="Text 18"/>
          <p:cNvSpPr/>
          <p:nvPr/>
        </p:nvSpPr>
        <p:spPr>
          <a:xfrm>
            <a:off x="5852160" y="2377440"/>
            <a:ext cx="2834640" cy="457200"/>
          </a:xfrm>
          <a:prstGeom prst="rect">
            <a:avLst/>
          </a:prstGeom>
          <a:noFill/>
          <a:ln/>
        </p:spPr>
        <p:txBody>
          <a:bodyPr wrap="square" lIns="0" tIns="0" rIns="0" bIns="0" rtlCol="0" anchor="ctr"/>
          <a:lstStyle/>
          <a:p>
            <a:pPr marL="0" indent="0">
              <a:buNone/>
            </a:pPr>
            <a:r>
              <a:rPr lang="en-US" sz="1100" b="1" dirty="0">
                <a:solidFill>
                  <a:srgbClr val="C99B2D"/>
                </a:solidFill>
                <a:latin typeface="Calibri" pitchFamily="34" charset="0"/>
                <a:ea typeface="Calibri" pitchFamily="34" charset="-122"/>
                <a:cs typeface="Calibri" pitchFamily="34" charset="-120"/>
              </a:rPr>
              <a:t>▸  </a:t>
            </a:r>
            <a:r>
              <a:rPr lang="en-US" sz="1100" dirty="0">
                <a:solidFill>
                  <a:srgbClr val="374151"/>
                </a:solidFill>
                <a:latin typeface="Calibri" pitchFamily="34" charset="0"/>
                <a:ea typeface="Calibri" pitchFamily="34" charset="-122"/>
                <a:cs typeface="Calibri" pitchFamily="34" charset="-120"/>
              </a:rPr>
              <a:t>Hosts your data — if it's useful to the community, free of charge</a:t>
            </a:r>
            <a:endParaRPr lang="en-US" sz="1100" dirty="0"/>
          </a:p>
        </p:txBody>
      </p:sp>
      <p:sp>
        <p:nvSpPr>
          <p:cNvPr id="21" name="Text 19"/>
          <p:cNvSpPr/>
          <p:nvPr/>
        </p:nvSpPr>
        <p:spPr>
          <a:xfrm>
            <a:off x="5852160" y="2880360"/>
            <a:ext cx="2834640" cy="457200"/>
          </a:xfrm>
          <a:prstGeom prst="rect">
            <a:avLst/>
          </a:prstGeom>
          <a:noFill/>
          <a:ln/>
        </p:spPr>
        <p:txBody>
          <a:bodyPr wrap="square" lIns="0" tIns="0" rIns="0" bIns="0" rtlCol="0" anchor="ctr"/>
          <a:lstStyle/>
          <a:p>
            <a:pPr marL="0" indent="0">
              <a:buNone/>
            </a:pPr>
            <a:r>
              <a:rPr lang="en-US" sz="1100" b="1" dirty="0">
                <a:solidFill>
                  <a:srgbClr val="C99B2D"/>
                </a:solidFill>
                <a:latin typeface="Calibri" pitchFamily="34" charset="0"/>
                <a:ea typeface="Calibri" pitchFamily="34" charset="-122"/>
                <a:cs typeface="Calibri" pitchFamily="34" charset="-120"/>
              </a:rPr>
              <a:t>▸  </a:t>
            </a:r>
            <a:r>
              <a:rPr lang="en-US" sz="1100" dirty="0">
                <a:solidFill>
                  <a:srgbClr val="374151"/>
                </a:solidFill>
                <a:latin typeface="Calibri" pitchFamily="34" charset="0"/>
                <a:ea typeface="Calibri" pitchFamily="34" charset="-122"/>
                <a:cs typeface="Calibri" pitchFamily="34" charset="-120"/>
              </a:rPr>
              <a:t>Provides identity, GPU scheduling, and a software catalog</a:t>
            </a:r>
            <a:endParaRPr lang="en-US" sz="1100" dirty="0"/>
          </a:p>
        </p:txBody>
      </p:sp>
      <p:sp>
        <p:nvSpPr>
          <p:cNvPr id="22" name="Text 20"/>
          <p:cNvSpPr/>
          <p:nvPr/>
        </p:nvSpPr>
        <p:spPr>
          <a:xfrm>
            <a:off x="5852160" y="3383280"/>
            <a:ext cx="2834640" cy="457200"/>
          </a:xfrm>
          <a:prstGeom prst="rect">
            <a:avLst/>
          </a:prstGeom>
          <a:noFill/>
          <a:ln/>
        </p:spPr>
        <p:txBody>
          <a:bodyPr wrap="square" lIns="0" tIns="0" rIns="0" bIns="0" rtlCol="0" anchor="ctr"/>
          <a:lstStyle/>
          <a:p>
            <a:pPr marL="0" indent="0">
              <a:buNone/>
            </a:pPr>
            <a:r>
              <a:rPr lang="en-US" sz="1100" b="1" dirty="0">
                <a:solidFill>
                  <a:srgbClr val="C99B2D"/>
                </a:solidFill>
                <a:latin typeface="Calibri" pitchFamily="34" charset="0"/>
                <a:ea typeface="Calibri" pitchFamily="34" charset="-122"/>
                <a:cs typeface="Calibri" pitchFamily="34" charset="-120"/>
              </a:rPr>
              <a:t>▸  </a:t>
            </a:r>
            <a:r>
              <a:rPr lang="en-US" sz="1100" dirty="0">
                <a:solidFill>
                  <a:srgbClr val="374151"/>
                </a:solidFill>
                <a:latin typeface="Calibri" pitchFamily="34" charset="0"/>
                <a:ea typeface="Calibri" pitchFamily="34" charset="-122"/>
                <a:cs typeface="Calibri" pitchFamily="34" charset="-120"/>
              </a:rPr>
              <a:t>Operates topical chat channels — a "permanent digital water cooler"</a:t>
            </a:r>
            <a:endParaRPr lang="en-US" sz="1100" dirty="0"/>
          </a:p>
        </p:txBody>
      </p:sp>
      <p:sp>
        <p:nvSpPr>
          <p:cNvPr id="23" name="Text 21"/>
          <p:cNvSpPr/>
          <p:nvPr/>
        </p:nvSpPr>
        <p:spPr>
          <a:xfrm>
            <a:off x="457200" y="4800600"/>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NRP @ 7NRP  ·  ITS AI Community of Practice  ·  May 2026</a:t>
            </a:r>
            <a:endParaRPr lang="en-US" sz="900" dirty="0"/>
          </a:p>
        </p:txBody>
      </p:sp>
      <p:sp>
        <p:nvSpPr>
          <p:cNvPr id="24" name="Text 22"/>
          <p:cNvSpPr/>
          <p:nvPr/>
        </p:nvSpPr>
        <p:spPr>
          <a:xfrm>
            <a:off x="8229600" y="4800600"/>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5 / 19</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lIns="0" tIns="0" rIns="0" bIns="0" rtlCol="0" anchor="ctr"/>
          <a:lstStyle/>
          <a:p>
            <a:pPr marL="0" indent="0" algn="l">
              <a:buNone/>
            </a:pPr>
            <a:r>
              <a:rPr lang="en-US" sz="1100" b="1" kern="0" spc="400" dirty="0">
                <a:solidFill>
                  <a:srgbClr val="1C7293"/>
                </a:solidFill>
                <a:latin typeface="Calibri" pitchFamily="34" charset="0"/>
                <a:ea typeface="Calibri" pitchFamily="34" charset="-122"/>
                <a:cs typeface="Calibri" pitchFamily="34" charset="-120"/>
              </a:rPr>
              <a:t>WHY JUPYTER MATTERS</a:t>
            </a:r>
            <a:endParaRPr lang="en-US" sz="1100" dirty="0"/>
          </a:p>
        </p:txBody>
      </p:sp>
      <p:sp>
        <p:nvSpPr>
          <p:cNvPr id="3" name="Text 1"/>
          <p:cNvSpPr/>
          <p:nvPr/>
        </p:nvSpPr>
        <p:spPr>
          <a:xfrm>
            <a:off x="457200" y="292608"/>
            <a:ext cx="8229600" cy="548640"/>
          </a:xfrm>
          <a:prstGeom prst="rect">
            <a:avLst/>
          </a:prstGeom>
          <a:noFill/>
          <a:ln/>
        </p:spPr>
        <p:txBody>
          <a:bodyPr wrap="square" lIns="0" tIns="0" rIns="0" bIns="0" rtlCol="0" anchor="ctr"/>
          <a:lstStyle/>
          <a:p>
            <a:pPr marL="0" indent="0" algn="l">
              <a:buNone/>
            </a:pPr>
            <a:r>
              <a:rPr lang="en-US" sz="2800" b="1" dirty="0">
                <a:solidFill>
                  <a:srgbClr val="21295C"/>
                </a:solidFill>
                <a:latin typeface="Calibri" pitchFamily="34" charset="0"/>
                <a:ea typeface="Calibri" pitchFamily="34" charset="-122"/>
                <a:cs typeface="Calibri" pitchFamily="34" charset="-120"/>
              </a:rPr>
              <a:t>Notebooks are the way most people meet NRP</a:t>
            </a:r>
            <a:endParaRPr lang="en-US" sz="2800" dirty="0"/>
          </a:p>
        </p:txBody>
      </p:sp>
      <p:sp>
        <p:nvSpPr>
          <p:cNvPr id="4" name="Shape 2"/>
          <p:cNvSpPr/>
          <p:nvPr/>
        </p:nvSpPr>
        <p:spPr>
          <a:xfrm>
            <a:off x="457200" y="868680"/>
            <a:ext cx="8229600" cy="0"/>
          </a:xfrm>
          <a:prstGeom prst="line">
            <a:avLst/>
          </a:prstGeom>
          <a:noFill/>
          <a:ln w="9525">
            <a:solidFill>
              <a:srgbClr val="CBD5E1"/>
            </a:solidFill>
            <a:prstDash val="solid"/>
          </a:ln>
        </p:spPr>
        <p:txBody>
          <a:bodyPr/>
          <a:lstStyle/>
          <a:p>
            <a:endParaRPr lang="en-US"/>
          </a:p>
        </p:txBody>
      </p:sp>
      <p:sp>
        <p:nvSpPr>
          <p:cNvPr id="5" name="Shape 3"/>
          <p:cNvSpPr/>
          <p:nvPr/>
        </p:nvSpPr>
        <p:spPr>
          <a:xfrm>
            <a:off x="457200" y="1051560"/>
            <a:ext cx="3840480" cy="3383280"/>
          </a:xfrm>
          <a:prstGeom prst="rect">
            <a:avLst/>
          </a:prstGeom>
          <a:solidFill>
            <a:srgbClr val="065A82"/>
          </a:solidFill>
          <a:ln w="12700">
            <a:solidFill>
              <a:srgbClr val="065A82"/>
            </a:solidFill>
            <a:prstDash val="solid"/>
          </a:ln>
        </p:spPr>
        <p:txBody>
          <a:bodyPr/>
          <a:lstStyle/>
          <a:p>
            <a:endParaRPr lang="en-US"/>
          </a:p>
        </p:txBody>
      </p:sp>
      <p:sp>
        <p:nvSpPr>
          <p:cNvPr id="6" name="Text 4"/>
          <p:cNvSpPr/>
          <p:nvPr/>
        </p:nvSpPr>
        <p:spPr>
          <a:xfrm>
            <a:off x="640080" y="1188720"/>
            <a:ext cx="3474720" cy="1463040"/>
          </a:xfrm>
          <a:prstGeom prst="rect">
            <a:avLst/>
          </a:prstGeom>
          <a:noFill/>
          <a:ln/>
        </p:spPr>
        <p:txBody>
          <a:bodyPr wrap="square" lIns="0" tIns="0" rIns="0" bIns="0" rtlCol="0" anchor="ctr"/>
          <a:lstStyle/>
          <a:p>
            <a:pPr marL="0" indent="0" algn="l">
              <a:buNone/>
            </a:pPr>
            <a:r>
              <a:rPr lang="en-US" sz="11000" b="1" dirty="0">
                <a:solidFill>
                  <a:srgbClr val="FFFFFF"/>
                </a:solidFill>
                <a:latin typeface="Calibri" pitchFamily="34" charset="0"/>
                <a:ea typeface="Calibri" pitchFamily="34" charset="-122"/>
                <a:cs typeface="Calibri" pitchFamily="34" charset="-120"/>
              </a:rPr>
              <a:t>90%</a:t>
            </a:r>
            <a:endParaRPr lang="en-US" sz="11000" dirty="0"/>
          </a:p>
        </p:txBody>
      </p:sp>
      <p:sp>
        <p:nvSpPr>
          <p:cNvPr id="7" name="Text 5"/>
          <p:cNvSpPr/>
          <p:nvPr/>
        </p:nvSpPr>
        <p:spPr>
          <a:xfrm>
            <a:off x="640080" y="2743200"/>
            <a:ext cx="3474720" cy="822960"/>
          </a:xfrm>
          <a:prstGeom prst="rect">
            <a:avLst/>
          </a:prstGeom>
          <a:noFill/>
          <a:ln/>
        </p:spPr>
        <p:txBody>
          <a:bodyPr wrap="square" lIns="0" tIns="0" rIns="0" bIns="0" rtlCol="0" anchor="ctr"/>
          <a:lstStyle/>
          <a:p>
            <a:pPr marL="0" indent="0" algn="l">
              <a:buNone/>
            </a:pPr>
            <a:r>
              <a:rPr lang="en-US" sz="1600" dirty="0">
                <a:solidFill>
                  <a:srgbClr val="FFFFFF"/>
                </a:solidFill>
                <a:latin typeface="Calibri" pitchFamily="34" charset="0"/>
                <a:ea typeface="Calibri" pitchFamily="34" charset="-122"/>
                <a:cs typeface="Calibri" pitchFamily="34" charset="-120"/>
              </a:rPr>
              <a:t>of NRP users reach the platform through Jupyter notebooks.</a:t>
            </a:r>
            <a:endParaRPr lang="en-US" sz="1600" dirty="0"/>
          </a:p>
        </p:txBody>
      </p:sp>
      <p:sp>
        <p:nvSpPr>
          <p:cNvPr id="8" name="Text 6"/>
          <p:cNvSpPr/>
          <p:nvPr/>
        </p:nvSpPr>
        <p:spPr>
          <a:xfrm>
            <a:off x="640080" y="3840480"/>
            <a:ext cx="3474720" cy="365760"/>
          </a:xfrm>
          <a:prstGeom prst="rect">
            <a:avLst/>
          </a:prstGeom>
          <a:noFill/>
          <a:ln/>
        </p:spPr>
        <p:txBody>
          <a:bodyPr wrap="square" lIns="0" tIns="0" rIns="0" bIns="0" rtlCol="0" anchor="ctr"/>
          <a:lstStyle/>
          <a:p>
            <a:pPr marL="0" indent="0">
              <a:buNone/>
            </a:pPr>
            <a:r>
              <a:rPr lang="en-US" sz="1100" i="1" dirty="0">
                <a:solidFill>
                  <a:srgbClr val="C5D8E5"/>
                </a:solidFill>
                <a:latin typeface="Calibri" pitchFamily="34" charset="0"/>
                <a:ea typeface="Calibri" pitchFamily="34" charset="-122"/>
                <a:cs typeface="Calibri" pitchFamily="34" charset="-120"/>
              </a:rPr>
              <a:t>5,275 Jupyter users across 151 JupyterHubs.</a:t>
            </a:r>
            <a:endParaRPr lang="en-US" sz="1100" dirty="0"/>
          </a:p>
        </p:txBody>
      </p:sp>
      <p:sp>
        <p:nvSpPr>
          <p:cNvPr id="9" name="Text 7"/>
          <p:cNvSpPr/>
          <p:nvPr/>
        </p:nvSpPr>
        <p:spPr>
          <a:xfrm>
            <a:off x="4617720" y="1051560"/>
            <a:ext cx="4114800" cy="292608"/>
          </a:xfrm>
          <a:prstGeom prst="rect">
            <a:avLst/>
          </a:prstGeom>
          <a:noFill/>
          <a:ln/>
        </p:spPr>
        <p:txBody>
          <a:bodyPr wrap="square" lIns="0" tIns="0" rIns="0" bIns="0" rtlCol="0" anchor="ctr"/>
          <a:lstStyle/>
          <a:p>
            <a:pPr marL="0" indent="0">
              <a:buNone/>
            </a:pPr>
            <a:r>
              <a:rPr lang="en-US" sz="1400" b="1" dirty="0">
                <a:solidFill>
                  <a:srgbClr val="21295C"/>
                </a:solidFill>
                <a:latin typeface="Calibri" pitchFamily="34" charset="0"/>
                <a:ea typeface="Calibri" pitchFamily="34" charset="-122"/>
                <a:cs typeface="Calibri" pitchFamily="34" charset="-120"/>
              </a:rPr>
              <a:t>Zero local setup</a:t>
            </a:r>
            <a:endParaRPr lang="en-US" sz="1400" dirty="0"/>
          </a:p>
        </p:txBody>
      </p:sp>
      <p:sp>
        <p:nvSpPr>
          <p:cNvPr id="10" name="Text 8"/>
          <p:cNvSpPr/>
          <p:nvPr/>
        </p:nvSpPr>
        <p:spPr>
          <a:xfrm>
            <a:off x="4617720" y="1362456"/>
            <a:ext cx="4114800" cy="502920"/>
          </a:xfrm>
          <a:prstGeom prst="rect">
            <a:avLst/>
          </a:prstGeom>
          <a:noFill/>
          <a:ln/>
        </p:spPr>
        <p:txBody>
          <a:bodyPr wrap="square" lIns="0" tIns="0" rIns="0" bIns="0" rtlCol="0" anchor="ctr"/>
          <a:lstStyle/>
          <a:p>
            <a:pPr marL="0" indent="0">
              <a:buNone/>
            </a:pPr>
            <a:r>
              <a:rPr lang="en-US" sz="1200" dirty="0">
                <a:solidFill>
                  <a:srgbClr val="374151"/>
                </a:solidFill>
                <a:latin typeface="Calibri" pitchFamily="34" charset="0"/>
                <a:ea typeface="Calibri" pitchFamily="34" charset="-122"/>
                <a:cs typeface="Calibri" pitchFamily="34" charset="-120"/>
              </a:rPr>
              <a:t>Students click a link in Canvas; a containerized environment opens in their browser.</a:t>
            </a:r>
            <a:endParaRPr lang="en-US" sz="1200" dirty="0"/>
          </a:p>
        </p:txBody>
      </p:sp>
      <p:sp>
        <p:nvSpPr>
          <p:cNvPr id="11" name="Text 9"/>
          <p:cNvSpPr/>
          <p:nvPr/>
        </p:nvSpPr>
        <p:spPr>
          <a:xfrm>
            <a:off x="4617720" y="1911096"/>
            <a:ext cx="4114800" cy="292608"/>
          </a:xfrm>
          <a:prstGeom prst="rect">
            <a:avLst/>
          </a:prstGeom>
          <a:noFill/>
          <a:ln/>
        </p:spPr>
        <p:txBody>
          <a:bodyPr wrap="square" lIns="0" tIns="0" rIns="0" bIns="0" rtlCol="0" anchor="ctr"/>
          <a:lstStyle/>
          <a:p>
            <a:pPr marL="0" indent="0">
              <a:buNone/>
            </a:pPr>
            <a:r>
              <a:rPr lang="en-US" sz="1400" b="1" dirty="0">
                <a:solidFill>
                  <a:srgbClr val="21295C"/>
                </a:solidFill>
                <a:latin typeface="Calibri" pitchFamily="34" charset="0"/>
                <a:ea typeface="Calibri" pitchFamily="34" charset="-122"/>
                <a:cs typeface="Calibri" pitchFamily="34" charset="-120"/>
              </a:rPr>
              <a:t>Doing, not watching</a:t>
            </a:r>
            <a:endParaRPr lang="en-US" sz="1400" dirty="0"/>
          </a:p>
        </p:txBody>
      </p:sp>
      <p:sp>
        <p:nvSpPr>
          <p:cNvPr id="12" name="Text 10"/>
          <p:cNvSpPr/>
          <p:nvPr/>
        </p:nvSpPr>
        <p:spPr>
          <a:xfrm>
            <a:off x="4617720" y="2221992"/>
            <a:ext cx="4114800" cy="502920"/>
          </a:xfrm>
          <a:prstGeom prst="rect">
            <a:avLst/>
          </a:prstGeom>
          <a:noFill/>
          <a:ln/>
        </p:spPr>
        <p:txBody>
          <a:bodyPr wrap="square" lIns="0" tIns="0" rIns="0" bIns="0" rtlCol="0" anchor="ctr"/>
          <a:lstStyle/>
          <a:p>
            <a:pPr marL="0" indent="0">
              <a:buNone/>
            </a:pPr>
            <a:r>
              <a:rPr lang="en-US" sz="1200" dirty="0">
                <a:solidFill>
                  <a:srgbClr val="374151"/>
                </a:solidFill>
                <a:latin typeface="Calibri" pitchFamily="34" charset="0"/>
                <a:ea typeface="Calibri" pitchFamily="34" charset="-122"/>
                <a:cs typeface="Calibri" pitchFamily="34" charset="-120"/>
              </a:rPr>
              <a:t>Jupyter brings interactivity back to large lectures — students execute, not just observe.</a:t>
            </a:r>
            <a:endParaRPr lang="en-US" sz="1200" dirty="0"/>
          </a:p>
        </p:txBody>
      </p:sp>
      <p:sp>
        <p:nvSpPr>
          <p:cNvPr id="13" name="Text 11"/>
          <p:cNvSpPr/>
          <p:nvPr/>
        </p:nvSpPr>
        <p:spPr>
          <a:xfrm>
            <a:off x="4617720" y="2770632"/>
            <a:ext cx="4114800" cy="292608"/>
          </a:xfrm>
          <a:prstGeom prst="rect">
            <a:avLst/>
          </a:prstGeom>
          <a:noFill/>
          <a:ln/>
        </p:spPr>
        <p:txBody>
          <a:bodyPr wrap="square" lIns="0" tIns="0" rIns="0" bIns="0" rtlCol="0" anchor="ctr"/>
          <a:lstStyle/>
          <a:p>
            <a:pPr marL="0" indent="0">
              <a:buNone/>
            </a:pPr>
            <a:r>
              <a:rPr lang="en-US" sz="1400" b="1" dirty="0">
                <a:solidFill>
                  <a:srgbClr val="21295C"/>
                </a:solidFill>
                <a:latin typeface="Calibri" pitchFamily="34" charset="0"/>
                <a:ea typeface="Calibri" pitchFamily="34" charset="-122"/>
                <a:cs typeface="Calibri" pitchFamily="34" charset="-120"/>
              </a:rPr>
              <a:t>Scalability</a:t>
            </a:r>
            <a:endParaRPr lang="en-US" sz="1400" dirty="0"/>
          </a:p>
        </p:txBody>
      </p:sp>
      <p:sp>
        <p:nvSpPr>
          <p:cNvPr id="14" name="Text 12"/>
          <p:cNvSpPr/>
          <p:nvPr/>
        </p:nvSpPr>
        <p:spPr>
          <a:xfrm>
            <a:off x="4617720" y="3081528"/>
            <a:ext cx="4114800" cy="502920"/>
          </a:xfrm>
          <a:prstGeom prst="rect">
            <a:avLst/>
          </a:prstGeom>
          <a:noFill/>
          <a:ln/>
        </p:spPr>
        <p:txBody>
          <a:bodyPr wrap="square" lIns="0" tIns="0" rIns="0" bIns="0" rtlCol="0" anchor="ctr"/>
          <a:lstStyle/>
          <a:p>
            <a:pPr marL="0" indent="0">
              <a:buNone/>
            </a:pPr>
            <a:r>
              <a:rPr lang="en-US" sz="1200" dirty="0">
                <a:solidFill>
                  <a:srgbClr val="374151"/>
                </a:solidFill>
                <a:latin typeface="Calibri" pitchFamily="34" charset="0"/>
                <a:ea typeface="Calibri" pitchFamily="34" charset="-122"/>
                <a:cs typeface="Calibri" pitchFamily="34" charset="-120"/>
              </a:rPr>
              <a:t>Instructors share containers and notebooks; a new instructor can be up and running in as little as a one-hour session.</a:t>
            </a:r>
            <a:endParaRPr lang="en-US" sz="1200" dirty="0"/>
          </a:p>
        </p:txBody>
      </p:sp>
      <p:sp>
        <p:nvSpPr>
          <p:cNvPr id="15" name="Text 13"/>
          <p:cNvSpPr/>
          <p:nvPr/>
        </p:nvSpPr>
        <p:spPr>
          <a:xfrm>
            <a:off x="4617720" y="3630168"/>
            <a:ext cx="4114800" cy="292608"/>
          </a:xfrm>
          <a:prstGeom prst="rect">
            <a:avLst/>
          </a:prstGeom>
          <a:noFill/>
          <a:ln/>
        </p:spPr>
        <p:txBody>
          <a:bodyPr wrap="square" lIns="0" tIns="0" rIns="0" bIns="0" rtlCol="0" anchor="ctr"/>
          <a:lstStyle/>
          <a:p>
            <a:pPr marL="0" indent="0">
              <a:buNone/>
            </a:pPr>
            <a:r>
              <a:rPr lang="en-US" sz="1400" b="1" dirty="0">
                <a:solidFill>
                  <a:srgbClr val="21295C"/>
                </a:solidFill>
                <a:latin typeface="Calibri" pitchFamily="34" charset="0"/>
                <a:ea typeface="Calibri" pitchFamily="34" charset="-122"/>
                <a:cs typeface="Calibri" pitchFamily="34" charset="-120"/>
              </a:rPr>
              <a:t>On-ramp to research</a:t>
            </a:r>
            <a:endParaRPr lang="en-US" sz="1400" dirty="0"/>
          </a:p>
        </p:txBody>
      </p:sp>
      <p:sp>
        <p:nvSpPr>
          <p:cNvPr id="16" name="Text 14"/>
          <p:cNvSpPr/>
          <p:nvPr/>
        </p:nvSpPr>
        <p:spPr>
          <a:xfrm>
            <a:off x="4617720" y="3941064"/>
            <a:ext cx="4114800" cy="502920"/>
          </a:xfrm>
          <a:prstGeom prst="rect">
            <a:avLst/>
          </a:prstGeom>
          <a:noFill/>
          <a:ln/>
        </p:spPr>
        <p:txBody>
          <a:bodyPr wrap="square" lIns="0" tIns="0" rIns="0" bIns="0" rtlCol="0" anchor="ctr"/>
          <a:lstStyle/>
          <a:p>
            <a:pPr marL="0" indent="0">
              <a:buNone/>
            </a:pPr>
            <a:r>
              <a:rPr lang="en-US" sz="1200" dirty="0">
                <a:solidFill>
                  <a:srgbClr val="374151"/>
                </a:solidFill>
                <a:latin typeface="Calibri" pitchFamily="34" charset="0"/>
                <a:ea typeface="Calibri" pitchFamily="34" charset="-122"/>
                <a:cs typeface="Calibri" pitchFamily="34" charset="-120"/>
              </a:rPr>
              <a:t>Same environment scales from a classroom teaching hub to graduate and faculty research workspaces.</a:t>
            </a:r>
            <a:endParaRPr lang="en-US" sz="1200" dirty="0"/>
          </a:p>
        </p:txBody>
      </p:sp>
      <p:sp>
        <p:nvSpPr>
          <p:cNvPr id="17" name="Text 15"/>
          <p:cNvSpPr/>
          <p:nvPr/>
        </p:nvSpPr>
        <p:spPr>
          <a:xfrm>
            <a:off x="457200" y="4800600"/>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NRP @ 7NRP  ·  ITS AI Community of Practice  ·  May 2026</a:t>
            </a:r>
            <a:endParaRPr lang="en-US" sz="900" dirty="0"/>
          </a:p>
        </p:txBody>
      </p:sp>
      <p:sp>
        <p:nvSpPr>
          <p:cNvPr id="18" name="Text 16"/>
          <p:cNvSpPr/>
          <p:nvPr/>
        </p:nvSpPr>
        <p:spPr>
          <a:xfrm>
            <a:off x="8229600" y="4800600"/>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6 / 19</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lIns="0" tIns="0" rIns="0" bIns="0" rtlCol="0" anchor="ctr"/>
          <a:lstStyle/>
          <a:p>
            <a:pPr marL="0" indent="0" algn="l">
              <a:buNone/>
            </a:pPr>
            <a:r>
              <a:rPr lang="en-US" sz="1100" b="1" kern="0" spc="400" dirty="0">
                <a:solidFill>
                  <a:srgbClr val="1C7293"/>
                </a:solidFill>
                <a:latin typeface="Calibri" pitchFamily="34" charset="0"/>
                <a:ea typeface="Calibri" pitchFamily="34" charset="-122"/>
                <a:cs typeface="Calibri" pitchFamily="34" charset="-120"/>
              </a:rPr>
              <a:t>AI INFERENCE-AS-A-SERVICE</a:t>
            </a:r>
            <a:endParaRPr lang="en-US" sz="1100" dirty="0"/>
          </a:p>
        </p:txBody>
      </p:sp>
      <p:sp>
        <p:nvSpPr>
          <p:cNvPr id="3" name="Text 1"/>
          <p:cNvSpPr/>
          <p:nvPr/>
        </p:nvSpPr>
        <p:spPr>
          <a:xfrm>
            <a:off x="457200" y="292608"/>
            <a:ext cx="8229600" cy="548640"/>
          </a:xfrm>
          <a:prstGeom prst="rect">
            <a:avLst/>
          </a:prstGeom>
          <a:noFill/>
          <a:ln/>
        </p:spPr>
        <p:txBody>
          <a:bodyPr wrap="square" lIns="0" tIns="0" rIns="0" bIns="0" rtlCol="0" anchor="ctr"/>
          <a:lstStyle/>
          <a:p>
            <a:pPr marL="0" indent="0" algn="l">
              <a:buNone/>
            </a:pPr>
            <a:r>
              <a:rPr lang="en-US" sz="2800" b="1" dirty="0">
                <a:solidFill>
                  <a:srgbClr val="21295C"/>
                </a:solidFill>
                <a:latin typeface="Calibri" pitchFamily="34" charset="0"/>
                <a:ea typeface="Calibri" pitchFamily="34" charset="-122"/>
                <a:cs typeface="Calibri" pitchFamily="34" charset="-120"/>
              </a:rPr>
              <a:t>Free, federated access to open-weight LLMs</a:t>
            </a:r>
            <a:endParaRPr lang="en-US" sz="2800" dirty="0"/>
          </a:p>
        </p:txBody>
      </p:sp>
      <p:sp>
        <p:nvSpPr>
          <p:cNvPr id="4" name="Shape 2"/>
          <p:cNvSpPr/>
          <p:nvPr/>
        </p:nvSpPr>
        <p:spPr>
          <a:xfrm>
            <a:off x="457200" y="868680"/>
            <a:ext cx="8229600" cy="0"/>
          </a:xfrm>
          <a:prstGeom prst="line">
            <a:avLst/>
          </a:prstGeom>
          <a:noFill/>
          <a:ln w="9525">
            <a:solidFill>
              <a:srgbClr val="CBD5E1"/>
            </a:solidFill>
            <a:prstDash val="solid"/>
          </a:ln>
        </p:spPr>
        <p:txBody>
          <a:bodyPr/>
          <a:lstStyle/>
          <a:p>
            <a:endParaRPr lang="en-US"/>
          </a:p>
        </p:txBody>
      </p:sp>
      <p:sp>
        <p:nvSpPr>
          <p:cNvPr id="5" name="Text 3"/>
          <p:cNvSpPr/>
          <p:nvPr/>
        </p:nvSpPr>
        <p:spPr>
          <a:xfrm>
            <a:off x="457200" y="1051560"/>
            <a:ext cx="4114800" cy="274320"/>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How it works</a:t>
            </a:r>
            <a:endParaRPr lang="en-US" sz="1300" dirty="0"/>
          </a:p>
        </p:txBody>
      </p:sp>
      <p:sp>
        <p:nvSpPr>
          <p:cNvPr id="6" name="Shape 4"/>
          <p:cNvSpPr/>
          <p:nvPr/>
        </p:nvSpPr>
        <p:spPr>
          <a:xfrm>
            <a:off x="457200" y="1417320"/>
            <a:ext cx="365760" cy="365760"/>
          </a:xfrm>
          <a:prstGeom prst="ellipse">
            <a:avLst/>
          </a:prstGeom>
          <a:solidFill>
            <a:srgbClr val="065A82"/>
          </a:solidFill>
          <a:ln w="12700">
            <a:solidFill>
              <a:srgbClr val="065A82"/>
            </a:solidFill>
            <a:prstDash val="solid"/>
          </a:ln>
        </p:spPr>
        <p:txBody>
          <a:bodyPr/>
          <a:lstStyle/>
          <a:p>
            <a:endParaRPr lang="en-US"/>
          </a:p>
        </p:txBody>
      </p:sp>
      <p:sp>
        <p:nvSpPr>
          <p:cNvPr id="7" name="Text 5"/>
          <p:cNvSpPr/>
          <p:nvPr/>
        </p:nvSpPr>
        <p:spPr>
          <a:xfrm>
            <a:off x="457200" y="141732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960120" y="1371600"/>
            <a:ext cx="3383280" cy="292608"/>
          </a:xfrm>
          <a:prstGeom prst="rect">
            <a:avLst/>
          </a:prstGeom>
          <a:noFill/>
          <a:ln/>
        </p:spPr>
        <p:txBody>
          <a:bodyPr wrap="square" lIns="0" tIns="0" rIns="0" bIns="0"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nrp.ai</a:t>
            </a:r>
            <a:endParaRPr lang="en-US" sz="1300" dirty="0"/>
          </a:p>
        </p:txBody>
      </p:sp>
      <p:sp>
        <p:nvSpPr>
          <p:cNvPr id="9" name="Text 7"/>
          <p:cNvSpPr/>
          <p:nvPr/>
        </p:nvSpPr>
        <p:spPr>
          <a:xfrm>
            <a:off x="960120" y="1645920"/>
            <a:ext cx="3383280" cy="292608"/>
          </a:xfrm>
          <a:prstGeom prst="rect">
            <a:avLst/>
          </a:prstGeom>
          <a:noFill/>
          <a:ln/>
        </p:spPr>
        <p:txBody>
          <a:bodyPr wrap="square" lIns="0" tIns="0" rIns="0" bIns="0" rtlCol="0" anchor="ctr"/>
          <a:lstStyle/>
          <a:p>
            <a:pPr marL="0" indent="0">
              <a:buNone/>
            </a:pPr>
            <a:r>
              <a:rPr lang="en-US" sz="1100" dirty="0">
                <a:solidFill>
                  <a:srgbClr val="374151"/>
                </a:solidFill>
                <a:latin typeface="Calibri" pitchFamily="34" charset="0"/>
                <a:ea typeface="Calibri" pitchFamily="34" charset="-122"/>
                <a:cs typeface="Calibri" pitchFamily="34" charset="-120"/>
              </a:rPr>
              <a:t>Single sign-on via CILogon → your campus IdP</a:t>
            </a:r>
            <a:endParaRPr lang="en-US" sz="1100" dirty="0"/>
          </a:p>
        </p:txBody>
      </p:sp>
      <p:sp>
        <p:nvSpPr>
          <p:cNvPr id="10" name="Shape 8"/>
          <p:cNvSpPr/>
          <p:nvPr/>
        </p:nvSpPr>
        <p:spPr>
          <a:xfrm>
            <a:off x="457200" y="2057400"/>
            <a:ext cx="365760" cy="365760"/>
          </a:xfrm>
          <a:prstGeom prst="ellipse">
            <a:avLst/>
          </a:prstGeom>
          <a:solidFill>
            <a:srgbClr val="065A82"/>
          </a:solidFill>
          <a:ln w="12700">
            <a:solidFill>
              <a:srgbClr val="065A82"/>
            </a:solidFill>
            <a:prstDash val="solid"/>
          </a:ln>
        </p:spPr>
        <p:txBody>
          <a:bodyPr/>
          <a:lstStyle/>
          <a:p>
            <a:endParaRPr lang="en-US"/>
          </a:p>
        </p:txBody>
      </p:sp>
      <p:sp>
        <p:nvSpPr>
          <p:cNvPr id="11" name="Text 9"/>
          <p:cNvSpPr/>
          <p:nvPr/>
        </p:nvSpPr>
        <p:spPr>
          <a:xfrm>
            <a:off x="457200" y="205740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960120" y="2011680"/>
            <a:ext cx="3383280" cy="292608"/>
          </a:xfrm>
          <a:prstGeom prst="rect">
            <a:avLst/>
          </a:prstGeom>
          <a:noFill/>
          <a:ln/>
        </p:spPr>
        <p:txBody>
          <a:bodyPr wrap="square" lIns="0" tIns="0" rIns="0" bIns="0"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nrp.ai/llmtoken</a:t>
            </a:r>
            <a:endParaRPr lang="en-US" sz="1300" dirty="0"/>
          </a:p>
        </p:txBody>
      </p:sp>
      <p:sp>
        <p:nvSpPr>
          <p:cNvPr id="13" name="Text 11"/>
          <p:cNvSpPr/>
          <p:nvPr/>
        </p:nvSpPr>
        <p:spPr>
          <a:xfrm>
            <a:off x="960120" y="2286000"/>
            <a:ext cx="3383280" cy="292608"/>
          </a:xfrm>
          <a:prstGeom prst="rect">
            <a:avLst/>
          </a:prstGeom>
          <a:noFill/>
          <a:ln/>
        </p:spPr>
        <p:txBody>
          <a:bodyPr wrap="square" lIns="0" tIns="0" rIns="0" bIns="0" rtlCol="0" anchor="ctr"/>
          <a:lstStyle/>
          <a:p>
            <a:pPr marL="0" indent="0">
              <a:buNone/>
            </a:pPr>
            <a:r>
              <a:rPr lang="en-US" sz="1100" dirty="0">
                <a:solidFill>
                  <a:srgbClr val="374151"/>
                </a:solidFill>
                <a:latin typeface="Calibri" pitchFamily="34" charset="0"/>
                <a:ea typeface="Calibri" pitchFamily="34" charset="-122"/>
                <a:cs typeface="Calibri" pitchFamily="34" charset="-120"/>
              </a:rPr>
              <a:t>OpenAI-style API bearer token</a:t>
            </a:r>
            <a:endParaRPr lang="en-US" sz="1100" dirty="0"/>
          </a:p>
        </p:txBody>
      </p:sp>
      <p:sp>
        <p:nvSpPr>
          <p:cNvPr id="14" name="Shape 12"/>
          <p:cNvSpPr/>
          <p:nvPr/>
        </p:nvSpPr>
        <p:spPr>
          <a:xfrm>
            <a:off x="457200" y="2697480"/>
            <a:ext cx="365760" cy="365760"/>
          </a:xfrm>
          <a:prstGeom prst="ellipse">
            <a:avLst/>
          </a:prstGeom>
          <a:solidFill>
            <a:srgbClr val="065A82"/>
          </a:solidFill>
          <a:ln w="12700">
            <a:solidFill>
              <a:srgbClr val="065A82"/>
            </a:solidFill>
            <a:prstDash val="solid"/>
          </a:ln>
        </p:spPr>
        <p:txBody>
          <a:bodyPr/>
          <a:lstStyle/>
          <a:p>
            <a:endParaRPr lang="en-US"/>
          </a:p>
        </p:txBody>
      </p:sp>
      <p:sp>
        <p:nvSpPr>
          <p:cNvPr id="15" name="Text 13"/>
          <p:cNvSpPr/>
          <p:nvPr/>
        </p:nvSpPr>
        <p:spPr>
          <a:xfrm>
            <a:off x="457200" y="269748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960120" y="2651760"/>
            <a:ext cx="3383280" cy="292608"/>
          </a:xfrm>
          <a:prstGeom prst="rect">
            <a:avLst/>
          </a:prstGeom>
          <a:noFill/>
          <a:ln/>
        </p:spPr>
        <p:txBody>
          <a:bodyPr wrap="square" lIns="0" tIns="0" rIns="0" bIns="0"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API Gateway (envoyproxy.io)</a:t>
            </a:r>
            <a:endParaRPr lang="en-US" sz="1300" dirty="0"/>
          </a:p>
        </p:txBody>
      </p:sp>
      <p:sp>
        <p:nvSpPr>
          <p:cNvPr id="17" name="Text 15"/>
          <p:cNvSpPr/>
          <p:nvPr/>
        </p:nvSpPr>
        <p:spPr>
          <a:xfrm>
            <a:off x="960120" y="2926080"/>
            <a:ext cx="3383280" cy="292608"/>
          </a:xfrm>
          <a:prstGeom prst="rect">
            <a:avLst/>
          </a:prstGeom>
          <a:noFill/>
          <a:ln/>
        </p:spPr>
        <p:txBody>
          <a:bodyPr wrap="square" lIns="0" tIns="0" rIns="0" bIns="0" rtlCol="0" anchor="ctr"/>
          <a:lstStyle/>
          <a:p>
            <a:pPr marL="0" indent="0">
              <a:buNone/>
            </a:pPr>
            <a:r>
              <a:rPr lang="en-US" sz="1100" dirty="0">
                <a:solidFill>
                  <a:srgbClr val="374151"/>
                </a:solidFill>
                <a:latin typeface="Calibri" pitchFamily="34" charset="0"/>
                <a:ea typeface="Calibri" pitchFamily="34" charset="-122"/>
                <a:cs typeface="Calibri" pitchFamily="34" charset="-120"/>
              </a:rPr>
              <a:t>Token check, model routing, usage logging</a:t>
            </a:r>
            <a:endParaRPr lang="en-US" sz="1100" dirty="0"/>
          </a:p>
        </p:txBody>
      </p:sp>
      <p:sp>
        <p:nvSpPr>
          <p:cNvPr id="18" name="Shape 16"/>
          <p:cNvSpPr/>
          <p:nvPr/>
        </p:nvSpPr>
        <p:spPr>
          <a:xfrm>
            <a:off x="457200" y="3337560"/>
            <a:ext cx="365760" cy="365760"/>
          </a:xfrm>
          <a:prstGeom prst="ellipse">
            <a:avLst/>
          </a:prstGeom>
          <a:solidFill>
            <a:srgbClr val="065A82"/>
          </a:solidFill>
          <a:ln w="12700">
            <a:solidFill>
              <a:srgbClr val="065A82"/>
            </a:solidFill>
            <a:prstDash val="solid"/>
          </a:ln>
        </p:spPr>
        <p:txBody>
          <a:bodyPr/>
          <a:lstStyle/>
          <a:p>
            <a:endParaRPr lang="en-US"/>
          </a:p>
        </p:txBody>
      </p:sp>
      <p:sp>
        <p:nvSpPr>
          <p:cNvPr id="19" name="Text 17"/>
          <p:cNvSpPr/>
          <p:nvPr/>
        </p:nvSpPr>
        <p:spPr>
          <a:xfrm>
            <a:off x="457200" y="333756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p:nvPr/>
        </p:nvSpPr>
        <p:spPr>
          <a:xfrm>
            <a:off x="960120" y="3291840"/>
            <a:ext cx="3383280" cy="292608"/>
          </a:xfrm>
          <a:prstGeom prst="rect">
            <a:avLst/>
          </a:prstGeom>
          <a:noFill/>
          <a:ln/>
        </p:spPr>
        <p:txBody>
          <a:bodyPr wrap="square" lIns="0" tIns="0" rIns="0" bIns="0"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vLLM pods (GPU)</a:t>
            </a:r>
            <a:endParaRPr lang="en-US" sz="1300" dirty="0"/>
          </a:p>
        </p:txBody>
      </p:sp>
      <p:sp>
        <p:nvSpPr>
          <p:cNvPr id="21" name="Text 19"/>
          <p:cNvSpPr/>
          <p:nvPr/>
        </p:nvSpPr>
        <p:spPr>
          <a:xfrm>
            <a:off x="960120" y="3566160"/>
            <a:ext cx="3383280" cy="292608"/>
          </a:xfrm>
          <a:prstGeom prst="rect">
            <a:avLst/>
          </a:prstGeom>
          <a:noFill/>
          <a:ln/>
        </p:spPr>
        <p:txBody>
          <a:bodyPr wrap="square" lIns="0" tIns="0" rIns="0" bIns="0" rtlCol="0" anchor="ctr"/>
          <a:lstStyle/>
          <a:p>
            <a:pPr marL="0" indent="0">
              <a:buNone/>
            </a:pPr>
            <a:r>
              <a:rPr lang="en-US" sz="1100" dirty="0">
                <a:solidFill>
                  <a:srgbClr val="374151"/>
                </a:solidFill>
                <a:latin typeface="Calibri" pitchFamily="34" charset="0"/>
                <a:ea typeface="Calibri" pitchFamily="34" charset="-122"/>
                <a:cs typeface="Calibri" pitchFamily="34" charset="-120"/>
              </a:rPr>
              <a:t>10 frontier open-weight models on call</a:t>
            </a:r>
            <a:endParaRPr lang="en-US" sz="1100" dirty="0"/>
          </a:p>
        </p:txBody>
      </p:sp>
      <p:sp>
        <p:nvSpPr>
          <p:cNvPr id="22" name="Text 20"/>
          <p:cNvSpPr/>
          <p:nvPr/>
        </p:nvSpPr>
        <p:spPr>
          <a:xfrm>
            <a:off x="4937760" y="1051560"/>
            <a:ext cx="3749040" cy="274320"/>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Usage today</a:t>
            </a:r>
            <a:endParaRPr lang="en-US" sz="1300" dirty="0"/>
          </a:p>
        </p:txBody>
      </p:sp>
      <p:sp>
        <p:nvSpPr>
          <p:cNvPr id="23" name="Shape 21"/>
          <p:cNvSpPr/>
          <p:nvPr/>
        </p:nvSpPr>
        <p:spPr>
          <a:xfrm>
            <a:off x="4937760" y="1371600"/>
            <a:ext cx="3749040" cy="822960"/>
          </a:xfrm>
          <a:prstGeom prst="rect">
            <a:avLst/>
          </a:prstGeom>
          <a:solidFill>
            <a:srgbClr val="F4F6FA"/>
          </a:solidFill>
          <a:ln w="12700">
            <a:solidFill>
              <a:srgbClr val="F4F6FA"/>
            </a:solidFill>
            <a:prstDash val="solid"/>
          </a:ln>
        </p:spPr>
        <p:txBody>
          <a:bodyPr/>
          <a:lstStyle/>
          <a:p>
            <a:endParaRPr lang="en-US"/>
          </a:p>
        </p:txBody>
      </p:sp>
      <p:sp>
        <p:nvSpPr>
          <p:cNvPr id="24" name="Text 22"/>
          <p:cNvSpPr/>
          <p:nvPr/>
        </p:nvSpPr>
        <p:spPr>
          <a:xfrm>
            <a:off x="5074920" y="1444752"/>
            <a:ext cx="1280160" cy="502920"/>
          </a:xfrm>
          <a:prstGeom prst="rect">
            <a:avLst/>
          </a:prstGeom>
          <a:noFill/>
          <a:ln/>
        </p:spPr>
        <p:txBody>
          <a:bodyPr wrap="square" lIns="0" tIns="0" rIns="0" bIns="0" rtlCol="0" anchor="ctr"/>
          <a:lstStyle/>
          <a:p>
            <a:pPr marL="0" indent="0" algn="l">
              <a:buNone/>
            </a:pPr>
            <a:r>
              <a:rPr lang="en-US" sz="2200" b="1" dirty="0">
                <a:solidFill>
                  <a:srgbClr val="065A82"/>
                </a:solidFill>
                <a:latin typeface="Calibri" pitchFamily="34" charset="0"/>
                <a:ea typeface="Calibri" pitchFamily="34" charset="-122"/>
                <a:cs typeface="Calibri" pitchFamily="34" charset="-120"/>
              </a:rPr>
              <a:t>17 B</a:t>
            </a:r>
            <a:endParaRPr lang="en-US" sz="2200" dirty="0"/>
          </a:p>
        </p:txBody>
      </p:sp>
      <p:sp>
        <p:nvSpPr>
          <p:cNvPr id="25" name="Text 23"/>
          <p:cNvSpPr/>
          <p:nvPr/>
        </p:nvSpPr>
        <p:spPr>
          <a:xfrm>
            <a:off x="6355080" y="1444752"/>
            <a:ext cx="2286000" cy="292608"/>
          </a:xfrm>
          <a:prstGeom prst="rect">
            <a:avLst/>
          </a:prstGeom>
          <a:noFill/>
          <a:ln/>
        </p:spPr>
        <p:txBody>
          <a:bodyPr wrap="square" lIns="0" tIns="0" rIns="0" bIns="0" rtlCol="0" anchor="ctr"/>
          <a:lstStyle/>
          <a:p>
            <a:pPr marL="0" indent="0">
              <a:buNone/>
            </a:pPr>
            <a:r>
              <a:rPr lang="en-US" sz="1200" b="1" dirty="0">
                <a:solidFill>
                  <a:srgbClr val="21295C"/>
                </a:solidFill>
                <a:latin typeface="Calibri" pitchFamily="34" charset="0"/>
                <a:ea typeface="Calibri" pitchFamily="34" charset="-122"/>
                <a:cs typeface="Calibri" pitchFamily="34" charset="-120"/>
              </a:rPr>
              <a:t>tokens / week peak</a:t>
            </a:r>
            <a:endParaRPr lang="en-US" sz="1200" dirty="0"/>
          </a:p>
        </p:txBody>
      </p:sp>
      <p:sp>
        <p:nvSpPr>
          <p:cNvPr id="26" name="Text 24"/>
          <p:cNvSpPr/>
          <p:nvPr/>
        </p:nvSpPr>
        <p:spPr>
          <a:xfrm>
            <a:off x="6355080" y="1737360"/>
            <a:ext cx="2286000" cy="384048"/>
          </a:xfrm>
          <a:prstGeom prst="rect">
            <a:avLst/>
          </a:prstGeom>
          <a:noFill/>
          <a:ln/>
        </p:spPr>
        <p:txBody>
          <a:bodyPr wrap="square" lIns="0" tIns="0" rIns="0" bIns="0" rtlCol="0" anchor="ctr"/>
          <a:lstStyle/>
          <a:p>
            <a:pPr marL="0" indent="0">
              <a:buNone/>
            </a:pPr>
            <a:r>
              <a:rPr lang="en-US" sz="1000" dirty="0">
                <a:solidFill>
                  <a:srgbClr val="374151"/>
                </a:solidFill>
                <a:latin typeface="Calibri" pitchFamily="34" charset="0"/>
                <a:ea typeface="Calibri" pitchFamily="34" charset="-122"/>
                <a:cs typeface="Calibri" pitchFamily="34" charset="-120"/>
              </a:rPr>
              <a:t>$300K of inference in past 3 months</a:t>
            </a:r>
            <a:endParaRPr lang="en-US" sz="1000" dirty="0"/>
          </a:p>
        </p:txBody>
      </p:sp>
      <p:sp>
        <p:nvSpPr>
          <p:cNvPr id="27" name="Shape 25"/>
          <p:cNvSpPr/>
          <p:nvPr/>
        </p:nvSpPr>
        <p:spPr>
          <a:xfrm>
            <a:off x="4937760" y="2331720"/>
            <a:ext cx="3749040" cy="822960"/>
          </a:xfrm>
          <a:prstGeom prst="rect">
            <a:avLst/>
          </a:prstGeom>
          <a:solidFill>
            <a:srgbClr val="F4F6FA"/>
          </a:solidFill>
          <a:ln w="12700">
            <a:solidFill>
              <a:srgbClr val="F4F6FA"/>
            </a:solidFill>
            <a:prstDash val="solid"/>
          </a:ln>
        </p:spPr>
        <p:txBody>
          <a:bodyPr/>
          <a:lstStyle/>
          <a:p>
            <a:endParaRPr lang="en-US"/>
          </a:p>
        </p:txBody>
      </p:sp>
      <p:sp>
        <p:nvSpPr>
          <p:cNvPr id="28" name="Text 26"/>
          <p:cNvSpPr/>
          <p:nvPr/>
        </p:nvSpPr>
        <p:spPr>
          <a:xfrm>
            <a:off x="5074920" y="2404872"/>
            <a:ext cx="1280160" cy="502920"/>
          </a:xfrm>
          <a:prstGeom prst="rect">
            <a:avLst/>
          </a:prstGeom>
          <a:noFill/>
          <a:ln/>
        </p:spPr>
        <p:txBody>
          <a:bodyPr wrap="square" lIns="0" tIns="0" rIns="0" bIns="0" rtlCol="0" anchor="ctr"/>
          <a:lstStyle/>
          <a:p>
            <a:pPr marL="0" indent="0" algn="l">
              <a:buNone/>
            </a:pPr>
            <a:r>
              <a:rPr lang="en-US" sz="2200" b="1" dirty="0">
                <a:solidFill>
                  <a:srgbClr val="065A82"/>
                </a:solidFill>
                <a:latin typeface="Calibri" pitchFamily="34" charset="0"/>
                <a:ea typeface="Calibri" pitchFamily="34" charset="-122"/>
                <a:cs typeface="Calibri" pitchFamily="34" charset="-120"/>
              </a:rPr>
              <a:t>751</a:t>
            </a:r>
            <a:endParaRPr lang="en-US" sz="2200" dirty="0"/>
          </a:p>
        </p:txBody>
      </p:sp>
      <p:sp>
        <p:nvSpPr>
          <p:cNvPr id="29" name="Text 27"/>
          <p:cNvSpPr/>
          <p:nvPr/>
        </p:nvSpPr>
        <p:spPr>
          <a:xfrm>
            <a:off x="6355080" y="2404872"/>
            <a:ext cx="2286000" cy="292608"/>
          </a:xfrm>
          <a:prstGeom prst="rect">
            <a:avLst/>
          </a:prstGeom>
          <a:noFill/>
          <a:ln/>
        </p:spPr>
        <p:txBody>
          <a:bodyPr wrap="square" lIns="0" tIns="0" rIns="0" bIns="0" rtlCol="0" anchor="ctr"/>
          <a:lstStyle/>
          <a:p>
            <a:pPr marL="0" indent="0">
              <a:buNone/>
            </a:pPr>
            <a:r>
              <a:rPr lang="en-US" sz="1200" b="1" dirty="0">
                <a:solidFill>
                  <a:srgbClr val="21295C"/>
                </a:solidFill>
                <a:latin typeface="Calibri" pitchFamily="34" charset="0"/>
                <a:ea typeface="Calibri" pitchFamily="34" charset="-122"/>
                <a:cs typeface="Calibri" pitchFamily="34" charset="-120"/>
              </a:rPr>
              <a:t>users · 276 projects</a:t>
            </a:r>
            <a:endParaRPr lang="en-US" sz="1200" dirty="0"/>
          </a:p>
        </p:txBody>
      </p:sp>
      <p:sp>
        <p:nvSpPr>
          <p:cNvPr id="30" name="Text 28"/>
          <p:cNvSpPr/>
          <p:nvPr/>
        </p:nvSpPr>
        <p:spPr>
          <a:xfrm>
            <a:off x="6355080" y="2697480"/>
            <a:ext cx="2286000" cy="384048"/>
          </a:xfrm>
          <a:prstGeom prst="rect">
            <a:avLst/>
          </a:prstGeom>
          <a:noFill/>
          <a:ln/>
        </p:spPr>
        <p:txBody>
          <a:bodyPr wrap="square" lIns="0" tIns="0" rIns="0" bIns="0" rtlCol="0" anchor="ctr"/>
          <a:lstStyle/>
          <a:p>
            <a:pPr marL="0" indent="0">
              <a:buNone/>
            </a:pPr>
            <a:r>
              <a:rPr lang="en-US" sz="1000" dirty="0">
                <a:solidFill>
                  <a:srgbClr val="374151"/>
                </a:solidFill>
                <a:latin typeface="Calibri" pitchFamily="34" charset="0"/>
                <a:ea typeface="Calibri" pitchFamily="34" charset="-122"/>
                <a:cs typeface="Calibri" pitchFamily="34" charset="-120"/>
              </a:rPr>
              <a:t>across 35 institutions; growing ~0.5 B tokens/week</a:t>
            </a:r>
            <a:endParaRPr lang="en-US" sz="1000" dirty="0"/>
          </a:p>
        </p:txBody>
      </p:sp>
      <p:sp>
        <p:nvSpPr>
          <p:cNvPr id="31" name="Shape 29"/>
          <p:cNvSpPr/>
          <p:nvPr/>
        </p:nvSpPr>
        <p:spPr>
          <a:xfrm>
            <a:off x="4937760" y="3291840"/>
            <a:ext cx="3749040" cy="822960"/>
          </a:xfrm>
          <a:prstGeom prst="rect">
            <a:avLst/>
          </a:prstGeom>
          <a:solidFill>
            <a:srgbClr val="F4F6FA"/>
          </a:solidFill>
          <a:ln w="12700">
            <a:solidFill>
              <a:srgbClr val="F4F6FA"/>
            </a:solidFill>
            <a:prstDash val="solid"/>
          </a:ln>
        </p:spPr>
        <p:txBody>
          <a:bodyPr/>
          <a:lstStyle/>
          <a:p>
            <a:endParaRPr lang="en-US"/>
          </a:p>
        </p:txBody>
      </p:sp>
      <p:sp>
        <p:nvSpPr>
          <p:cNvPr id="32" name="Text 30"/>
          <p:cNvSpPr/>
          <p:nvPr/>
        </p:nvSpPr>
        <p:spPr>
          <a:xfrm>
            <a:off x="5074920" y="3364992"/>
            <a:ext cx="1280160" cy="502920"/>
          </a:xfrm>
          <a:prstGeom prst="rect">
            <a:avLst/>
          </a:prstGeom>
          <a:noFill/>
          <a:ln/>
        </p:spPr>
        <p:txBody>
          <a:bodyPr wrap="square" lIns="0" tIns="0" rIns="0" bIns="0" rtlCol="0" anchor="ctr"/>
          <a:lstStyle/>
          <a:p>
            <a:pPr marL="0" indent="0" algn="l">
              <a:buNone/>
            </a:pPr>
            <a:r>
              <a:rPr lang="en-US" sz="2200" b="1" dirty="0">
                <a:solidFill>
                  <a:srgbClr val="065A82"/>
                </a:solidFill>
                <a:latin typeface="Calibri" pitchFamily="34" charset="0"/>
                <a:ea typeface="Calibri" pitchFamily="34" charset="-122"/>
                <a:cs typeface="Calibri" pitchFamily="34" charset="-120"/>
              </a:rPr>
              <a:t>72%</a:t>
            </a:r>
            <a:endParaRPr lang="en-US" sz="2200" dirty="0"/>
          </a:p>
        </p:txBody>
      </p:sp>
      <p:sp>
        <p:nvSpPr>
          <p:cNvPr id="33" name="Text 31"/>
          <p:cNvSpPr/>
          <p:nvPr/>
        </p:nvSpPr>
        <p:spPr>
          <a:xfrm>
            <a:off x="6355080" y="3364992"/>
            <a:ext cx="2286000" cy="292608"/>
          </a:xfrm>
          <a:prstGeom prst="rect">
            <a:avLst/>
          </a:prstGeom>
          <a:noFill/>
          <a:ln/>
        </p:spPr>
        <p:txBody>
          <a:bodyPr wrap="square" lIns="0" tIns="0" rIns="0" bIns="0" rtlCol="0" anchor="ctr"/>
          <a:lstStyle/>
          <a:p>
            <a:pPr marL="0" indent="0">
              <a:buNone/>
            </a:pPr>
            <a:r>
              <a:rPr lang="en-US" sz="1200" b="1" dirty="0">
                <a:solidFill>
                  <a:srgbClr val="21295C"/>
                </a:solidFill>
                <a:latin typeface="Calibri" pitchFamily="34" charset="0"/>
                <a:ea typeface="Calibri" pitchFamily="34" charset="-122"/>
                <a:cs typeface="Calibri" pitchFamily="34" charset="-120"/>
              </a:rPr>
              <a:t>of token usage in CA</a:t>
            </a:r>
            <a:endParaRPr lang="en-US" sz="1200" dirty="0"/>
          </a:p>
        </p:txBody>
      </p:sp>
      <p:sp>
        <p:nvSpPr>
          <p:cNvPr id="34" name="Text 32"/>
          <p:cNvSpPr/>
          <p:nvPr/>
        </p:nvSpPr>
        <p:spPr>
          <a:xfrm>
            <a:off x="6355080" y="3657600"/>
            <a:ext cx="2286000" cy="384048"/>
          </a:xfrm>
          <a:prstGeom prst="rect">
            <a:avLst/>
          </a:prstGeom>
          <a:noFill/>
          <a:ln/>
        </p:spPr>
        <p:txBody>
          <a:bodyPr wrap="square" lIns="0" tIns="0" rIns="0" bIns="0" rtlCol="0" anchor="ctr"/>
          <a:lstStyle/>
          <a:p>
            <a:pPr marL="0" indent="0">
              <a:buNone/>
            </a:pPr>
            <a:r>
              <a:rPr lang="en-US" sz="1000" dirty="0">
                <a:solidFill>
                  <a:srgbClr val="374151"/>
                </a:solidFill>
                <a:latin typeface="Calibri" pitchFamily="34" charset="0"/>
                <a:ea typeface="Calibri" pitchFamily="34" charset="-122"/>
                <a:cs typeface="Calibri" pitchFamily="34" charset="-120"/>
              </a:rPr>
              <a:t>95% input-heavy → RAG, not chat</a:t>
            </a:r>
            <a:endParaRPr lang="en-US" sz="1000" dirty="0"/>
          </a:p>
        </p:txBody>
      </p:sp>
      <p:sp>
        <p:nvSpPr>
          <p:cNvPr id="35" name="Text 33"/>
          <p:cNvSpPr/>
          <p:nvPr/>
        </p:nvSpPr>
        <p:spPr>
          <a:xfrm>
            <a:off x="457200" y="4800600"/>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NRP @ 7NRP  ·  ITS AI Community of Practice  ·  May 2026</a:t>
            </a:r>
            <a:endParaRPr lang="en-US" sz="900" dirty="0"/>
          </a:p>
        </p:txBody>
      </p:sp>
      <p:sp>
        <p:nvSpPr>
          <p:cNvPr id="36" name="Text 34"/>
          <p:cNvSpPr/>
          <p:nvPr/>
        </p:nvSpPr>
        <p:spPr>
          <a:xfrm>
            <a:off x="8229600" y="4800600"/>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7 / 19</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lIns="0" tIns="0" rIns="0" bIns="0" rtlCol="0" anchor="ctr"/>
          <a:lstStyle/>
          <a:p>
            <a:pPr marL="0" indent="0" algn="l">
              <a:buNone/>
            </a:pPr>
            <a:r>
              <a:rPr lang="en-US" sz="1100" b="1" kern="0" spc="400" dirty="0">
                <a:solidFill>
                  <a:srgbClr val="1C7293"/>
                </a:solidFill>
                <a:latin typeface="Calibri" pitchFamily="34" charset="0"/>
                <a:ea typeface="Calibri" pitchFamily="34" charset="-122"/>
                <a:cs typeface="Calibri" pitchFamily="34" charset="-120"/>
              </a:rPr>
              <a:t>WHO USES NRP</a:t>
            </a:r>
            <a:endParaRPr lang="en-US" sz="1100" dirty="0"/>
          </a:p>
        </p:txBody>
      </p:sp>
      <p:sp>
        <p:nvSpPr>
          <p:cNvPr id="3" name="Text 1"/>
          <p:cNvSpPr/>
          <p:nvPr/>
        </p:nvSpPr>
        <p:spPr>
          <a:xfrm>
            <a:off x="457200" y="292608"/>
            <a:ext cx="8229600" cy="548640"/>
          </a:xfrm>
          <a:prstGeom prst="rect">
            <a:avLst/>
          </a:prstGeom>
          <a:noFill/>
          <a:ln/>
        </p:spPr>
        <p:txBody>
          <a:bodyPr wrap="square" lIns="0" tIns="0" rIns="0" bIns="0" rtlCol="0" anchor="ctr"/>
          <a:lstStyle/>
          <a:p>
            <a:pPr marL="0" indent="0" algn="l">
              <a:buNone/>
            </a:pPr>
            <a:r>
              <a:rPr lang="en-US" sz="2800" b="1" dirty="0">
                <a:solidFill>
                  <a:srgbClr val="21295C"/>
                </a:solidFill>
                <a:latin typeface="Calibri" pitchFamily="34" charset="0"/>
                <a:ea typeface="Calibri" pitchFamily="34" charset="-122"/>
                <a:cs typeface="Calibri" pitchFamily="34" charset="-120"/>
              </a:rPr>
              <a:t>Researchers, instructors, students</a:t>
            </a:r>
            <a:endParaRPr lang="en-US" sz="2800" dirty="0"/>
          </a:p>
        </p:txBody>
      </p:sp>
      <p:sp>
        <p:nvSpPr>
          <p:cNvPr id="4" name="Shape 2"/>
          <p:cNvSpPr/>
          <p:nvPr/>
        </p:nvSpPr>
        <p:spPr>
          <a:xfrm>
            <a:off x="457200" y="868680"/>
            <a:ext cx="8229600" cy="0"/>
          </a:xfrm>
          <a:prstGeom prst="line">
            <a:avLst/>
          </a:prstGeom>
          <a:noFill/>
          <a:ln w="9525">
            <a:solidFill>
              <a:srgbClr val="CBD5E1"/>
            </a:solidFill>
            <a:prstDash val="solid"/>
          </a:ln>
        </p:spPr>
        <p:txBody>
          <a:bodyPr/>
          <a:lstStyle/>
          <a:p>
            <a:endParaRPr lang="en-US"/>
          </a:p>
        </p:txBody>
      </p:sp>
      <p:graphicFrame>
        <p:nvGraphicFramePr>
          <p:cNvPr id="5" name="Chart 0"/>
          <p:cNvGraphicFramePr/>
          <p:nvPr/>
        </p:nvGraphicFramePr>
        <p:xfrm>
          <a:off x="365760" y="914400"/>
          <a:ext cx="384048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4572000" y="1051560"/>
            <a:ext cx="45720" cy="713232"/>
          </a:xfrm>
          <a:prstGeom prst="rect">
            <a:avLst/>
          </a:prstGeom>
          <a:solidFill>
            <a:srgbClr val="C99B2D"/>
          </a:solidFill>
          <a:ln w="12700">
            <a:solidFill>
              <a:srgbClr val="C99B2D"/>
            </a:solidFill>
            <a:prstDash val="solid"/>
          </a:ln>
        </p:spPr>
        <p:txBody>
          <a:bodyPr/>
          <a:lstStyle/>
          <a:p>
            <a:endParaRPr lang="en-US"/>
          </a:p>
        </p:txBody>
      </p:sp>
      <p:sp>
        <p:nvSpPr>
          <p:cNvPr id="7" name="Text 4"/>
          <p:cNvSpPr/>
          <p:nvPr/>
        </p:nvSpPr>
        <p:spPr>
          <a:xfrm>
            <a:off x="4754880" y="1051560"/>
            <a:ext cx="4023360" cy="292608"/>
          </a:xfrm>
          <a:prstGeom prst="rect">
            <a:avLst/>
          </a:prstGeom>
          <a:noFill/>
          <a:ln/>
        </p:spPr>
        <p:txBody>
          <a:bodyPr wrap="square" lIns="0" tIns="0" rIns="0" bIns="0"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More non-R1 than R1 institutions</a:t>
            </a:r>
            <a:endParaRPr lang="en-US" sz="1300" dirty="0"/>
          </a:p>
        </p:txBody>
      </p:sp>
      <p:sp>
        <p:nvSpPr>
          <p:cNvPr id="8" name="Text 5"/>
          <p:cNvSpPr/>
          <p:nvPr/>
        </p:nvSpPr>
        <p:spPr>
          <a:xfrm>
            <a:off x="4754880" y="1344168"/>
            <a:ext cx="4023360" cy="457200"/>
          </a:xfrm>
          <a:prstGeom prst="rect">
            <a:avLst/>
          </a:prstGeom>
          <a:noFill/>
          <a:ln/>
        </p:spPr>
        <p:txBody>
          <a:bodyPr wrap="square" lIns="0" tIns="0" rIns="0" bIns="0" rtlCol="0" anchor="ctr"/>
          <a:lstStyle/>
          <a:p>
            <a:pPr marL="0" indent="0">
              <a:buNone/>
            </a:pPr>
            <a:r>
              <a:rPr lang="en-US" sz="1100" dirty="0">
                <a:solidFill>
                  <a:srgbClr val="374151"/>
                </a:solidFill>
                <a:latin typeface="Calibri" pitchFamily="34" charset="0"/>
                <a:ea typeface="Calibri" pitchFamily="34" charset="-122"/>
                <a:cs typeface="Calibri" pitchFamily="34" charset="-120"/>
              </a:rPr>
              <a:t>97 non-research-intensive institutions vs. 54 R1s — flipping the usual cyberinfrastructure pattern.</a:t>
            </a:r>
            <a:endParaRPr lang="en-US" sz="1100" dirty="0"/>
          </a:p>
        </p:txBody>
      </p:sp>
      <p:sp>
        <p:nvSpPr>
          <p:cNvPr id="9" name="Shape 6"/>
          <p:cNvSpPr/>
          <p:nvPr/>
        </p:nvSpPr>
        <p:spPr>
          <a:xfrm>
            <a:off x="4572000" y="1901952"/>
            <a:ext cx="45720" cy="713232"/>
          </a:xfrm>
          <a:prstGeom prst="rect">
            <a:avLst/>
          </a:prstGeom>
          <a:solidFill>
            <a:srgbClr val="C99B2D"/>
          </a:solidFill>
          <a:ln w="12700">
            <a:solidFill>
              <a:srgbClr val="C99B2D"/>
            </a:solidFill>
            <a:prstDash val="solid"/>
          </a:ln>
        </p:spPr>
        <p:txBody>
          <a:bodyPr/>
          <a:lstStyle/>
          <a:p>
            <a:endParaRPr lang="en-US"/>
          </a:p>
        </p:txBody>
      </p:sp>
      <p:sp>
        <p:nvSpPr>
          <p:cNvPr id="10" name="Text 7"/>
          <p:cNvSpPr/>
          <p:nvPr/>
        </p:nvSpPr>
        <p:spPr>
          <a:xfrm>
            <a:off x="4754880" y="1901952"/>
            <a:ext cx="4023360" cy="292608"/>
          </a:xfrm>
          <a:prstGeom prst="rect">
            <a:avLst/>
          </a:prstGeom>
          <a:noFill/>
          <a:ln/>
        </p:spPr>
        <p:txBody>
          <a:bodyPr wrap="square" lIns="0" tIns="0" rIns="0" bIns="0"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Education is the dominant workload</a:t>
            </a:r>
            <a:endParaRPr lang="en-US" sz="1300" dirty="0"/>
          </a:p>
        </p:txBody>
      </p:sp>
      <p:sp>
        <p:nvSpPr>
          <p:cNvPr id="11" name="Text 8"/>
          <p:cNvSpPr/>
          <p:nvPr/>
        </p:nvSpPr>
        <p:spPr>
          <a:xfrm>
            <a:off x="4754880" y="2194560"/>
            <a:ext cx="4023360" cy="457200"/>
          </a:xfrm>
          <a:prstGeom prst="rect">
            <a:avLst/>
          </a:prstGeom>
          <a:noFill/>
          <a:ln/>
        </p:spPr>
        <p:txBody>
          <a:bodyPr wrap="square" lIns="0" tIns="0" rIns="0" bIns="0" rtlCol="0" anchor="ctr"/>
          <a:lstStyle/>
          <a:p>
            <a:pPr marL="0" indent="0">
              <a:buNone/>
            </a:pPr>
            <a:r>
              <a:rPr lang="en-US" sz="1100" dirty="0">
                <a:solidFill>
                  <a:srgbClr val="374151"/>
                </a:solidFill>
                <a:latin typeface="Calibri" pitchFamily="34" charset="0"/>
                <a:ea typeface="Calibri" pitchFamily="34" charset="-122"/>
                <a:cs typeface="Calibri" pitchFamily="34" charset="-120"/>
              </a:rPr>
              <a:t>Most usage is classroom Jupyter — undergraduates, often in their first programming class.</a:t>
            </a:r>
            <a:endParaRPr lang="en-US" sz="1100" dirty="0"/>
          </a:p>
        </p:txBody>
      </p:sp>
      <p:sp>
        <p:nvSpPr>
          <p:cNvPr id="12" name="Shape 9"/>
          <p:cNvSpPr/>
          <p:nvPr/>
        </p:nvSpPr>
        <p:spPr>
          <a:xfrm>
            <a:off x="4572000" y="2752344"/>
            <a:ext cx="45720" cy="713232"/>
          </a:xfrm>
          <a:prstGeom prst="rect">
            <a:avLst/>
          </a:prstGeom>
          <a:solidFill>
            <a:srgbClr val="C99B2D"/>
          </a:solidFill>
          <a:ln w="12700">
            <a:solidFill>
              <a:srgbClr val="C99B2D"/>
            </a:solidFill>
            <a:prstDash val="solid"/>
          </a:ln>
        </p:spPr>
        <p:txBody>
          <a:bodyPr/>
          <a:lstStyle/>
          <a:p>
            <a:endParaRPr lang="en-US"/>
          </a:p>
        </p:txBody>
      </p:sp>
      <p:sp>
        <p:nvSpPr>
          <p:cNvPr id="13" name="Text 10"/>
          <p:cNvSpPr/>
          <p:nvPr/>
        </p:nvSpPr>
        <p:spPr>
          <a:xfrm>
            <a:off x="4754880" y="2752344"/>
            <a:ext cx="4023360" cy="292608"/>
          </a:xfrm>
          <a:prstGeom prst="rect">
            <a:avLst/>
          </a:prstGeom>
          <a:noFill/>
          <a:ln/>
        </p:spPr>
        <p:txBody>
          <a:bodyPr wrap="square" lIns="0" tIns="0" rIns="0" bIns="0"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Geographic reach is broad</a:t>
            </a:r>
            <a:endParaRPr lang="en-US" sz="1300" dirty="0"/>
          </a:p>
        </p:txBody>
      </p:sp>
      <p:sp>
        <p:nvSpPr>
          <p:cNvPr id="14" name="Text 11"/>
          <p:cNvSpPr/>
          <p:nvPr/>
        </p:nvSpPr>
        <p:spPr>
          <a:xfrm>
            <a:off x="4754880" y="3044952"/>
            <a:ext cx="4023360" cy="457200"/>
          </a:xfrm>
          <a:prstGeom prst="rect">
            <a:avLst/>
          </a:prstGeom>
          <a:noFill/>
          <a:ln/>
        </p:spPr>
        <p:txBody>
          <a:bodyPr wrap="square" lIns="0" tIns="0" rIns="0" bIns="0" rtlCol="0" anchor="ctr"/>
          <a:lstStyle/>
          <a:p>
            <a:pPr marL="0" indent="0">
              <a:buNone/>
            </a:pPr>
            <a:r>
              <a:rPr lang="en-US" sz="1100" dirty="0">
                <a:solidFill>
                  <a:srgbClr val="374151"/>
                </a:solidFill>
                <a:latin typeface="Calibri" pitchFamily="34" charset="0"/>
                <a:ea typeface="Calibri" pitchFamily="34" charset="-122"/>
                <a:cs typeface="Calibri" pitchFamily="34" charset="-120"/>
              </a:rPr>
              <a:t>Users from 45 states. NAIRR data shows similar reach — 6,000+ students across all 50.</a:t>
            </a:r>
            <a:endParaRPr lang="en-US" sz="1100" dirty="0"/>
          </a:p>
        </p:txBody>
      </p:sp>
      <p:sp>
        <p:nvSpPr>
          <p:cNvPr id="15" name="Shape 12"/>
          <p:cNvSpPr/>
          <p:nvPr/>
        </p:nvSpPr>
        <p:spPr>
          <a:xfrm>
            <a:off x="4572000" y="3602736"/>
            <a:ext cx="45720" cy="713232"/>
          </a:xfrm>
          <a:prstGeom prst="rect">
            <a:avLst/>
          </a:prstGeom>
          <a:solidFill>
            <a:srgbClr val="C99B2D"/>
          </a:solidFill>
          <a:ln w="12700">
            <a:solidFill>
              <a:srgbClr val="C99B2D"/>
            </a:solidFill>
            <a:prstDash val="solid"/>
          </a:ln>
        </p:spPr>
        <p:txBody>
          <a:bodyPr/>
          <a:lstStyle/>
          <a:p>
            <a:endParaRPr lang="en-US"/>
          </a:p>
        </p:txBody>
      </p:sp>
      <p:sp>
        <p:nvSpPr>
          <p:cNvPr id="16" name="Text 13"/>
          <p:cNvSpPr/>
          <p:nvPr/>
        </p:nvSpPr>
        <p:spPr>
          <a:xfrm>
            <a:off x="4754880" y="3602736"/>
            <a:ext cx="4023360" cy="292608"/>
          </a:xfrm>
          <a:prstGeom prst="rect">
            <a:avLst/>
          </a:prstGeom>
          <a:noFill/>
          <a:ln/>
        </p:spPr>
        <p:txBody>
          <a:bodyPr wrap="square" lIns="0" tIns="0" rIns="0" bIns="0"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Free at point of use</a:t>
            </a:r>
            <a:endParaRPr lang="en-US" sz="1300" dirty="0"/>
          </a:p>
        </p:txBody>
      </p:sp>
      <p:sp>
        <p:nvSpPr>
          <p:cNvPr id="17" name="Text 14"/>
          <p:cNvSpPr/>
          <p:nvPr/>
        </p:nvSpPr>
        <p:spPr>
          <a:xfrm>
            <a:off x="4754880" y="3895344"/>
            <a:ext cx="4023360" cy="457200"/>
          </a:xfrm>
          <a:prstGeom prst="rect">
            <a:avLst/>
          </a:prstGeom>
          <a:noFill/>
          <a:ln/>
        </p:spPr>
        <p:txBody>
          <a:bodyPr wrap="square" lIns="0" tIns="0" rIns="0" bIns="0" rtlCol="0" anchor="ctr"/>
          <a:lstStyle/>
          <a:p>
            <a:pPr marL="0" indent="0">
              <a:buNone/>
            </a:pPr>
            <a:r>
              <a:rPr lang="en-US" sz="1100" dirty="0">
                <a:solidFill>
                  <a:srgbClr val="374151"/>
                </a:solidFill>
                <a:latin typeface="Calibri" pitchFamily="34" charset="0"/>
                <a:ea typeface="Calibri" pitchFamily="34" charset="-122"/>
                <a:cs typeface="Calibri" pitchFamily="34" charset="-120"/>
              </a:rPr>
              <a:t>Anyone with a U.S. institutional identity can request access; students need PI approval.</a:t>
            </a:r>
            <a:endParaRPr lang="en-US" sz="1100" dirty="0"/>
          </a:p>
        </p:txBody>
      </p:sp>
      <p:sp>
        <p:nvSpPr>
          <p:cNvPr id="18" name="Text 15"/>
          <p:cNvSpPr/>
          <p:nvPr/>
        </p:nvSpPr>
        <p:spPr>
          <a:xfrm>
            <a:off x="457200" y="4800600"/>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NRP @ 7NRP  ·  ITS AI Community of Practice  ·  May 2026</a:t>
            </a:r>
            <a:endParaRPr lang="en-US" sz="900" dirty="0"/>
          </a:p>
        </p:txBody>
      </p:sp>
      <p:sp>
        <p:nvSpPr>
          <p:cNvPr id="19" name="Text 16"/>
          <p:cNvSpPr/>
          <p:nvPr/>
        </p:nvSpPr>
        <p:spPr>
          <a:xfrm>
            <a:off x="8229600" y="4800600"/>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8 / 19</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lIns="0" tIns="0" rIns="0" bIns="0" rtlCol="0" anchor="ctr"/>
          <a:lstStyle/>
          <a:p>
            <a:pPr marL="0" indent="0" algn="l">
              <a:buNone/>
            </a:pPr>
            <a:r>
              <a:rPr lang="en-US" sz="1100" b="1" kern="0" spc="400" dirty="0">
                <a:solidFill>
                  <a:srgbClr val="1C7293"/>
                </a:solidFill>
                <a:latin typeface="Calibri" pitchFamily="34" charset="0"/>
                <a:ea typeface="Calibri" pitchFamily="34" charset="-122"/>
                <a:cs typeface="Calibri" pitchFamily="34" charset="-120"/>
              </a:rPr>
              <a:t>JOINING NRP</a:t>
            </a:r>
            <a:endParaRPr lang="en-US" sz="1100" dirty="0"/>
          </a:p>
        </p:txBody>
      </p:sp>
      <p:sp>
        <p:nvSpPr>
          <p:cNvPr id="3" name="Text 1"/>
          <p:cNvSpPr/>
          <p:nvPr/>
        </p:nvSpPr>
        <p:spPr>
          <a:xfrm>
            <a:off x="457200" y="292608"/>
            <a:ext cx="8229600" cy="548640"/>
          </a:xfrm>
          <a:prstGeom prst="rect">
            <a:avLst/>
          </a:prstGeom>
          <a:noFill/>
          <a:ln/>
        </p:spPr>
        <p:txBody>
          <a:bodyPr wrap="square" lIns="0" tIns="0" rIns="0" bIns="0" rtlCol="0" anchor="ctr"/>
          <a:lstStyle/>
          <a:p>
            <a:pPr marL="0" indent="0" algn="l">
              <a:buNone/>
            </a:pPr>
            <a:r>
              <a:rPr lang="en-US" sz="2800" b="1" dirty="0">
                <a:solidFill>
                  <a:srgbClr val="21295C"/>
                </a:solidFill>
                <a:latin typeface="Calibri" pitchFamily="34" charset="0"/>
                <a:ea typeface="Calibri" pitchFamily="34" charset="-122"/>
                <a:cs typeface="Calibri" pitchFamily="34" charset="-120"/>
              </a:rPr>
              <a:t>The on-ramp for a new campus</a:t>
            </a:r>
            <a:endParaRPr lang="en-US" sz="2800" dirty="0"/>
          </a:p>
        </p:txBody>
      </p:sp>
      <p:sp>
        <p:nvSpPr>
          <p:cNvPr id="4" name="Shape 2"/>
          <p:cNvSpPr/>
          <p:nvPr/>
        </p:nvSpPr>
        <p:spPr>
          <a:xfrm>
            <a:off x="457200" y="868680"/>
            <a:ext cx="8229600" cy="0"/>
          </a:xfrm>
          <a:prstGeom prst="line">
            <a:avLst/>
          </a:prstGeom>
          <a:noFill/>
          <a:ln w="9525">
            <a:solidFill>
              <a:srgbClr val="CBD5E1"/>
            </a:solidFill>
            <a:prstDash val="solid"/>
          </a:ln>
        </p:spPr>
        <p:txBody>
          <a:bodyPr/>
          <a:lstStyle/>
          <a:p>
            <a:endParaRPr lang="en-US"/>
          </a:p>
        </p:txBody>
      </p:sp>
      <p:sp>
        <p:nvSpPr>
          <p:cNvPr id="5" name="Shape 3"/>
          <p:cNvSpPr/>
          <p:nvPr/>
        </p:nvSpPr>
        <p:spPr>
          <a:xfrm>
            <a:off x="457200" y="1051560"/>
            <a:ext cx="2011680" cy="3017520"/>
          </a:xfrm>
          <a:prstGeom prst="rect">
            <a:avLst/>
          </a:prstGeom>
          <a:solidFill>
            <a:srgbClr val="F4F6FA"/>
          </a:solidFill>
          <a:ln w="12700">
            <a:solidFill>
              <a:srgbClr val="F4F6FA"/>
            </a:solidFill>
            <a:prstDash val="solid"/>
          </a:ln>
        </p:spPr>
        <p:txBody>
          <a:bodyPr/>
          <a:lstStyle/>
          <a:p>
            <a:endParaRPr lang="en-US"/>
          </a:p>
        </p:txBody>
      </p:sp>
      <p:sp>
        <p:nvSpPr>
          <p:cNvPr id="6" name="Shape 4"/>
          <p:cNvSpPr/>
          <p:nvPr/>
        </p:nvSpPr>
        <p:spPr>
          <a:xfrm>
            <a:off x="457200" y="1051560"/>
            <a:ext cx="2011680" cy="548640"/>
          </a:xfrm>
          <a:prstGeom prst="rect">
            <a:avLst/>
          </a:prstGeom>
          <a:solidFill>
            <a:srgbClr val="065A82"/>
          </a:solidFill>
          <a:ln w="12700">
            <a:solidFill>
              <a:srgbClr val="065A82"/>
            </a:solidFill>
            <a:prstDash val="solid"/>
          </a:ln>
        </p:spPr>
        <p:txBody>
          <a:bodyPr/>
          <a:lstStyle/>
          <a:p>
            <a:endParaRPr lang="en-US"/>
          </a:p>
        </p:txBody>
      </p:sp>
      <p:sp>
        <p:nvSpPr>
          <p:cNvPr id="7" name="Text 5"/>
          <p:cNvSpPr/>
          <p:nvPr/>
        </p:nvSpPr>
        <p:spPr>
          <a:xfrm>
            <a:off x="594360" y="1161288"/>
            <a:ext cx="457200" cy="3657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8" name="Text 6"/>
          <p:cNvSpPr/>
          <p:nvPr/>
        </p:nvSpPr>
        <p:spPr>
          <a:xfrm>
            <a:off x="1005840" y="1216152"/>
            <a:ext cx="1371600" cy="36576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Faculty explore</a:t>
            </a:r>
            <a:endParaRPr lang="en-US" sz="1300" dirty="0"/>
          </a:p>
        </p:txBody>
      </p:sp>
      <p:sp>
        <p:nvSpPr>
          <p:cNvPr id="9" name="Text 7"/>
          <p:cNvSpPr/>
          <p:nvPr/>
        </p:nvSpPr>
        <p:spPr>
          <a:xfrm>
            <a:off x="621792" y="1783080"/>
            <a:ext cx="1737360" cy="2103120"/>
          </a:xfrm>
          <a:prstGeom prst="rect">
            <a:avLst/>
          </a:prstGeom>
          <a:noFill/>
          <a:ln/>
        </p:spPr>
        <p:txBody>
          <a:bodyPr wrap="square" lIns="0" tIns="0" rIns="0" bIns="0" rtlCol="0" anchor="t"/>
          <a:lstStyle/>
          <a:p>
            <a:pPr marL="0" indent="0" algn="l">
              <a:buNone/>
            </a:pPr>
            <a:r>
              <a:rPr lang="en-US" sz="1100" dirty="0">
                <a:solidFill>
                  <a:srgbClr val="374151"/>
                </a:solidFill>
                <a:latin typeface="Calibri" pitchFamily="34" charset="0"/>
                <a:ea typeface="Calibri" pitchFamily="34" charset="-122"/>
                <a:cs typeface="Calibri" pitchFamily="34" charset="-120"/>
              </a:rPr>
              <a:t>A few faculty open accounts and start using shared NRP resources. No cost; free at point of use.</a:t>
            </a:r>
            <a:endParaRPr lang="en-US" sz="1100" dirty="0"/>
          </a:p>
        </p:txBody>
      </p:sp>
      <p:sp>
        <p:nvSpPr>
          <p:cNvPr id="10" name="Shape 8"/>
          <p:cNvSpPr/>
          <p:nvPr/>
        </p:nvSpPr>
        <p:spPr>
          <a:xfrm>
            <a:off x="2615184" y="1051560"/>
            <a:ext cx="2011680" cy="3017520"/>
          </a:xfrm>
          <a:prstGeom prst="rect">
            <a:avLst/>
          </a:prstGeom>
          <a:solidFill>
            <a:srgbClr val="F4F6FA"/>
          </a:solidFill>
          <a:ln w="12700">
            <a:solidFill>
              <a:srgbClr val="F4F6FA"/>
            </a:solidFill>
            <a:prstDash val="solid"/>
          </a:ln>
        </p:spPr>
        <p:txBody>
          <a:bodyPr/>
          <a:lstStyle/>
          <a:p>
            <a:endParaRPr lang="en-US"/>
          </a:p>
        </p:txBody>
      </p:sp>
      <p:sp>
        <p:nvSpPr>
          <p:cNvPr id="11" name="Shape 9"/>
          <p:cNvSpPr/>
          <p:nvPr/>
        </p:nvSpPr>
        <p:spPr>
          <a:xfrm>
            <a:off x="2615184" y="1051560"/>
            <a:ext cx="2011680" cy="548640"/>
          </a:xfrm>
          <a:prstGeom prst="rect">
            <a:avLst/>
          </a:prstGeom>
          <a:solidFill>
            <a:srgbClr val="065A82"/>
          </a:solidFill>
          <a:ln w="12700">
            <a:solidFill>
              <a:srgbClr val="065A82"/>
            </a:solidFill>
            <a:prstDash val="solid"/>
          </a:ln>
        </p:spPr>
        <p:txBody>
          <a:bodyPr/>
          <a:lstStyle/>
          <a:p>
            <a:endParaRPr lang="en-US"/>
          </a:p>
        </p:txBody>
      </p:sp>
      <p:sp>
        <p:nvSpPr>
          <p:cNvPr id="12" name="Text 10"/>
          <p:cNvSpPr/>
          <p:nvPr/>
        </p:nvSpPr>
        <p:spPr>
          <a:xfrm>
            <a:off x="2752344" y="1161288"/>
            <a:ext cx="457200" cy="3657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3" name="Text 11"/>
          <p:cNvSpPr/>
          <p:nvPr/>
        </p:nvSpPr>
        <p:spPr>
          <a:xfrm>
            <a:off x="3163824" y="1216152"/>
            <a:ext cx="1371600" cy="36576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Demand builds</a:t>
            </a:r>
            <a:endParaRPr lang="en-US" sz="1300" dirty="0"/>
          </a:p>
        </p:txBody>
      </p:sp>
      <p:sp>
        <p:nvSpPr>
          <p:cNvPr id="14" name="Text 12"/>
          <p:cNvSpPr/>
          <p:nvPr/>
        </p:nvSpPr>
        <p:spPr>
          <a:xfrm>
            <a:off x="2779776" y="1783080"/>
            <a:ext cx="1737360" cy="2103120"/>
          </a:xfrm>
          <a:prstGeom prst="rect">
            <a:avLst/>
          </a:prstGeom>
          <a:noFill/>
          <a:ln/>
        </p:spPr>
        <p:txBody>
          <a:bodyPr wrap="square" lIns="0" tIns="0" rIns="0" bIns="0" rtlCol="0" anchor="t"/>
          <a:lstStyle/>
          <a:p>
            <a:pPr marL="0" indent="0" algn="l">
              <a:buNone/>
            </a:pPr>
            <a:r>
              <a:rPr lang="en-US" sz="1100" dirty="0">
                <a:solidFill>
                  <a:srgbClr val="374151"/>
                </a:solidFill>
                <a:latin typeface="Calibri" pitchFamily="34" charset="0"/>
                <a:ea typeface="Calibri" pitchFamily="34" charset="-122"/>
                <a:cs typeface="Calibri" pitchFamily="34" charset="-120"/>
              </a:rPr>
              <a:t>When interest crosses a threshold, the campus considers contributing hardware to NRP.</a:t>
            </a:r>
            <a:endParaRPr lang="en-US" sz="1100" dirty="0"/>
          </a:p>
        </p:txBody>
      </p:sp>
      <p:sp>
        <p:nvSpPr>
          <p:cNvPr id="15" name="Shape 13"/>
          <p:cNvSpPr/>
          <p:nvPr/>
        </p:nvSpPr>
        <p:spPr>
          <a:xfrm>
            <a:off x="4773168" y="1051560"/>
            <a:ext cx="2011680" cy="3017520"/>
          </a:xfrm>
          <a:prstGeom prst="rect">
            <a:avLst/>
          </a:prstGeom>
          <a:solidFill>
            <a:srgbClr val="F4F6FA"/>
          </a:solidFill>
          <a:ln w="12700">
            <a:solidFill>
              <a:srgbClr val="F4F6FA"/>
            </a:solidFill>
            <a:prstDash val="solid"/>
          </a:ln>
        </p:spPr>
        <p:txBody>
          <a:bodyPr/>
          <a:lstStyle/>
          <a:p>
            <a:endParaRPr lang="en-US"/>
          </a:p>
        </p:txBody>
      </p:sp>
      <p:sp>
        <p:nvSpPr>
          <p:cNvPr id="16" name="Shape 14"/>
          <p:cNvSpPr/>
          <p:nvPr/>
        </p:nvSpPr>
        <p:spPr>
          <a:xfrm>
            <a:off x="4773168" y="1051560"/>
            <a:ext cx="2011680" cy="548640"/>
          </a:xfrm>
          <a:prstGeom prst="rect">
            <a:avLst/>
          </a:prstGeom>
          <a:solidFill>
            <a:srgbClr val="065A82"/>
          </a:solidFill>
          <a:ln w="12700">
            <a:solidFill>
              <a:srgbClr val="065A82"/>
            </a:solidFill>
            <a:prstDash val="solid"/>
          </a:ln>
        </p:spPr>
        <p:txBody>
          <a:bodyPr/>
          <a:lstStyle/>
          <a:p>
            <a:endParaRPr lang="en-US"/>
          </a:p>
        </p:txBody>
      </p:sp>
      <p:sp>
        <p:nvSpPr>
          <p:cNvPr id="17" name="Text 15"/>
          <p:cNvSpPr/>
          <p:nvPr/>
        </p:nvSpPr>
        <p:spPr>
          <a:xfrm>
            <a:off x="4910328" y="1161288"/>
            <a:ext cx="457200" cy="3657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8" name="Text 16"/>
          <p:cNvSpPr/>
          <p:nvPr/>
        </p:nvSpPr>
        <p:spPr>
          <a:xfrm>
            <a:off x="5321808" y="1216152"/>
            <a:ext cx="1371600" cy="36576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REN connects</a:t>
            </a:r>
            <a:endParaRPr lang="en-US" sz="1300" dirty="0"/>
          </a:p>
        </p:txBody>
      </p:sp>
      <p:sp>
        <p:nvSpPr>
          <p:cNvPr id="19" name="Text 17"/>
          <p:cNvSpPr/>
          <p:nvPr/>
        </p:nvSpPr>
        <p:spPr>
          <a:xfrm>
            <a:off x="4937760" y="1783080"/>
            <a:ext cx="1737360" cy="2103120"/>
          </a:xfrm>
          <a:prstGeom prst="rect">
            <a:avLst/>
          </a:prstGeom>
          <a:noFill/>
          <a:ln/>
        </p:spPr>
        <p:txBody>
          <a:bodyPr wrap="square" lIns="0" tIns="0" rIns="0" bIns="0" rtlCol="0" anchor="t"/>
          <a:lstStyle/>
          <a:p>
            <a:pPr marL="0" indent="0" algn="l">
              <a:buNone/>
            </a:pPr>
            <a:r>
              <a:rPr lang="en-US" sz="1100" dirty="0">
                <a:solidFill>
                  <a:srgbClr val="374151"/>
                </a:solidFill>
                <a:latin typeface="Calibri" pitchFamily="34" charset="0"/>
                <a:ea typeface="Calibri" pitchFamily="34" charset="-122"/>
                <a:cs typeface="Calibri" pitchFamily="34" charset="-120"/>
              </a:rPr>
              <a:t>The regional research network (CENIC for us) provisions a Science DMZ — typically 10G+.</a:t>
            </a:r>
            <a:endParaRPr lang="en-US" sz="1100" dirty="0"/>
          </a:p>
        </p:txBody>
      </p:sp>
      <p:sp>
        <p:nvSpPr>
          <p:cNvPr id="20" name="Shape 18"/>
          <p:cNvSpPr/>
          <p:nvPr/>
        </p:nvSpPr>
        <p:spPr>
          <a:xfrm>
            <a:off x="6931152" y="1051560"/>
            <a:ext cx="2011680" cy="3017520"/>
          </a:xfrm>
          <a:prstGeom prst="rect">
            <a:avLst/>
          </a:prstGeom>
          <a:solidFill>
            <a:srgbClr val="F4F6FA"/>
          </a:solidFill>
          <a:ln w="12700">
            <a:solidFill>
              <a:srgbClr val="F4F6FA"/>
            </a:solidFill>
            <a:prstDash val="solid"/>
          </a:ln>
        </p:spPr>
        <p:txBody>
          <a:bodyPr/>
          <a:lstStyle/>
          <a:p>
            <a:endParaRPr lang="en-US"/>
          </a:p>
        </p:txBody>
      </p:sp>
      <p:sp>
        <p:nvSpPr>
          <p:cNvPr id="21" name="Shape 19"/>
          <p:cNvSpPr/>
          <p:nvPr/>
        </p:nvSpPr>
        <p:spPr>
          <a:xfrm>
            <a:off x="6931152" y="1051560"/>
            <a:ext cx="2011680" cy="548640"/>
          </a:xfrm>
          <a:prstGeom prst="rect">
            <a:avLst/>
          </a:prstGeom>
          <a:solidFill>
            <a:srgbClr val="065A82"/>
          </a:solidFill>
          <a:ln w="12700">
            <a:solidFill>
              <a:srgbClr val="065A82"/>
            </a:solidFill>
            <a:prstDash val="solid"/>
          </a:ln>
        </p:spPr>
        <p:txBody>
          <a:bodyPr/>
          <a:lstStyle/>
          <a:p>
            <a:endParaRPr lang="en-US"/>
          </a:p>
        </p:txBody>
      </p:sp>
      <p:sp>
        <p:nvSpPr>
          <p:cNvPr id="22" name="Text 20"/>
          <p:cNvSpPr/>
          <p:nvPr/>
        </p:nvSpPr>
        <p:spPr>
          <a:xfrm>
            <a:off x="7068312" y="1161288"/>
            <a:ext cx="457200" cy="3657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3" name="Text 21"/>
          <p:cNvSpPr/>
          <p:nvPr/>
        </p:nvSpPr>
        <p:spPr>
          <a:xfrm>
            <a:off x="7479792" y="1216152"/>
            <a:ext cx="1371600" cy="36576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NRP operates</a:t>
            </a:r>
            <a:endParaRPr lang="en-US" sz="1300" dirty="0"/>
          </a:p>
        </p:txBody>
      </p:sp>
      <p:sp>
        <p:nvSpPr>
          <p:cNvPr id="24" name="Text 22"/>
          <p:cNvSpPr/>
          <p:nvPr/>
        </p:nvSpPr>
        <p:spPr>
          <a:xfrm>
            <a:off x="7095744" y="1783080"/>
            <a:ext cx="1737360" cy="2103120"/>
          </a:xfrm>
          <a:prstGeom prst="rect">
            <a:avLst/>
          </a:prstGeom>
          <a:noFill/>
          <a:ln/>
        </p:spPr>
        <p:txBody>
          <a:bodyPr wrap="square" lIns="0" tIns="0" rIns="0" bIns="0" rtlCol="0" anchor="t"/>
          <a:lstStyle/>
          <a:p>
            <a:pPr marL="0" indent="0" algn="l">
              <a:buNone/>
            </a:pPr>
            <a:r>
              <a:rPr lang="en-US" sz="1100" dirty="0">
                <a:solidFill>
                  <a:srgbClr val="374151"/>
                </a:solidFill>
                <a:latin typeface="Calibri" pitchFamily="34" charset="0"/>
                <a:ea typeface="Calibri" pitchFamily="34" charset="-122"/>
                <a:cs typeface="Calibri" pitchFamily="34" charset="-120"/>
              </a:rPr>
              <a:t>Campus racks hardware. NRP team runs it from IPMI up. Campus-owned Kubernetes namespace (and associated workload priority) and root.</a:t>
            </a:r>
            <a:endParaRPr lang="en-US" sz="1100" dirty="0"/>
          </a:p>
        </p:txBody>
      </p:sp>
      <p:sp>
        <p:nvSpPr>
          <p:cNvPr id="25" name="Text 23"/>
          <p:cNvSpPr/>
          <p:nvPr/>
        </p:nvSpPr>
        <p:spPr>
          <a:xfrm>
            <a:off x="4937760" y="3383280"/>
            <a:ext cx="1737360" cy="640080"/>
          </a:xfrm>
          <a:prstGeom prst="rect">
            <a:avLst/>
          </a:prstGeom>
          <a:noFill/>
          <a:ln/>
        </p:spPr>
        <p:txBody>
          <a:bodyPr wrap="square" lIns="0" tIns="0" rIns="0" bIns="0" rtlCol="0" anchor="t"/>
          <a:lstStyle/>
          <a:p>
            <a:pPr marL="0" indent="0" algn="l">
              <a:buNone/>
            </a:pPr>
            <a:r>
              <a:rPr lang="en-US" sz="1050" b="1" i="1" dirty="0">
                <a:solidFill>
                  <a:schemeClr val="accent6"/>
                </a:solidFill>
                <a:latin typeface="Calibri" pitchFamily="34" charset="0"/>
                <a:ea typeface="Calibri" pitchFamily="34" charset="-122"/>
                <a:cs typeface="Calibri" pitchFamily="34" charset="-120"/>
              </a:rPr>
              <a:t>✓ </a:t>
            </a:r>
            <a:r>
              <a:rPr lang="en-US" sz="1050" b="1" i="1" dirty="0">
                <a:solidFill>
                  <a:srgbClr val="065A82"/>
                </a:solidFill>
                <a:latin typeface="Calibri" pitchFamily="34" charset="0"/>
                <a:ea typeface="Calibri" pitchFamily="34" charset="-122"/>
                <a:cs typeface="Calibri" pitchFamily="34" charset="-120"/>
              </a:rPr>
              <a:t>Cal Poly already has a </a:t>
            </a:r>
          </a:p>
          <a:p>
            <a:pPr marL="0" indent="0" algn="l">
              <a:buNone/>
            </a:pPr>
            <a:r>
              <a:rPr lang="en-US" sz="1050" b="1" i="1" dirty="0">
                <a:solidFill>
                  <a:srgbClr val="065A82"/>
                </a:solidFill>
                <a:latin typeface="Calibri" pitchFamily="34" charset="0"/>
                <a:ea typeface="Calibri" pitchFamily="34" charset="-122"/>
                <a:cs typeface="Calibri" pitchFamily="34" charset="-120"/>
              </a:rPr>
              <a:t>    Science DMZ in place</a:t>
            </a:r>
            <a:endParaRPr lang="en-US" sz="1050" dirty="0"/>
          </a:p>
        </p:txBody>
      </p:sp>
      <p:sp>
        <p:nvSpPr>
          <p:cNvPr id="26" name="Text 24"/>
          <p:cNvSpPr/>
          <p:nvPr/>
        </p:nvSpPr>
        <p:spPr>
          <a:xfrm>
            <a:off x="457200" y="4224528"/>
            <a:ext cx="8229600" cy="457200"/>
          </a:xfrm>
          <a:prstGeom prst="rect">
            <a:avLst/>
          </a:prstGeom>
          <a:noFill/>
          <a:ln/>
        </p:spPr>
        <p:txBody>
          <a:bodyPr wrap="square" lIns="0" tIns="0" rIns="0" bIns="0" rtlCol="0" anchor="ctr"/>
          <a:lstStyle/>
          <a:p>
            <a:pPr marL="0" indent="0" algn="l">
              <a:buNone/>
            </a:pPr>
            <a:r>
              <a:rPr lang="en-US" sz="1200" i="1" dirty="0">
                <a:solidFill>
                  <a:srgbClr val="1C7293"/>
                </a:solidFill>
                <a:latin typeface="Calibri" pitchFamily="34" charset="0"/>
                <a:ea typeface="Calibri" pitchFamily="34" charset="-122"/>
                <a:cs typeface="Calibri" pitchFamily="34" charset="-120"/>
              </a:rPr>
              <a:t>Operating model: "Your REN provider (i.e. CENIC) owns the network. NRP runs the hardware. Your researchers, educators, and students see a global-scale Kubernetes cluster."</a:t>
            </a:r>
            <a:endParaRPr lang="en-US" sz="1200" dirty="0"/>
          </a:p>
        </p:txBody>
      </p:sp>
      <p:sp>
        <p:nvSpPr>
          <p:cNvPr id="27" name="Text 25"/>
          <p:cNvSpPr/>
          <p:nvPr/>
        </p:nvSpPr>
        <p:spPr>
          <a:xfrm>
            <a:off x="457200" y="4800600"/>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NRP @ 7NRP  ·  ITS AI Community of Practice  ·  May 2026</a:t>
            </a:r>
            <a:endParaRPr lang="en-US" sz="900" dirty="0"/>
          </a:p>
        </p:txBody>
      </p:sp>
      <p:sp>
        <p:nvSpPr>
          <p:cNvPr id="28" name="Text 26"/>
          <p:cNvSpPr/>
          <p:nvPr/>
        </p:nvSpPr>
        <p:spPr>
          <a:xfrm>
            <a:off x="8229600" y="4800600"/>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9 / 19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lIns="0" tIns="0" rIns="0" bIns="0" rtlCol="0" anchor="ctr"/>
          <a:lstStyle/>
          <a:p>
            <a:pPr marL="0" indent="0" algn="l">
              <a:buNone/>
            </a:pPr>
            <a:r>
              <a:rPr lang="en-US" sz="1100" b="1" kern="0" spc="400" dirty="0">
                <a:solidFill>
                  <a:srgbClr val="1C7293"/>
                </a:solidFill>
                <a:latin typeface="Calibri" pitchFamily="34" charset="0"/>
                <a:ea typeface="Calibri" pitchFamily="34" charset="-122"/>
                <a:cs typeface="Calibri" pitchFamily="34" charset="-120"/>
              </a:rPr>
              <a:t>CAL POLY TODAY</a:t>
            </a:r>
            <a:endParaRPr lang="en-US" sz="1100" dirty="0"/>
          </a:p>
        </p:txBody>
      </p:sp>
      <p:sp>
        <p:nvSpPr>
          <p:cNvPr id="3" name="Text 1"/>
          <p:cNvSpPr/>
          <p:nvPr/>
        </p:nvSpPr>
        <p:spPr>
          <a:xfrm>
            <a:off x="457200" y="292608"/>
            <a:ext cx="8229600" cy="548640"/>
          </a:xfrm>
          <a:prstGeom prst="rect">
            <a:avLst/>
          </a:prstGeom>
          <a:noFill/>
          <a:ln/>
        </p:spPr>
        <p:txBody>
          <a:bodyPr wrap="square" lIns="0" tIns="0" rIns="0" bIns="0" rtlCol="0" anchor="ctr"/>
          <a:lstStyle/>
          <a:p>
            <a:pPr marL="0" indent="0" algn="l">
              <a:buNone/>
            </a:pPr>
            <a:r>
              <a:rPr lang="en-US" sz="2800" b="1" dirty="0">
                <a:solidFill>
                  <a:srgbClr val="21295C"/>
                </a:solidFill>
                <a:latin typeface="Calibri" pitchFamily="34" charset="0"/>
                <a:ea typeface="Calibri" pitchFamily="34" charset="-122"/>
                <a:cs typeface="Calibri" pitchFamily="34" charset="-120"/>
              </a:rPr>
              <a:t>What's already happening at Cal Poly</a:t>
            </a:r>
            <a:endParaRPr lang="en-US" sz="2800" dirty="0"/>
          </a:p>
        </p:txBody>
      </p:sp>
      <p:sp>
        <p:nvSpPr>
          <p:cNvPr id="4" name="Shape 2"/>
          <p:cNvSpPr/>
          <p:nvPr/>
        </p:nvSpPr>
        <p:spPr>
          <a:xfrm>
            <a:off x="457200" y="868680"/>
            <a:ext cx="8229600" cy="0"/>
          </a:xfrm>
          <a:prstGeom prst="line">
            <a:avLst/>
          </a:prstGeom>
          <a:noFill/>
          <a:ln w="9525">
            <a:solidFill>
              <a:srgbClr val="CBD5E1"/>
            </a:solidFill>
            <a:prstDash val="solid"/>
          </a:ln>
        </p:spPr>
        <p:txBody>
          <a:bodyPr/>
          <a:lstStyle/>
          <a:p>
            <a:endParaRPr lang="en-US"/>
          </a:p>
        </p:txBody>
      </p:sp>
      <p:sp>
        <p:nvSpPr>
          <p:cNvPr id="5" name="Text 3"/>
          <p:cNvSpPr/>
          <p:nvPr/>
        </p:nvSpPr>
        <p:spPr>
          <a:xfrm>
            <a:off x="457200" y="1024128"/>
            <a:ext cx="4114800" cy="256032"/>
          </a:xfrm>
          <a:prstGeom prst="rect">
            <a:avLst/>
          </a:prstGeom>
          <a:noFill/>
          <a:ln/>
        </p:spPr>
        <p:txBody>
          <a:bodyPr wrap="square" lIns="0" tIns="0" rIns="0" bIns="0" rtlCol="0" anchor="ctr"/>
          <a:lstStyle/>
          <a:p>
            <a:pPr marL="0" indent="0">
              <a:buNone/>
            </a:pPr>
            <a:r>
              <a:rPr lang="en-US" sz="1100" b="1" kern="0" spc="400" dirty="0">
                <a:solidFill>
                  <a:srgbClr val="1C7293"/>
                </a:solidFill>
                <a:latin typeface="Calibri" pitchFamily="34" charset="0"/>
                <a:ea typeface="Calibri" pitchFamily="34" charset="-122"/>
                <a:cs typeface="Calibri" pitchFamily="34" charset="-120"/>
              </a:rPr>
              <a:t>USAGE SNAPSHOT</a:t>
            </a:r>
            <a:endParaRPr lang="en-US" sz="1100" dirty="0"/>
          </a:p>
        </p:txBody>
      </p:sp>
      <p:sp>
        <p:nvSpPr>
          <p:cNvPr id="6" name="Shape 4"/>
          <p:cNvSpPr/>
          <p:nvPr/>
        </p:nvSpPr>
        <p:spPr>
          <a:xfrm>
            <a:off x="457200" y="1353312"/>
            <a:ext cx="1965960" cy="713232"/>
          </a:xfrm>
          <a:prstGeom prst="rect">
            <a:avLst/>
          </a:prstGeom>
          <a:solidFill>
            <a:srgbClr val="F4F6FA"/>
          </a:solidFill>
          <a:ln w="12700">
            <a:solidFill>
              <a:srgbClr val="F4F6FA"/>
            </a:solidFill>
            <a:prstDash val="solid"/>
          </a:ln>
        </p:spPr>
        <p:txBody>
          <a:bodyPr/>
          <a:lstStyle/>
          <a:p>
            <a:endParaRPr lang="en-US"/>
          </a:p>
        </p:txBody>
      </p:sp>
      <p:sp>
        <p:nvSpPr>
          <p:cNvPr id="7" name="Shape 5"/>
          <p:cNvSpPr/>
          <p:nvPr/>
        </p:nvSpPr>
        <p:spPr>
          <a:xfrm>
            <a:off x="457200" y="1353312"/>
            <a:ext cx="54864" cy="713232"/>
          </a:xfrm>
          <a:prstGeom prst="rect">
            <a:avLst/>
          </a:prstGeom>
          <a:solidFill>
            <a:srgbClr val="065A82"/>
          </a:solidFill>
          <a:ln w="12700">
            <a:solidFill>
              <a:srgbClr val="065A82"/>
            </a:solidFill>
            <a:prstDash val="solid"/>
          </a:ln>
        </p:spPr>
        <p:txBody>
          <a:bodyPr/>
          <a:lstStyle/>
          <a:p>
            <a:endParaRPr lang="en-US"/>
          </a:p>
        </p:txBody>
      </p:sp>
      <p:sp>
        <p:nvSpPr>
          <p:cNvPr id="8" name="Text 6"/>
          <p:cNvSpPr/>
          <p:nvPr/>
        </p:nvSpPr>
        <p:spPr>
          <a:xfrm>
            <a:off x="621792" y="1408176"/>
            <a:ext cx="1691640" cy="384048"/>
          </a:xfrm>
          <a:prstGeom prst="rect">
            <a:avLst/>
          </a:prstGeom>
          <a:noFill/>
          <a:ln/>
        </p:spPr>
        <p:txBody>
          <a:bodyPr wrap="square" lIns="0" tIns="0" rIns="0" bIns="0" rtlCol="0" anchor="ctr"/>
          <a:lstStyle/>
          <a:p>
            <a:pPr marL="0" indent="0" algn="l">
              <a:buNone/>
            </a:pPr>
            <a:r>
              <a:rPr lang="en-US" sz="2400" b="1" dirty="0">
                <a:solidFill>
                  <a:srgbClr val="065A82"/>
                </a:solidFill>
                <a:latin typeface="Calibri" pitchFamily="34" charset="0"/>
                <a:ea typeface="Calibri" pitchFamily="34" charset="-122"/>
                <a:cs typeface="Calibri" pitchFamily="34" charset="-120"/>
              </a:rPr>
              <a:t>8</a:t>
            </a:r>
            <a:endParaRPr lang="en-US" sz="2400" dirty="0"/>
          </a:p>
        </p:txBody>
      </p:sp>
      <p:sp>
        <p:nvSpPr>
          <p:cNvPr id="9" name="Text 7"/>
          <p:cNvSpPr/>
          <p:nvPr/>
        </p:nvSpPr>
        <p:spPr>
          <a:xfrm>
            <a:off x="621792" y="1792224"/>
            <a:ext cx="1691640" cy="237744"/>
          </a:xfrm>
          <a:prstGeom prst="rect">
            <a:avLst/>
          </a:prstGeom>
          <a:noFill/>
          <a:ln/>
        </p:spPr>
        <p:txBody>
          <a:bodyPr wrap="square" lIns="0" tIns="0" rIns="0" bIns="0" rtlCol="0" anchor="ctr"/>
          <a:lstStyle/>
          <a:p>
            <a:pPr marL="0" indent="0" algn="l">
              <a:buNone/>
            </a:pPr>
            <a:r>
              <a:rPr lang="en-US" sz="1000" dirty="0">
                <a:solidFill>
                  <a:srgbClr val="374151"/>
                </a:solidFill>
                <a:latin typeface="Calibri" pitchFamily="34" charset="0"/>
                <a:ea typeface="Calibri" pitchFamily="34" charset="-122"/>
                <a:cs typeface="Calibri" pitchFamily="34" charset="-120"/>
              </a:rPr>
              <a:t>active namespaces</a:t>
            </a:r>
            <a:endParaRPr lang="en-US" sz="1000" dirty="0"/>
          </a:p>
        </p:txBody>
      </p:sp>
      <p:sp>
        <p:nvSpPr>
          <p:cNvPr id="10" name="Shape 8"/>
          <p:cNvSpPr/>
          <p:nvPr/>
        </p:nvSpPr>
        <p:spPr>
          <a:xfrm>
            <a:off x="2560320" y="1353312"/>
            <a:ext cx="1965960" cy="713232"/>
          </a:xfrm>
          <a:prstGeom prst="rect">
            <a:avLst/>
          </a:prstGeom>
          <a:solidFill>
            <a:srgbClr val="F4F6FA"/>
          </a:solidFill>
          <a:ln w="12700">
            <a:solidFill>
              <a:srgbClr val="F4F6FA"/>
            </a:solidFill>
            <a:prstDash val="solid"/>
          </a:ln>
        </p:spPr>
        <p:txBody>
          <a:bodyPr/>
          <a:lstStyle/>
          <a:p>
            <a:endParaRPr lang="en-US"/>
          </a:p>
        </p:txBody>
      </p:sp>
      <p:sp>
        <p:nvSpPr>
          <p:cNvPr id="11" name="Shape 9"/>
          <p:cNvSpPr/>
          <p:nvPr/>
        </p:nvSpPr>
        <p:spPr>
          <a:xfrm>
            <a:off x="2560320" y="1353312"/>
            <a:ext cx="54864" cy="713232"/>
          </a:xfrm>
          <a:prstGeom prst="rect">
            <a:avLst/>
          </a:prstGeom>
          <a:solidFill>
            <a:srgbClr val="065A82"/>
          </a:solidFill>
          <a:ln w="12700">
            <a:solidFill>
              <a:srgbClr val="065A82"/>
            </a:solidFill>
            <a:prstDash val="solid"/>
          </a:ln>
        </p:spPr>
        <p:txBody>
          <a:bodyPr/>
          <a:lstStyle/>
          <a:p>
            <a:endParaRPr lang="en-US"/>
          </a:p>
        </p:txBody>
      </p:sp>
      <p:sp>
        <p:nvSpPr>
          <p:cNvPr id="12" name="Text 10"/>
          <p:cNvSpPr/>
          <p:nvPr/>
        </p:nvSpPr>
        <p:spPr>
          <a:xfrm>
            <a:off x="2724912" y="1408176"/>
            <a:ext cx="1691640" cy="384048"/>
          </a:xfrm>
          <a:prstGeom prst="rect">
            <a:avLst/>
          </a:prstGeom>
          <a:noFill/>
          <a:ln/>
        </p:spPr>
        <p:txBody>
          <a:bodyPr wrap="square" lIns="0" tIns="0" rIns="0" bIns="0" rtlCol="0" anchor="ctr"/>
          <a:lstStyle/>
          <a:p>
            <a:pPr marL="0" indent="0" algn="l">
              <a:buNone/>
            </a:pPr>
            <a:r>
              <a:rPr lang="en-US" sz="2400" b="1" dirty="0">
                <a:solidFill>
                  <a:srgbClr val="065A82"/>
                </a:solidFill>
                <a:latin typeface="Calibri" pitchFamily="34" charset="0"/>
                <a:ea typeface="Calibri" pitchFamily="34" charset="-122"/>
                <a:cs typeface="Calibri" pitchFamily="34" charset="-120"/>
              </a:rPr>
              <a:t>8</a:t>
            </a:r>
            <a:endParaRPr lang="en-US" sz="2400" dirty="0"/>
          </a:p>
        </p:txBody>
      </p:sp>
      <p:sp>
        <p:nvSpPr>
          <p:cNvPr id="13" name="Text 11"/>
          <p:cNvSpPr/>
          <p:nvPr/>
        </p:nvSpPr>
        <p:spPr>
          <a:xfrm>
            <a:off x="2724912" y="1792224"/>
            <a:ext cx="1691640" cy="237744"/>
          </a:xfrm>
          <a:prstGeom prst="rect">
            <a:avLst/>
          </a:prstGeom>
          <a:noFill/>
          <a:ln/>
        </p:spPr>
        <p:txBody>
          <a:bodyPr wrap="square" lIns="0" tIns="0" rIns="0" bIns="0" rtlCol="0" anchor="ctr"/>
          <a:lstStyle/>
          <a:p>
            <a:pPr marL="0" indent="0" algn="l">
              <a:buNone/>
            </a:pPr>
            <a:r>
              <a:rPr lang="en-US" sz="1000" dirty="0">
                <a:solidFill>
                  <a:srgbClr val="374151"/>
                </a:solidFill>
                <a:latin typeface="Calibri" pitchFamily="34" charset="0"/>
                <a:ea typeface="Calibri" pitchFamily="34" charset="-122"/>
                <a:cs typeface="Calibri" pitchFamily="34" charset="-120"/>
              </a:rPr>
              <a:t>unique PIs</a:t>
            </a:r>
            <a:endParaRPr lang="en-US" sz="1000" dirty="0"/>
          </a:p>
        </p:txBody>
      </p:sp>
      <p:sp>
        <p:nvSpPr>
          <p:cNvPr id="14" name="Shape 12"/>
          <p:cNvSpPr/>
          <p:nvPr/>
        </p:nvSpPr>
        <p:spPr>
          <a:xfrm>
            <a:off x="457200" y="2157984"/>
            <a:ext cx="1965960" cy="713232"/>
          </a:xfrm>
          <a:prstGeom prst="rect">
            <a:avLst/>
          </a:prstGeom>
          <a:solidFill>
            <a:srgbClr val="F4F6FA"/>
          </a:solidFill>
          <a:ln w="12700">
            <a:solidFill>
              <a:srgbClr val="F4F6FA"/>
            </a:solidFill>
            <a:prstDash val="solid"/>
          </a:ln>
        </p:spPr>
        <p:txBody>
          <a:bodyPr/>
          <a:lstStyle/>
          <a:p>
            <a:endParaRPr lang="en-US"/>
          </a:p>
        </p:txBody>
      </p:sp>
      <p:sp>
        <p:nvSpPr>
          <p:cNvPr id="15" name="Shape 13"/>
          <p:cNvSpPr/>
          <p:nvPr/>
        </p:nvSpPr>
        <p:spPr>
          <a:xfrm>
            <a:off x="457200" y="2157984"/>
            <a:ext cx="54864" cy="713232"/>
          </a:xfrm>
          <a:prstGeom prst="rect">
            <a:avLst/>
          </a:prstGeom>
          <a:solidFill>
            <a:srgbClr val="065A82"/>
          </a:solidFill>
          <a:ln w="12700">
            <a:solidFill>
              <a:srgbClr val="065A82"/>
            </a:solidFill>
            <a:prstDash val="solid"/>
          </a:ln>
        </p:spPr>
        <p:txBody>
          <a:bodyPr/>
          <a:lstStyle/>
          <a:p>
            <a:endParaRPr lang="en-US"/>
          </a:p>
        </p:txBody>
      </p:sp>
      <p:sp>
        <p:nvSpPr>
          <p:cNvPr id="16" name="Text 14"/>
          <p:cNvSpPr/>
          <p:nvPr/>
        </p:nvSpPr>
        <p:spPr>
          <a:xfrm>
            <a:off x="621792" y="2212848"/>
            <a:ext cx="1691640" cy="384048"/>
          </a:xfrm>
          <a:prstGeom prst="rect">
            <a:avLst/>
          </a:prstGeom>
          <a:noFill/>
          <a:ln/>
        </p:spPr>
        <p:txBody>
          <a:bodyPr wrap="square" lIns="0" tIns="0" rIns="0" bIns="0" rtlCol="0" anchor="ctr"/>
          <a:lstStyle/>
          <a:p>
            <a:pPr marL="0" indent="0" algn="l">
              <a:buNone/>
            </a:pPr>
            <a:r>
              <a:rPr lang="en-US" sz="2400" b="1" dirty="0">
                <a:solidFill>
                  <a:srgbClr val="065A82"/>
                </a:solidFill>
                <a:latin typeface="Calibri" pitchFamily="34" charset="0"/>
                <a:ea typeface="Calibri" pitchFamily="34" charset="-122"/>
                <a:cs typeface="Calibri" pitchFamily="34" charset="-120"/>
              </a:rPr>
              <a:t>16K</a:t>
            </a:r>
            <a:endParaRPr lang="en-US" sz="2400" dirty="0"/>
          </a:p>
        </p:txBody>
      </p:sp>
      <p:sp>
        <p:nvSpPr>
          <p:cNvPr id="17" name="Text 15"/>
          <p:cNvSpPr/>
          <p:nvPr/>
        </p:nvSpPr>
        <p:spPr>
          <a:xfrm>
            <a:off x="621792" y="2596896"/>
            <a:ext cx="1691640" cy="237744"/>
          </a:xfrm>
          <a:prstGeom prst="rect">
            <a:avLst/>
          </a:prstGeom>
          <a:noFill/>
          <a:ln/>
        </p:spPr>
        <p:txBody>
          <a:bodyPr wrap="square" lIns="0" tIns="0" rIns="0" bIns="0" rtlCol="0" anchor="ctr"/>
          <a:lstStyle/>
          <a:p>
            <a:pPr marL="0" indent="0" algn="l">
              <a:buNone/>
            </a:pPr>
            <a:r>
              <a:rPr lang="en-US" sz="1000" dirty="0">
                <a:solidFill>
                  <a:srgbClr val="374151"/>
                </a:solidFill>
                <a:latin typeface="Calibri" pitchFamily="34" charset="0"/>
                <a:ea typeface="Calibri" pitchFamily="34" charset="-122"/>
                <a:cs typeface="Calibri" pitchFamily="34" charset="-120"/>
              </a:rPr>
              <a:t>GPU hours</a:t>
            </a:r>
            <a:endParaRPr lang="en-US" sz="1000" dirty="0"/>
          </a:p>
        </p:txBody>
      </p:sp>
      <p:sp>
        <p:nvSpPr>
          <p:cNvPr id="18" name="Shape 16"/>
          <p:cNvSpPr/>
          <p:nvPr/>
        </p:nvSpPr>
        <p:spPr>
          <a:xfrm>
            <a:off x="2560320" y="2157984"/>
            <a:ext cx="1965960" cy="713232"/>
          </a:xfrm>
          <a:prstGeom prst="rect">
            <a:avLst/>
          </a:prstGeom>
          <a:solidFill>
            <a:srgbClr val="F4F6FA"/>
          </a:solidFill>
          <a:ln w="12700">
            <a:solidFill>
              <a:srgbClr val="F4F6FA"/>
            </a:solidFill>
            <a:prstDash val="solid"/>
          </a:ln>
        </p:spPr>
        <p:txBody>
          <a:bodyPr/>
          <a:lstStyle/>
          <a:p>
            <a:endParaRPr lang="en-US"/>
          </a:p>
        </p:txBody>
      </p:sp>
      <p:sp>
        <p:nvSpPr>
          <p:cNvPr id="19" name="Shape 17"/>
          <p:cNvSpPr/>
          <p:nvPr/>
        </p:nvSpPr>
        <p:spPr>
          <a:xfrm>
            <a:off x="2560320" y="2157984"/>
            <a:ext cx="54864" cy="713232"/>
          </a:xfrm>
          <a:prstGeom prst="rect">
            <a:avLst/>
          </a:prstGeom>
          <a:solidFill>
            <a:srgbClr val="065A82"/>
          </a:solidFill>
          <a:ln w="12700">
            <a:solidFill>
              <a:srgbClr val="065A82"/>
            </a:solidFill>
            <a:prstDash val="solid"/>
          </a:ln>
        </p:spPr>
        <p:txBody>
          <a:bodyPr/>
          <a:lstStyle/>
          <a:p>
            <a:endParaRPr lang="en-US"/>
          </a:p>
        </p:txBody>
      </p:sp>
      <p:sp>
        <p:nvSpPr>
          <p:cNvPr id="20" name="Text 18"/>
          <p:cNvSpPr/>
          <p:nvPr/>
        </p:nvSpPr>
        <p:spPr>
          <a:xfrm>
            <a:off x="2724912" y="2212848"/>
            <a:ext cx="1691640" cy="384048"/>
          </a:xfrm>
          <a:prstGeom prst="rect">
            <a:avLst/>
          </a:prstGeom>
          <a:noFill/>
          <a:ln/>
        </p:spPr>
        <p:txBody>
          <a:bodyPr wrap="square" lIns="0" tIns="0" rIns="0" bIns="0" rtlCol="0" anchor="ctr"/>
          <a:lstStyle/>
          <a:p>
            <a:pPr marL="0" indent="0" algn="l">
              <a:buNone/>
            </a:pPr>
            <a:r>
              <a:rPr lang="en-US" sz="2400" b="1" dirty="0">
                <a:solidFill>
                  <a:srgbClr val="065A82"/>
                </a:solidFill>
                <a:latin typeface="Calibri" pitchFamily="34" charset="0"/>
                <a:ea typeface="Calibri" pitchFamily="34" charset="-122"/>
                <a:cs typeface="Calibri" pitchFamily="34" charset="-120"/>
              </a:rPr>
              <a:t>251K</a:t>
            </a:r>
            <a:endParaRPr lang="en-US" sz="2400" dirty="0"/>
          </a:p>
        </p:txBody>
      </p:sp>
      <p:sp>
        <p:nvSpPr>
          <p:cNvPr id="21" name="Text 19"/>
          <p:cNvSpPr/>
          <p:nvPr/>
        </p:nvSpPr>
        <p:spPr>
          <a:xfrm>
            <a:off x="2724912" y="2596896"/>
            <a:ext cx="1691640" cy="237744"/>
          </a:xfrm>
          <a:prstGeom prst="rect">
            <a:avLst/>
          </a:prstGeom>
          <a:noFill/>
          <a:ln/>
        </p:spPr>
        <p:txBody>
          <a:bodyPr wrap="square" lIns="0" tIns="0" rIns="0" bIns="0" rtlCol="0" anchor="ctr"/>
          <a:lstStyle/>
          <a:p>
            <a:pPr marL="0" indent="0" algn="l">
              <a:buNone/>
            </a:pPr>
            <a:r>
              <a:rPr lang="en-US" sz="1000" dirty="0">
                <a:solidFill>
                  <a:srgbClr val="374151"/>
                </a:solidFill>
                <a:latin typeface="Calibri" pitchFamily="34" charset="0"/>
                <a:ea typeface="Calibri" pitchFamily="34" charset="-122"/>
                <a:cs typeface="Calibri" pitchFamily="34" charset="-120"/>
              </a:rPr>
              <a:t>CPU hours</a:t>
            </a:r>
            <a:endParaRPr lang="en-US" sz="1000" dirty="0"/>
          </a:p>
        </p:txBody>
      </p:sp>
      <p:sp>
        <p:nvSpPr>
          <p:cNvPr id="22" name="Shape 20"/>
          <p:cNvSpPr/>
          <p:nvPr/>
        </p:nvSpPr>
        <p:spPr>
          <a:xfrm>
            <a:off x="457200" y="2962656"/>
            <a:ext cx="1965960" cy="713232"/>
          </a:xfrm>
          <a:prstGeom prst="rect">
            <a:avLst/>
          </a:prstGeom>
          <a:solidFill>
            <a:srgbClr val="F4F6FA"/>
          </a:solidFill>
          <a:ln w="12700">
            <a:solidFill>
              <a:srgbClr val="F4F6FA"/>
            </a:solidFill>
            <a:prstDash val="solid"/>
          </a:ln>
        </p:spPr>
        <p:txBody>
          <a:bodyPr/>
          <a:lstStyle/>
          <a:p>
            <a:endParaRPr lang="en-US"/>
          </a:p>
        </p:txBody>
      </p:sp>
      <p:sp>
        <p:nvSpPr>
          <p:cNvPr id="23" name="Shape 21"/>
          <p:cNvSpPr/>
          <p:nvPr/>
        </p:nvSpPr>
        <p:spPr>
          <a:xfrm>
            <a:off x="457200" y="2962656"/>
            <a:ext cx="54864" cy="713232"/>
          </a:xfrm>
          <a:prstGeom prst="rect">
            <a:avLst/>
          </a:prstGeom>
          <a:solidFill>
            <a:srgbClr val="065A82"/>
          </a:solidFill>
          <a:ln w="12700">
            <a:solidFill>
              <a:srgbClr val="065A82"/>
            </a:solidFill>
            <a:prstDash val="solid"/>
          </a:ln>
        </p:spPr>
        <p:txBody>
          <a:bodyPr/>
          <a:lstStyle/>
          <a:p>
            <a:endParaRPr lang="en-US"/>
          </a:p>
        </p:txBody>
      </p:sp>
      <p:sp>
        <p:nvSpPr>
          <p:cNvPr id="24" name="Text 22"/>
          <p:cNvSpPr/>
          <p:nvPr/>
        </p:nvSpPr>
        <p:spPr>
          <a:xfrm>
            <a:off x="621792" y="3017520"/>
            <a:ext cx="1691640" cy="384048"/>
          </a:xfrm>
          <a:prstGeom prst="rect">
            <a:avLst/>
          </a:prstGeom>
          <a:noFill/>
          <a:ln/>
        </p:spPr>
        <p:txBody>
          <a:bodyPr wrap="square" lIns="0" tIns="0" rIns="0" bIns="0" rtlCol="0" anchor="ctr"/>
          <a:lstStyle/>
          <a:p>
            <a:pPr marL="0" indent="0" algn="l">
              <a:buNone/>
            </a:pPr>
            <a:r>
              <a:rPr lang="en-US" sz="2400" b="1" dirty="0">
                <a:solidFill>
                  <a:srgbClr val="065A82"/>
                </a:solidFill>
                <a:latin typeface="Calibri" pitchFamily="34" charset="0"/>
                <a:ea typeface="Calibri" pitchFamily="34" charset="-122"/>
                <a:cs typeface="Calibri" pitchFamily="34" charset="-120"/>
              </a:rPr>
              <a:t>98</a:t>
            </a:r>
            <a:endParaRPr lang="en-US" sz="2400" dirty="0"/>
          </a:p>
        </p:txBody>
      </p:sp>
      <p:sp>
        <p:nvSpPr>
          <p:cNvPr id="25" name="Text 23"/>
          <p:cNvSpPr/>
          <p:nvPr/>
        </p:nvSpPr>
        <p:spPr>
          <a:xfrm>
            <a:off x="621792" y="3401568"/>
            <a:ext cx="1691640" cy="237744"/>
          </a:xfrm>
          <a:prstGeom prst="rect">
            <a:avLst/>
          </a:prstGeom>
          <a:noFill/>
          <a:ln/>
        </p:spPr>
        <p:txBody>
          <a:bodyPr wrap="square" lIns="0" tIns="0" rIns="0" bIns="0" rtlCol="0" anchor="ctr"/>
          <a:lstStyle/>
          <a:p>
            <a:pPr marL="0" indent="0" algn="l">
              <a:buNone/>
            </a:pPr>
            <a:r>
              <a:rPr lang="en-US" sz="1000" dirty="0">
                <a:solidFill>
                  <a:srgbClr val="374151"/>
                </a:solidFill>
                <a:latin typeface="Calibri" pitchFamily="34" charset="0"/>
                <a:ea typeface="Calibri" pitchFamily="34" charset="-122"/>
                <a:cs typeface="Calibri" pitchFamily="34" charset="-120"/>
              </a:rPr>
              <a:t>avg GPU hrs / day</a:t>
            </a:r>
            <a:endParaRPr lang="en-US" sz="1000" dirty="0"/>
          </a:p>
        </p:txBody>
      </p:sp>
      <p:sp>
        <p:nvSpPr>
          <p:cNvPr id="26" name="Shape 24"/>
          <p:cNvSpPr/>
          <p:nvPr/>
        </p:nvSpPr>
        <p:spPr>
          <a:xfrm>
            <a:off x="2560320" y="2962656"/>
            <a:ext cx="1965960" cy="713232"/>
          </a:xfrm>
          <a:prstGeom prst="rect">
            <a:avLst/>
          </a:prstGeom>
          <a:solidFill>
            <a:srgbClr val="F4F6FA"/>
          </a:solidFill>
          <a:ln w="12700">
            <a:solidFill>
              <a:srgbClr val="F4F6FA"/>
            </a:solidFill>
            <a:prstDash val="solid"/>
          </a:ln>
        </p:spPr>
        <p:txBody>
          <a:bodyPr/>
          <a:lstStyle/>
          <a:p>
            <a:endParaRPr lang="en-US"/>
          </a:p>
        </p:txBody>
      </p:sp>
      <p:sp>
        <p:nvSpPr>
          <p:cNvPr id="27" name="Shape 25"/>
          <p:cNvSpPr/>
          <p:nvPr/>
        </p:nvSpPr>
        <p:spPr>
          <a:xfrm>
            <a:off x="2560320" y="2962656"/>
            <a:ext cx="54864" cy="713232"/>
          </a:xfrm>
          <a:prstGeom prst="rect">
            <a:avLst/>
          </a:prstGeom>
          <a:solidFill>
            <a:srgbClr val="065A82"/>
          </a:solidFill>
          <a:ln w="12700">
            <a:solidFill>
              <a:srgbClr val="065A82"/>
            </a:solidFill>
            <a:prstDash val="solid"/>
          </a:ln>
        </p:spPr>
        <p:txBody>
          <a:bodyPr/>
          <a:lstStyle/>
          <a:p>
            <a:endParaRPr lang="en-US"/>
          </a:p>
        </p:txBody>
      </p:sp>
      <p:sp>
        <p:nvSpPr>
          <p:cNvPr id="28" name="Text 26"/>
          <p:cNvSpPr/>
          <p:nvPr/>
        </p:nvSpPr>
        <p:spPr>
          <a:xfrm>
            <a:off x="2724912" y="3017520"/>
            <a:ext cx="1691640" cy="384048"/>
          </a:xfrm>
          <a:prstGeom prst="rect">
            <a:avLst/>
          </a:prstGeom>
          <a:noFill/>
          <a:ln/>
        </p:spPr>
        <p:txBody>
          <a:bodyPr wrap="square" lIns="0" tIns="0" rIns="0" bIns="0" rtlCol="0" anchor="ctr"/>
          <a:lstStyle/>
          <a:p>
            <a:pPr marL="0" indent="0" algn="l">
              <a:buNone/>
            </a:pPr>
            <a:r>
              <a:rPr lang="en-US" sz="2400" b="1" dirty="0">
                <a:solidFill>
                  <a:srgbClr val="065A82"/>
                </a:solidFill>
                <a:latin typeface="Calibri" pitchFamily="34" charset="0"/>
                <a:ea typeface="Calibri" pitchFamily="34" charset="-122"/>
                <a:cs typeface="Calibri" pitchFamily="34" charset="-120"/>
              </a:rPr>
              <a:t>1K</a:t>
            </a:r>
            <a:endParaRPr lang="en-US" sz="2400" dirty="0"/>
          </a:p>
        </p:txBody>
      </p:sp>
      <p:sp>
        <p:nvSpPr>
          <p:cNvPr id="29" name="Text 27"/>
          <p:cNvSpPr/>
          <p:nvPr/>
        </p:nvSpPr>
        <p:spPr>
          <a:xfrm>
            <a:off x="2724912" y="3401568"/>
            <a:ext cx="1691640" cy="237744"/>
          </a:xfrm>
          <a:prstGeom prst="rect">
            <a:avLst/>
          </a:prstGeom>
          <a:noFill/>
          <a:ln/>
        </p:spPr>
        <p:txBody>
          <a:bodyPr wrap="square" lIns="0" tIns="0" rIns="0" bIns="0" rtlCol="0" anchor="ctr"/>
          <a:lstStyle/>
          <a:p>
            <a:pPr marL="0" indent="0" algn="l">
              <a:buNone/>
            </a:pPr>
            <a:r>
              <a:rPr lang="en-US" sz="1000" dirty="0">
                <a:solidFill>
                  <a:srgbClr val="374151"/>
                </a:solidFill>
                <a:latin typeface="Calibri" pitchFamily="34" charset="0"/>
                <a:ea typeface="Calibri" pitchFamily="34" charset="-122"/>
                <a:cs typeface="Calibri" pitchFamily="34" charset="-120"/>
              </a:rPr>
              <a:t>avg CPU hrs / day</a:t>
            </a:r>
            <a:endParaRPr lang="en-US" sz="1000" dirty="0"/>
          </a:p>
        </p:txBody>
      </p:sp>
      <p:sp>
        <p:nvSpPr>
          <p:cNvPr id="30" name="Text 28"/>
          <p:cNvSpPr/>
          <p:nvPr/>
        </p:nvSpPr>
        <p:spPr>
          <a:xfrm>
            <a:off x="457200" y="3803904"/>
            <a:ext cx="4114800" cy="548640"/>
          </a:xfrm>
          <a:prstGeom prst="rect">
            <a:avLst/>
          </a:prstGeom>
          <a:noFill/>
          <a:ln/>
        </p:spPr>
        <p:txBody>
          <a:bodyPr wrap="square" lIns="0" tIns="0" rIns="0" bIns="0" rtlCol="0" anchor="ctr"/>
          <a:lstStyle/>
          <a:p>
            <a:pPr marL="0" indent="0">
              <a:buNone/>
            </a:pPr>
            <a:r>
              <a:rPr lang="en-US" sz="1000" b="1" dirty="0">
                <a:solidFill>
                  <a:srgbClr val="21295C"/>
                </a:solidFill>
                <a:latin typeface="Calibri" pitchFamily="34" charset="0"/>
                <a:ea typeface="Calibri" pitchFamily="34" charset="-122"/>
                <a:cs typeface="Calibri" pitchFamily="34" charset="-120"/>
              </a:rPr>
              <a:t>Top GPU users: </a:t>
            </a:r>
            <a:r>
              <a:rPr lang="en-US" sz="1000" dirty="0">
                <a:solidFill>
                  <a:srgbClr val="374151"/>
                </a:solidFill>
                <a:latin typeface="Calibri" pitchFamily="34" charset="0"/>
                <a:ea typeface="Calibri" pitchFamily="34" charset="-122"/>
                <a:cs typeface="Calibri" pitchFamily="34" charset="-120"/>
              </a:rPr>
              <a:t>Anderson Lab (8.6K hrs) and Chan Lab (892 hrs). CPU usage is broad-based across all 8 PIs — led by Anderson (76K), Appleby (39K), and Chan (27K).</a:t>
            </a:r>
            <a:endParaRPr lang="en-US" sz="1000" dirty="0"/>
          </a:p>
        </p:txBody>
      </p:sp>
      <p:sp>
        <p:nvSpPr>
          <p:cNvPr id="31" name="Text 29"/>
          <p:cNvSpPr/>
          <p:nvPr/>
        </p:nvSpPr>
        <p:spPr>
          <a:xfrm>
            <a:off x="457200" y="4370832"/>
            <a:ext cx="4114800" cy="27432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Source: NRP Grafana usage dashboard, Cal Poly namespaces, May 2026.</a:t>
            </a:r>
            <a:endParaRPr lang="en-US" sz="900" dirty="0"/>
          </a:p>
        </p:txBody>
      </p:sp>
      <p:sp>
        <p:nvSpPr>
          <p:cNvPr id="32" name="Shape 30"/>
          <p:cNvSpPr/>
          <p:nvPr/>
        </p:nvSpPr>
        <p:spPr>
          <a:xfrm>
            <a:off x="4846320" y="1051560"/>
            <a:ext cx="3840480" cy="3383280"/>
          </a:xfrm>
          <a:prstGeom prst="rect">
            <a:avLst/>
          </a:prstGeom>
          <a:solidFill>
            <a:srgbClr val="F4F6FA"/>
          </a:solidFill>
          <a:ln w="12700">
            <a:solidFill>
              <a:srgbClr val="F4F6FA"/>
            </a:solidFill>
            <a:prstDash val="solid"/>
          </a:ln>
        </p:spPr>
        <p:txBody>
          <a:bodyPr/>
          <a:lstStyle/>
          <a:p>
            <a:endParaRPr lang="en-US"/>
          </a:p>
        </p:txBody>
      </p:sp>
      <p:sp>
        <p:nvSpPr>
          <p:cNvPr id="33" name="Text 31"/>
          <p:cNvSpPr/>
          <p:nvPr/>
        </p:nvSpPr>
        <p:spPr>
          <a:xfrm>
            <a:off x="5029200" y="1188720"/>
            <a:ext cx="3474720" cy="274320"/>
          </a:xfrm>
          <a:prstGeom prst="rect">
            <a:avLst/>
          </a:prstGeom>
          <a:noFill/>
          <a:ln/>
        </p:spPr>
        <p:txBody>
          <a:bodyPr wrap="square" lIns="0" tIns="0" rIns="0" bIns="0" rtlCol="0" anchor="ctr"/>
          <a:lstStyle/>
          <a:p>
            <a:pPr marL="0" indent="0">
              <a:buNone/>
            </a:pPr>
            <a:r>
              <a:rPr lang="en-US" sz="1100" b="1" kern="0" spc="400" dirty="0">
                <a:solidFill>
                  <a:srgbClr val="1C7293"/>
                </a:solidFill>
                <a:latin typeface="Calibri" pitchFamily="34" charset="0"/>
                <a:ea typeface="Calibri" pitchFamily="34" charset="-122"/>
                <a:cs typeface="Calibri" pitchFamily="34" charset="-120"/>
              </a:rPr>
              <a:t>RESEARCH HIGHLIGHT</a:t>
            </a:r>
            <a:endParaRPr lang="en-US" sz="1100" dirty="0"/>
          </a:p>
        </p:txBody>
      </p:sp>
      <p:sp>
        <p:nvSpPr>
          <p:cNvPr id="34" name="Text 32"/>
          <p:cNvSpPr/>
          <p:nvPr/>
        </p:nvSpPr>
        <p:spPr>
          <a:xfrm>
            <a:off x="5029200" y="1463040"/>
            <a:ext cx="3474720" cy="365760"/>
          </a:xfrm>
          <a:prstGeom prst="rect">
            <a:avLst/>
          </a:prstGeom>
          <a:noFill/>
          <a:ln/>
        </p:spPr>
        <p:txBody>
          <a:bodyPr wrap="square" lIns="0" tIns="0" rIns="0" bIns="0" rtlCol="0" anchor="ctr"/>
          <a:lstStyle/>
          <a:p>
            <a:pPr marL="0" indent="0">
              <a:buNone/>
            </a:pPr>
            <a:r>
              <a:rPr lang="en-US" sz="1700" b="1" dirty="0">
                <a:solidFill>
                  <a:srgbClr val="21295C"/>
                </a:solidFill>
                <a:latin typeface="Calibri" pitchFamily="34" charset="0"/>
                <a:ea typeface="Calibri" pitchFamily="34" charset="-122"/>
                <a:cs typeface="Calibri" pitchFamily="34" charset="-120"/>
              </a:rPr>
              <a:t>Lauren Chan — Cal Poly SLO</a:t>
            </a:r>
            <a:endParaRPr lang="en-US" sz="1700" dirty="0"/>
          </a:p>
        </p:txBody>
      </p:sp>
      <p:sp>
        <p:nvSpPr>
          <p:cNvPr id="35" name="Text 33"/>
          <p:cNvSpPr/>
          <p:nvPr/>
        </p:nvSpPr>
        <p:spPr>
          <a:xfrm>
            <a:off x="5029200" y="1847088"/>
            <a:ext cx="3474720" cy="502920"/>
          </a:xfrm>
          <a:prstGeom prst="rect">
            <a:avLst/>
          </a:prstGeom>
          <a:noFill/>
          <a:ln/>
        </p:spPr>
        <p:txBody>
          <a:bodyPr wrap="square" lIns="0" tIns="0" rIns="0" bIns="0" rtlCol="0" anchor="ctr"/>
          <a:lstStyle/>
          <a:p>
            <a:pPr marL="0" indent="0">
              <a:buNone/>
            </a:pPr>
            <a:r>
              <a:rPr lang="en-US" sz="1200" i="1" dirty="0">
                <a:solidFill>
                  <a:srgbClr val="374151"/>
                </a:solidFill>
                <a:latin typeface="Calibri" pitchFamily="34" charset="0"/>
                <a:ea typeface="Calibri" pitchFamily="34" charset="-122"/>
                <a:cs typeface="Calibri" pitchFamily="34" charset="-120"/>
              </a:rPr>
              <a:t>Evolutionary Biology &amp; Conservation Computational Genomics</a:t>
            </a:r>
            <a:endParaRPr lang="en-US" sz="1200" dirty="0"/>
          </a:p>
        </p:txBody>
      </p:sp>
      <p:sp>
        <p:nvSpPr>
          <p:cNvPr id="36" name="Text 34"/>
          <p:cNvSpPr/>
          <p:nvPr/>
        </p:nvSpPr>
        <p:spPr>
          <a:xfrm>
            <a:off x="5029200" y="2377440"/>
            <a:ext cx="3474720" cy="438912"/>
          </a:xfrm>
          <a:prstGeom prst="rect">
            <a:avLst/>
          </a:prstGeom>
          <a:noFill/>
          <a:ln/>
        </p:spPr>
        <p:txBody>
          <a:bodyPr wrap="square" lIns="0" tIns="0" rIns="0" bIns="0" rtlCol="0" anchor="ctr"/>
          <a:lstStyle/>
          <a:p>
            <a:pPr marL="0" indent="0">
              <a:buNone/>
            </a:pPr>
            <a:r>
              <a:rPr lang="en-US" sz="1100" b="1" dirty="0">
                <a:solidFill>
                  <a:srgbClr val="C99B2D"/>
                </a:solidFill>
                <a:latin typeface="Calibri" pitchFamily="34" charset="0"/>
                <a:ea typeface="Calibri" pitchFamily="34" charset="-122"/>
                <a:cs typeface="Calibri" pitchFamily="34" charset="-120"/>
              </a:rPr>
              <a:t>▸  </a:t>
            </a:r>
            <a:r>
              <a:rPr lang="en-US" sz="1100" dirty="0">
                <a:solidFill>
                  <a:srgbClr val="374151"/>
                </a:solidFill>
                <a:latin typeface="Calibri" pitchFamily="34" charset="0"/>
                <a:ea typeface="Calibri" pitchFamily="34" charset="-122"/>
                <a:cs typeface="Calibri" pitchFamily="34" charset="-120"/>
              </a:rPr>
              <a:t>892 GPU hours and 27.3K CPU hours to date</a:t>
            </a:r>
            <a:endParaRPr lang="en-US" sz="1100" dirty="0"/>
          </a:p>
        </p:txBody>
      </p:sp>
      <p:sp>
        <p:nvSpPr>
          <p:cNvPr id="37" name="Text 35"/>
          <p:cNvSpPr/>
          <p:nvPr/>
        </p:nvSpPr>
        <p:spPr>
          <a:xfrm>
            <a:off x="5029200" y="2834640"/>
            <a:ext cx="3474720" cy="438912"/>
          </a:xfrm>
          <a:prstGeom prst="rect">
            <a:avLst/>
          </a:prstGeom>
          <a:noFill/>
          <a:ln/>
        </p:spPr>
        <p:txBody>
          <a:bodyPr wrap="square" lIns="0" tIns="0" rIns="0" bIns="0" rtlCol="0" anchor="ctr"/>
          <a:lstStyle/>
          <a:p>
            <a:pPr marL="0" indent="0">
              <a:buNone/>
            </a:pPr>
            <a:r>
              <a:rPr lang="en-US" sz="1100" b="1" dirty="0">
                <a:solidFill>
                  <a:srgbClr val="C99B2D"/>
                </a:solidFill>
                <a:latin typeface="Calibri" pitchFamily="34" charset="0"/>
                <a:ea typeface="Calibri" pitchFamily="34" charset="-122"/>
                <a:cs typeface="Calibri" pitchFamily="34" charset="-120"/>
              </a:rPr>
              <a:t>▸  </a:t>
            </a:r>
            <a:r>
              <a:rPr lang="en-US" sz="1100" dirty="0">
                <a:solidFill>
                  <a:srgbClr val="374151"/>
                </a:solidFill>
                <a:latin typeface="Calibri" pitchFamily="34" charset="0"/>
                <a:ea typeface="Calibri" pitchFamily="34" charset="-122"/>
                <a:cs typeface="Calibri" pitchFamily="34" charset="-120"/>
              </a:rPr>
              <a:t>Reference-genome decontamination on high-memory nodes</a:t>
            </a:r>
            <a:endParaRPr lang="en-US" sz="1100" dirty="0"/>
          </a:p>
        </p:txBody>
      </p:sp>
      <p:sp>
        <p:nvSpPr>
          <p:cNvPr id="38" name="Text 36"/>
          <p:cNvSpPr/>
          <p:nvPr/>
        </p:nvSpPr>
        <p:spPr>
          <a:xfrm>
            <a:off x="5029200" y="3291840"/>
            <a:ext cx="3474720" cy="438912"/>
          </a:xfrm>
          <a:prstGeom prst="rect">
            <a:avLst/>
          </a:prstGeom>
          <a:noFill/>
          <a:ln/>
        </p:spPr>
        <p:txBody>
          <a:bodyPr wrap="square" lIns="0" tIns="0" rIns="0" bIns="0" rtlCol="0" anchor="ctr"/>
          <a:lstStyle/>
          <a:p>
            <a:pPr marL="0" indent="0">
              <a:buNone/>
            </a:pPr>
            <a:r>
              <a:rPr lang="en-US" sz="1100" b="1" dirty="0">
                <a:solidFill>
                  <a:srgbClr val="C99B2D"/>
                </a:solidFill>
                <a:latin typeface="Calibri" pitchFamily="34" charset="0"/>
                <a:ea typeface="Calibri" pitchFamily="34" charset="-122"/>
                <a:cs typeface="Calibri" pitchFamily="34" charset="-120"/>
              </a:rPr>
              <a:t>▸  </a:t>
            </a:r>
            <a:r>
              <a:rPr lang="en-US" sz="1100" dirty="0">
                <a:solidFill>
                  <a:srgbClr val="374151"/>
                </a:solidFill>
                <a:latin typeface="Calibri" pitchFamily="34" charset="0"/>
                <a:ea typeface="Calibri" pitchFamily="34" charset="-122"/>
                <a:cs typeface="Calibri" pitchFamily="34" charset="-120"/>
              </a:rPr>
              <a:t>Variant calling across full genomes for 100 individuals</a:t>
            </a:r>
            <a:endParaRPr lang="en-US" sz="1100" dirty="0"/>
          </a:p>
        </p:txBody>
      </p:sp>
      <p:sp>
        <p:nvSpPr>
          <p:cNvPr id="39" name="Text 37"/>
          <p:cNvSpPr/>
          <p:nvPr/>
        </p:nvSpPr>
        <p:spPr>
          <a:xfrm>
            <a:off x="5029200" y="3749040"/>
            <a:ext cx="3474720" cy="438912"/>
          </a:xfrm>
          <a:prstGeom prst="rect">
            <a:avLst/>
          </a:prstGeom>
          <a:noFill/>
          <a:ln/>
        </p:spPr>
        <p:txBody>
          <a:bodyPr wrap="square" lIns="0" tIns="0" rIns="0" bIns="0" rtlCol="0" anchor="ctr"/>
          <a:lstStyle/>
          <a:p>
            <a:pPr marL="0" indent="0">
              <a:buNone/>
            </a:pPr>
            <a:r>
              <a:rPr lang="en-US" sz="1100" b="1" dirty="0">
                <a:solidFill>
                  <a:srgbClr val="C99B2D"/>
                </a:solidFill>
                <a:latin typeface="Calibri" pitchFamily="34" charset="0"/>
                <a:ea typeface="Calibri" pitchFamily="34" charset="-122"/>
                <a:cs typeface="Calibri" pitchFamily="34" charset="-120"/>
              </a:rPr>
              <a:t>▸  </a:t>
            </a:r>
            <a:r>
              <a:rPr lang="en-US" sz="1100" dirty="0">
                <a:solidFill>
                  <a:srgbClr val="374151"/>
                </a:solidFill>
                <a:latin typeface="Calibri" pitchFamily="34" charset="0"/>
                <a:ea typeface="Calibri" pitchFamily="34" charset="-122"/>
                <a:cs typeface="Calibri" pitchFamily="34" charset="-120"/>
              </a:rPr>
              <a:t>Post-calling filtering and downstream analysis</a:t>
            </a:r>
            <a:endParaRPr lang="en-US" sz="1100" dirty="0"/>
          </a:p>
        </p:txBody>
      </p:sp>
      <p:sp>
        <p:nvSpPr>
          <p:cNvPr id="40" name="Text 38"/>
          <p:cNvSpPr/>
          <p:nvPr/>
        </p:nvSpPr>
        <p:spPr>
          <a:xfrm>
            <a:off x="5029200" y="4114800"/>
            <a:ext cx="3474720" cy="27432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Research featured in "Whirlwind Tour of Science on NRP," Larry Smarr, 7NRP 2026.</a:t>
            </a:r>
            <a:endParaRPr lang="en-US" sz="900" dirty="0"/>
          </a:p>
        </p:txBody>
      </p:sp>
      <p:sp>
        <p:nvSpPr>
          <p:cNvPr id="41" name="Text 39"/>
          <p:cNvSpPr/>
          <p:nvPr/>
        </p:nvSpPr>
        <p:spPr>
          <a:xfrm>
            <a:off x="457200" y="4800600"/>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NRP @ 7NRP  ·  ITS AI Community of Practice  ·  May 2026</a:t>
            </a:r>
            <a:endParaRPr lang="en-US" sz="900" dirty="0"/>
          </a:p>
        </p:txBody>
      </p:sp>
      <p:sp>
        <p:nvSpPr>
          <p:cNvPr id="42" name="Text 40"/>
          <p:cNvSpPr/>
          <p:nvPr/>
        </p:nvSpPr>
        <p:spPr>
          <a:xfrm>
            <a:off x="8229600" y="4800600"/>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10 / 19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lIns="0" tIns="0" rIns="0" bIns="0" rtlCol="0" anchor="ctr"/>
          <a:lstStyle/>
          <a:p>
            <a:pPr marL="0" indent="0" algn="l">
              <a:buNone/>
            </a:pPr>
            <a:r>
              <a:rPr lang="en-US" sz="1100" b="1" kern="0" spc="400" dirty="0">
                <a:solidFill>
                  <a:srgbClr val="1C7293"/>
                </a:solidFill>
                <a:latin typeface="Calibri" pitchFamily="34" charset="0"/>
                <a:ea typeface="Calibri" pitchFamily="34" charset="-122"/>
                <a:cs typeface="Calibri" pitchFamily="34" charset="-120"/>
              </a:rPr>
              <a:t>CSU SISTER CAMPUSES</a:t>
            </a:r>
            <a:endParaRPr lang="en-US" sz="1100" dirty="0"/>
          </a:p>
        </p:txBody>
      </p:sp>
      <p:sp>
        <p:nvSpPr>
          <p:cNvPr id="3" name="Text 1"/>
          <p:cNvSpPr/>
          <p:nvPr/>
        </p:nvSpPr>
        <p:spPr>
          <a:xfrm>
            <a:off x="457200" y="292608"/>
            <a:ext cx="8229600" cy="548640"/>
          </a:xfrm>
          <a:prstGeom prst="rect">
            <a:avLst/>
          </a:prstGeom>
          <a:noFill/>
          <a:ln/>
        </p:spPr>
        <p:txBody>
          <a:bodyPr wrap="square" lIns="0" tIns="0" rIns="0" bIns="0" rtlCol="0" anchor="ctr"/>
          <a:lstStyle/>
          <a:p>
            <a:pPr marL="0" indent="0" algn="l">
              <a:buNone/>
            </a:pPr>
            <a:r>
              <a:rPr lang="en-US" sz="2800" b="1" dirty="0">
                <a:solidFill>
                  <a:srgbClr val="21295C"/>
                </a:solidFill>
                <a:latin typeface="Calibri" pitchFamily="34" charset="0"/>
                <a:ea typeface="Calibri" pitchFamily="34" charset="-122"/>
                <a:cs typeface="Calibri" pitchFamily="34" charset="-120"/>
              </a:rPr>
              <a:t>Three CSUs, three operating models</a:t>
            </a:r>
            <a:endParaRPr lang="en-US" sz="2800" dirty="0"/>
          </a:p>
        </p:txBody>
      </p:sp>
      <p:sp>
        <p:nvSpPr>
          <p:cNvPr id="4" name="Shape 2"/>
          <p:cNvSpPr/>
          <p:nvPr/>
        </p:nvSpPr>
        <p:spPr>
          <a:xfrm>
            <a:off x="457200" y="868680"/>
            <a:ext cx="8229600" cy="0"/>
          </a:xfrm>
          <a:prstGeom prst="line">
            <a:avLst/>
          </a:prstGeom>
          <a:noFill/>
          <a:ln w="9525">
            <a:solidFill>
              <a:srgbClr val="CBD5E1"/>
            </a:solidFill>
            <a:prstDash val="solid"/>
          </a:ln>
        </p:spPr>
        <p:txBody>
          <a:bodyPr/>
          <a:lstStyle/>
          <a:p>
            <a:endParaRPr lang="en-US"/>
          </a:p>
        </p:txBody>
      </p:sp>
      <p:sp>
        <p:nvSpPr>
          <p:cNvPr id="5" name="Shape 3"/>
          <p:cNvSpPr/>
          <p:nvPr/>
        </p:nvSpPr>
        <p:spPr>
          <a:xfrm>
            <a:off x="457200" y="1051560"/>
            <a:ext cx="2697480" cy="3383280"/>
          </a:xfrm>
          <a:prstGeom prst="rect">
            <a:avLst/>
          </a:prstGeom>
          <a:solidFill>
            <a:srgbClr val="FFFFFF"/>
          </a:solidFill>
          <a:ln w="12700">
            <a:solidFill>
              <a:srgbClr val="CBD5E1"/>
            </a:solidFill>
            <a:prstDash val="solid"/>
          </a:ln>
        </p:spPr>
        <p:txBody>
          <a:bodyPr/>
          <a:lstStyle/>
          <a:p>
            <a:endParaRPr lang="en-US"/>
          </a:p>
        </p:txBody>
      </p:sp>
      <p:sp>
        <p:nvSpPr>
          <p:cNvPr id="6" name="Shape 4"/>
          <p:cNvSpPr/>
          <p:nvPr/>
        </p:nvSpPr>
        <p:spPr>
          <a:xfrm>
            <a:off x="457200" y="1051560"/>
            <a:ext cx="2697480" cy="54864"/>
          </a:xfrm>
          <a:prstGeom prst="rect">
            <a:avLst/>
          </a:prstGeom>
          <a:solidFill>
            <a:srgbClr val="065A82"/>
          </a:solidFill>
          <a:ln w="12700">
            <a:solidFill>
              <a:srgbClr val="065A82"/>
            </a:solidFill>
            <a:prstDash val="solid"/>
          </a:ln>
        </p:spPr>
        <p:txBody>
          <a:bodyPr/>
          <a:lstStyle/>
          <a:p>
            <a:endParaRPr lang="en-US"/>
          </a:p>
        </p:txBody>
      </p:sp>
      <p:sp>
        <p:nvSpPr>
          <p:cNvPr id="7" name="Text 5"/>
          <p:cNvSpPr/>
          <p:nvPr/>
        </p:nvSpPr>
        <p:spPr>
          <a:xfrm>
            <a:off x="640080" y="1234440"/>
            <a:ext cx="2331720" cy="365760"/>
          </a:xfrm>
          <a:prstGeom prst="rect">
            <a:avLst/>
          </a:prstGeom>
          <a:noFill/>
          <a:ln/>
        </p:spPr>
        <p:txBody>
          <a:bodyPr wrap="square" lIns="0" tIns="0" rIns="0" bIns="0" rtlCol="0" anchor="ctr"/>
          <a:lstStyle/>
          <a:p>
            <a:pPr marL="0" indent="0">
              <a:buNone/>
            </a:pPr>
            <a:r>
              <a:rPr lang="en-US" sz="1700" b="1" dirty="0">
                <a:solidFill>
                  <a:srgbClr val="21295C"/>
                </a:solidFill>
                <a:latin typeface="Calibri" pitchFamily="34" charset="0"/>
                <a:ea typeface="Calibri" pitchFamily="34" charset="-122"/>
                <a:cs typeface="Calibri" pitchFamily="34" charset="-120"/>
              </a:rPr>
              <a:t>SDSU</a:t>
            </a:r>
            <a:endParaRPr lang="en-US" sz="1700" dirty="0"/>
          </a:p>
        </p:txBody>
      </p:sp>
      <p:sp>
        <p:nvSpPr>
          <p:cNvPr id="8" name="Text 6"/>
          <p:cNvSpPr/>
          <p:nvPr/>
        </p:nvSpPr>
        <p:spPr>
          <a:xfrm>
            <a:off x="640080" y="1618488"/>
            <a:ext cx="2331720" cy="274320"/>
          </a:xfrm>
          <a:prstGeom prst="rect">
            <a:avLst/>
          </a:prstGeom>
          <a:noFill/>
          <a:ln/>
        </p:spPr>
        <p:txBody>
          <a:bodyPr wrap="square" lIns="0" tIns="0" rIns="0" bIns="0" rtlCol="0" anchor="ctr"/>
          <a:lstStyle/>
          <a:p>
            <a:pPr marL="0" indent="0">
              <a:buNone/>
            </a:pPr>
            <a:r>
              <a:rPr lang="en-US" sz="1200" b="1" dirty="0">
                <a:solidFill>
                  <a:srgbClr val="1C7293"/>
                </a:solidFill>
                <a:latin typeface="Calibri" pitchFamily="34" charset="0"/>
                <a:ea typeface="Calibri" pitchFamily="34" charset="-122"/>
                <a:cs typeface="Calibri" pitchFamily="34" charset="-120"/>
              </a:rPr>
              <a:t>VERNE + TIDE</a:t>
            </a:r>
            <a:endParaRPr lang="en-US" sz="1200" dirty="0"/>
          </a:p>
        </p:txBody>
      </p:sp>
      <p:sp>
        <p:nvSpPr>
          <p:cNvPr id="9" name="Text 7"/>
          <p:cNvSpPr/>
          <p:nvPr/>
        </p:nvSpPr>
        <p:spPr>
          <a:xfrm>
            <a:off x="640080" y="1965960"/>
            <a:ext cx="2331720" cy="1280160"/>
          </a:xfrm>
          <a:prstGeom prst="rect">
            <a:avLst/>
          </a:prstGeom>
          <a:noFill/>
          <a:ln/>
        </p:spPr>
        <p:txBody>
          <a:bodyPr wrap="square" lIns="0" tIns="0" rIns="0" bIns="0" rtlCol="0" anchor="ctr"/>
          <a:lstStyle/>
          <a:p>
            <a:pPr marL="0" indent="0">
              <a:buNone/>
            </a:pPr>
            <a:r>
              <a:rPr lang="en-US" sz="1200" dirty="0">
                <a:solidFill>
                  <a:srgbClr val="374151"/>
                </a:solidFill>
                <a:latin typeface="Calibri" pitchFamily="34" charset="0"/>
                <a:ea typeface="Calibri" pitchFamily="34" charset="-122"/>
                <a:cs typeface="Calibri" pitchFamily="34" charset="-120"/>
              </a:rPr>
              <a:t>Instructional cluster ($650K), JupyterHub front-end, student-assistant support model.</a:t>
            </a:r>
            <a:endParaRPr lang="en-US" sz="1200" dirty="0"/>
          </a:p>
        </p:txBody>
      </p:sp>
      <p:sp>
        <p:nvSpPr>
          <p:cNvPr id="10" name="Shape 8"/>
          <p:cNvSpPr/>
          <p:nvPr/>
        </p:nvSpPr>
        <p:spPr>
          <a:xfrm>
            <a:off x="640080" y="3337560"/>
            <a:ext cx="2331720" cy="0"/>
          </a:xfrm>
          <a:prstGeom prst="line">
            <a:avLst/>
          </a:prstGeom>
          <a:noFill/>
          <a:ln w="9525">
            <a:solidFill>
              <a:srgbClr val="CBD5E1"/>
            </a:solidFill>
            <a:prstDash val="solid"/>
          </a:ln>
        </p:spPr>
        <p:txBody>
          <a:bodyPr/>
          <a:lstStyle/>
          <a:p>
            <a:endParaRPr lang="en-US"/>
          </a:p>
        </p:txBody>
      </p:sp>
      <p:sp>
        <p:nvSpPr>
          <p:cNvPr id="11" name="Text 9"/>
          <p:cNvSpPr/>
          <p:nvPr/>
        </p:nvSpPr>
        <p:spPr>
          <a:xfrm>
            <a:off x="640080" y="3429000"/>
            <a:ext cx="2331720" cy="228600"/>
          </a:xfrm>
          <a:prstGeom prst="rect">
            <a:avLst/>
          </a:prstGeom>
          <a:noFill/>
          <a:ln/>
        </p:spPr>
        <p:txBody>
          <a:bodyPr wrap="square" lIns="0" tIns="0" rIns="0" bIns="0" rtlCol="0" anchor="ctr"/>
          <a:lstStyle/>
          <a:p>
            <a:pPr marL="0" indent="0">
              <a:buNone/>
            </a:pPr>
            <a:r>
              <a:rPr lang="en-US" sz="900" b="1" kern="0" spc="300" dirty="0">
                <a:solidFill>
                  <a:srgbClr val="64748B"/>
                </a:solidFill>
                <a:latin typeface="Calibri" pitchFamily="34" charset="0"/>
                <a:ea typeface="Calibri" pitchFamily="34" charset="-122"/>
                <a:cs typeface="Calibri" pitchFamily="34" charset="-120"/>
              </a:rPr>
              <a:t>LESSON LEARNED</a:t>
            </a:r>
            <a:endParaRPr lang="en-US" sz="900" dirty="0"/>
          </a:p>
        </p:txBody>
      </p:sp>
      <p:sp>
        <p:nvSpPr>
          <p:cNvPr id="12" name="Text 10"/>
          <p:cNvSpPr/>
          <p:nvPr/>
        </p:nvSpPr>
        <p:spPr>
          <a:xfrm>
            <a:off x="640080" y="3657600"/>
            <a:ext cx="2331720" cy="685800"/>
          </a:xfrm>
          <a:prstGeom prst="rect">
            <a:avLst/>
          </a:prstGeom>
          <a:noFill/>
          <a:ln/>
        </p:spPr>
        <p:txBody>
          <a:bodyPr wrap="square" lIns="0" tIns="0" rIns="0" bIns="0" rtlCol="0" anchor="ctr"/>
          <a:lstStyle/>
          <a:p>
            <a:pPr marL="0" indent="0">
              <a:buNone/>
            </a:pPr>
            <a:r>
              <a:rPr lang="en-US" sz="1050" i="1" dirty="0">
                <a:solidFill>
                  <a:srgbClr val="065A82"/>
                </a:solidFill>
                <a:latin typeface="Calibri" pitchFamily="34" charset="0"/>
                <a:ea typeface="Calibri" pitchFamily="34" charset="-122"/>
                <a:cs typeface="Calibri" pitchFamily="34" charset="-120"/>
              </a:rPr>
              <a:t>Lesson: "Just because you build it doesn't mean they will come." Demand-creation is the hard part.</a:t>
            </a:r>
            <a:endParaRPr lang="en-US" sz="1050" dirty="0"/>
          </a:p>
        </p:txBody>
      </p:sp>
      <p:sp>
        <p:nvSpPr>
          <p:cNvPr id="13" name="Shape 11"/>
          <p:cNvSpPr/>
          <p:nvPr/>
        </p:nvSpPr>
        <p:spPr>
          <a:xfrm>
            <a:off x="3319272" y="1051560"/>
            <a:ext cx="2697480" cy="3383280"/>
          </a:xfrm>
          <a:prstGeom prst="rect">
            <a:avLst/>
          </a:prstGeom>
          <a:solidFill>
            <a:srgbClr val="FFFFFF"/>
          </a:solidFill>
          <a:ln w="12700">
            <a:solidFill>
              <a:srgbClr val="CBD5E1"/>
            </a:solidFill>
            <a:prstDash val="solid"/>
          </a:ln>
        </p:spPr>
        <p:txBody>
          <a:bodyPr/>
          <a:lstStyle/>
          <a:p>
            <a:endParaRPr lang="en-US"/>
          </a:p>
        </p:txBody>
      </p:sp>
      <p:sp>
        <p:nvSpPr>
          <p:cNvPr id="14" name="Shape 12"/>
          <p:cNvSpPr/>
          <p:nvPr/>
        </p:nvSpPr>
        <p:spPr>
          <a:xfrm>
            <a:off x="3319272" y="1051560"/>
            <a:ext cx="2697480" cy="54864"/>
          </a:xfrm>
          <a:prstGeom prst="rect">
            <a:avLst/>
          </a:prstGeom>
          <a:solidFill>
            <a:srgbClr val="065A82"/>
          </a:solidFill>
          <a:ln w="12700">
            <a:solidFill>
              <a:srgbClr val="065A82"/>
            </a:solidFill>
            <a:prstDash val="solid"/>
          </a:ln>
        </p:spPr>
        <p:txBody>
          <a:bodyPr/>
          <a:lstStyle/>
          <a:p>
            <a:endParaRPr lang="en-US"/>
          </a:p>
        </p:txBody>
      </p:sp>
      <p:sp>
        <p:nvSpPr>
          <p:cNvPr id="15" name="Text 13"/>
          <p:cNvSpPr/>
          <p:nvPr/>
        </p:nvSpPr>
        <p:spPr>
          <a:xfrm>
            <a:off x="3502152" y="1234440"/>
            <a:ext cx="2331720" cy="365760"/>
          </a:xfrm>
          <a:prstGeom prst="rect">
            <a:avLst/>
          </a:prstGeom>
          <a:noFill/>
          <a:ln/>
        </p:spPr>
        <p:txBody>
          <a:bodyPr wrap="square" lIns="0" tIns="0" rIns="0" bIns="0" rtlCol="0" anchor="ctr"/>
          <a:lstStyle/>
          <a:p>
            <a:pPr marL="0" indent="0">
              <a:buNone/>
            </a:pPr>
            <a:r>
              <a:rPr lang="en-US" sz="1700" b="1" dirty="0">
                <a:solidFill>
                  <a:srgbClr val="21295C"/>
                </a:solidFill>
                <a:latin typeface="Calibri" pitchFamily="34" charset="0"/>
                <a:ea typeface="Calibri" pitchFamily="34" charset="-122"/>
                <a:cs typeface="Calibri" pitchFamily="34" charset="-120"/>
              </a:rPr>
              <a:t>CSU San Bernardino</a:t>
            </a:r>
            <a:endParaRPr lang="en-US" sz="1700" dirty="0"/>
          </a:p>
        </p:txBody>
      </p:sp>
      <p:sp>
        <p:nvSpPr>
          <p:cNvPr id="16" name="Text 14"/>
          <p:cNvSpPr/>
          <p:nvPr/>
        </p:nvSpPr>
        <p:spPr>
          <a:xfrm>
            <a:off x="3502152" y="1618488"/>
            <a:ext cx="2331720" cy="274320"/>
          </a:xfrm>
          <a:prstGeom prst="rect">
            <a:avLst/>
          </a:prstGeom>
          <a:noFill/>
          <a:ln/>
        </p:spPr>
        <p:txBody>
          <a:bodyPr wrap="square" lIns="0" tIns="0" rIns="0" bIns="0" rtlCol="0" anchor="ctr"/>
          <a:lstStyle/>
          <a:p>
            <a:pPr marL="0" indent="0">
              <a:buNone/>
            </a:pPr>
            <a:r>
              <a:rPr lang="en-US" sz="1200" b="1" dirty="0">
                <a:solidFill>
                  <a:srgbClr val="1C7293"/>
                </a:solidFill>
                <a:latin typeface="Calibri" pitchFamily="34" charset="0"/>
                <a:ea typeface="Calibri" pitchFamily="34" charset="-122"/>
                <a:cs typeface="Calibri" pitchFamily="34" charset="-120"/>
              </a:rPr>
              <a:t>BOT model</a:t>
            </a:r>
            <a:endParaRPr lang="en-US" sz="1200" dirty="0"/>
          </a:p>
        </p:txBody>
      </p:sp>
      <p:sp>
        <p:nvSpPr>
          <p:cNvPr id="17" name="Text 15"/>
          <p:cNvSpPr/>
          <p:nvPr/>
        </p:nvSpPr>
        <p:spPr>
          <a:xfrm>
            <a:off x="3502152" y="1965960"/>
            <a:ext cx="2331720" cy="1280160"/>
          </a:xfrm>
          <a:prstGeom prst="rect">
            <a:avLst/>
          </a:prstGeom>
          <a:noFill/>
          <a:ln/>
        </p:spPr>
        <p:txBody>
          <a:bodyPr wrap="square" lIns="0" tIns="0" rIns="0" bIns="0" rtlCol="0" anchor="ctr"/>
          <a:lstStyle/>
          <a:p>
            <a:pPr marL="0" indent="0">
              <a:buNone/>
            </a:pPr>
            <a:r>
              <a:rPr lang="en-US" sz="1200" dirty="0">
                <a:solidFill>
                  <a:srgbClr val="374151"/>
                </a:solidFill>
                <a:latin typeface="Calibri" pitchFamily="34" charset="0"/>
                <a:ea typeface="Calibri" pitchFamily="34" charset="-122"/>
                <a:cs typeface="Calibri" pitchFamily="34" charset="-120"/>
              </a:rPr>
              <a:t>Build, Operate, Transfer: SBValley CC and Loma Linda; preconfigured JupyterHubs for partners.</a:t>
            </a:r>
            <a:endParaRPr lang="en-US" sz="1200" dirty="0"/>
          </a:p>
        </p:txBody>
      </p:sp>
      <p:sp>
        <p:nvSpPr>
          <p:cNvPr id="18" name="Shape 16"/>
          <p:cNvSpPr/>
          <p:nvPr/>
        </p:nvSpPr>
        <p:spPr>
          <a:xfrm>
            <a:off x="3502152" y="3337560"/>
            <a:ext cx="2331720" cy="0"/>
          </a:xfrm>
          <a:prstGeom prst="line">
            <a:avLst/>
          </a:prstGeom>
          <a:noFill/>
          <a:ln w="9525">
            <a:solidFill>
              <a:srgbClr val="CBD5E1"/>
            </a:solidFill>
            <a:prstDash val="solid"/>
          </a:ln>
        </p:spPr>
        <p:txBody>
          <a:bodyPr/>
          <a:lstStyle/>
          <a:p>
            <a:endParaRPr lang="en-US"/>
          </a:p>
        </p:txBody>
      </p:sp>
      <p:sp>
        <p:nvSpPr>
          <p:cNvPr id="19" name="Text 17"/>
          <p:cNvSpPr/>
          <p:nvPr/>
        </p:nvSpPr>
        <p:spPr>
          <a:xfrm>
            <a:off x="3502152" y="3429000"/>
            <a:ext cx="2331720" cy="228600"/>
          </a:xfrm>
          <a:prstGeom prst="rect">
            <a:avLst/>
          </a:prstGeom>
          <a:noFill/>
          <a:ln/>
        </p:spPr>
        <p:txBody>
          <a:bodyPr wrap="square" lIns="0" tIns="0" rIns="0" bIns="0" rtlCol="0" anchor="ctr"/>
          <a:lstStyle/>
          <a:p>
            <a:pPr marL="0" indent="0">
              <a:buNone/>
            </a:pPr>
            <a:r>
              <a:rPr lang="en-US" sz="900" b="1" kern="0" spc="300" dirty="0">
                <a:solidFill>
                  <a:srgbClr val="64748B"/>
                </a:solidFill>
                <a:latin typeface="Calibri" pitchFamily="34" charset="0"/>
                <a:ea typeface="Calibri" pitchFamily="34" charset="-122"/>
                <a:cs typeface="Calibri" pitchFamily="34" charset="-120"/>
              </a:rPr>
              <a:t>LESSON LEARNED</a:t>
            </a:r>
            <a:endParaRPr lang="en-US" sz="900" dirty="0"/>
          </a:p>
        </p:txBody>
      </p:sp>
      <p:sp>
        <p:nvSpPr>
          <p:cNvPr id="20" name="Text 18"/>
          <p:cNvSpPr/>
          <p:nvPr/>
        </p:nvSpPr>
        <p:spPr>
          <a:xfrm>
            <a:off x="3502152" y="3657600"/>
            <a:ext cx="2331720" cy="685800"/>
          </a:xfrm>
          <a:prstGeom prst="rect">
            <a:avLst/>
          </a:prstGeom>
          <a:noFill/>
          <a:ln/>
        </p:spPr>
        <p:txBody>
          <a:bodyPr wrap="square" lIns="0" tIns="0" rIns="0" bIns="0" rtlCol="0" anchor="ctr"/>
          <a:lstStyle/>
          <a:p>
            <a:pPr marL="0" indent="0">
              <a:buNone/>
            </a:pPr>
            <a:r>
              <a:rPr lang="en-US" sz="1050" i="1" dirty="0">
                <a:solidFill>
                  <a:srgbClr val="065A82"/>
                </a:solidFill>
                <a:latin typeface="Calibri" pitchFamily="34" charset="0"/>
                <a:ea typeface="Calibri" pitchFamily="34" charset="-122"/>
                <a:cs typeface="Calibri" pitchFamily="34" charset="-120"/>
              </a:rPr>
              <a:t>Lesson: stage HPC resources ahead of demand; engage admins and faculty early.</a:t>
            </a:r>
            <a:endParaRPr lang="en-US" sz="1050" dirty="0"/>
          </a:p>
        </p:txBody>
      </p:sp>
      <p:sp>
        <p:nvSpPr>
          <p:cNvPr id="21" name="Shape 19"/>
          <p:cNvSpPr/>
          <p:nvPr/>
        </p:nvSpPr>
        <p:spPr>
          <a:xfrm>
            <a:off x="6181344" y="1051560"/>
            <a:ext cx="2697480" cy="3383280"/>
          </a:xfrm>
          <a:prstGeom prst="rect">
            <a:avLst/>
          </a:prstGeom>
          <a:solidFill>
            <a:srgbClr val="FFFFFF"/>
          </a:solidFill>
          <a:ln w="12700">
            <a:solidFill>
              <a:srgbClr val="CBD5E1"/>
            </a:solidFill>
            <a:prstDash val="solid"/>
          </a:ln>
        </p:spPr>
        <p:txBody>
          <a:bodyPr/>
          <a:lstStyle/>
          <a:p>
            <a:endParaRPr lang="en-US"/>
          </a:p>
        </p:txBody>
      </p:sp>
      <p:sp>
        <p:nvSpPr>
          <p:cNvPr id="22" name="Shape 20"/>
          <p:cNvSpPr/>
          <p:nvPr/>
        </p:nvSpPr>
        <p:spPr>
          <a:xfrm>
            <a:off x="6181344" y="1051560"/>
            <a:ext cx="2697480" cy="54864"/>
          </a:xfrm>
          <a:prstGeom prst="rect">
            <a:avLst/>
          </a:prstGeom>
          <a:solidFill>
            <a:srgbClr val="065A82"/>
          </a:solidFill>
          <a:ln w="12700">
            <a:solidFill>
              <a:srgbClr val="065A82"/>
            </a:solidFill>
            <a:prstDash val="solid"/>
          </a:ln>
        </p:spPr>
        <p:txBody>
          <a:bodyPr/>
          <a:lstStyle/>
          <a:p>
            <a:endParaRPr lang="en-US"/>
          </a:p>
        </p:txBody>
      </p:sp>
      <p:sp>
        <p:nvSpPr>
          <p:cNvPr id="23" name="Text 21"/>
          <p:cNvSpPr/>
          <p:nvPr/>
        </p:nvSpPr>
        <p:spPr>
          <a:xfrm>
            <a:off x="6364224" y="1234440"/>
            <a:ext cx="2331720" cy="365760"/>
          </a:xfrm>
          <a:prstGeom prst="rect">
            <a:avLst/>
          </a:prstGeom>
          <a:noFill/>
          <a:ln/>
        </p:spPr>
        <p:txBody>
          <a:bodyPr wrap="square" lIns="0" tIns="0" rIns="0" bIns="0" rtlCol="0" anchor="ctr"/>
          <a:lstStyle/>
          <a:p>
            <a:pPr marL="0" indent="0">
              <a:buNone/>
            </a:pPr>
            <a:r>
              <a:rPr lang="en-US" sz="1700" b="1" dirty="0">
                <a:solidFill>
                  <a:srgbClr val="21295C"/>
                </a:solidFill>
                <a:latin typeface="Calibri" pitchFamily="34" charset="0"/>
                <a:ea typeface="Calibri" pitchFamily="34" charset="-122"/>
                <a:cs typeface="Calibri" pitchFamily="34" charset="-120"/>
              </a:rPr>
              <a:t>CSU Fullerton</a:t>
            </a:r>
            <a:endParaRPr lang="en-US" sz="1700" dirty="0"/>
          </a:p>
        </p:txBody>
      </p:sp>
      <p:sp>
        <p:nvSpPr>
          <p:cNvPr id="24" name="Text 22"/>
          <p:cNvSpPr/>
          <p:nvPr/>
        </p:nvSpPr>
        <p:spPr>
          <a:xfrm>
            <a:off x="6364224" y="1618488"/>
            <a:ext cx="2331720" cy="274320"/>
          </a:xfrm>
          <a:prstGeom prst="rect">
            <a:avLst/>
          </a:prstGeom>
          <a:noFill/>
          <a:ln/>
        </p:spPr>
        <p:txBody>
          <a:bodyPr wrap="square" lIns="0" tIns="0" rIns="0" bIns="0" rtlCol="0" anchor="ctr"/>
          <a:lstStyle/>
          <a:p>
            <a:pPr marL="0" indent="0">
              <a:buNone/>
            </a:pPr>
            <a:r>
              <a:rPr lang="en-US" sz="1200" b="1" dirty="0">
                <a:solidFill>
                  <a:srgbClr val="1C7293"/>
                </a:solidFill>
                <a:latin typeface="Calibri" pitchFamily="34" charset="0"/>
                <a:ea typeface="Calibri" pitchFamily="34" charset="-122"/>
                <a:cs typeface="Calibri" pitchFamily="34" charset="-120"/>
              </a:rPr>
              <a:t>Faculty enablement</a:t>
            </a:r>
            <a:endParaRPr lang="en-US" sz="1200" dirty="0"/>
          </a:p>
        </p:txBody>
      </p:sp>
      <p:sp>
        <p:nvSpPr>
          <p:cNvPr id="25" name="Text 23"/>
          <p:cNvSpPr/>
          <p:nvPr/>
        </p:nvSpPr>
        <p:spPr>
          <a:xfrm>
            <a:off x="6364224" y="1965960"/>
            <a:ext cx="2331720" cy="1280160"/>
          </a:xfrm>
          <a:prstGeom prst="rect">
            <a:avLst/>
          </a:prstGeom>
          <a:noFill/>
          <a:ln/>
        </p:spPr>
        <p:txBody>
          <a:bodyPr wrap="square" lIns="0" tIns="0" rIns="0" bIns="0" rtlCol="0" anchor="ctr"/>
          <a:lstStyle/>
          <a:p>
            <a:pPr marL="0" indent="0">
              <a:buNone/>
            </a:pPr>
            <a:r>
              <a:rPr lang="en-US" sz="1200" dirty="0">
                <a:solidFill>
                  <a:srgbClr val="374151"/>
                </a:solidFill>
                <a:latin typeface="Calibri" pitchFamily="34" charset="0"/>
                <a:ea typeface="Calibri" pitchFamily="34" charset="-122"/>
                <a:cs typeface="Calibri" pitchFamily="34" charset="-120"/>
              </a:rPr>
              <a:t>IT + faculty + Academic Affairs partnership. Course modules co-designed with instructional designers.</a:t>
            </a:r>
            <a:endParaRPr lang="en-US" sz="1200" dirty="0"/>
          </a:p>
        </p:txBody>
      </p:sp>
      <p:sp>
        <p:nvSpPr>
          <p:cNvPr id="26" name="Shape 24"/>
          <p:cNvSpPr/>
          <p:nvPr/>
        </p:nvSpPr>
        <p:spPr>
          <a:xfrm>
            <a:off x="6364224" y="3337560"/>
            <a:ext cx="2331720" cy="0"/>
          </a:xfrm>
          <a:prstGeom prst="line">
            <a:avLst/>
          </a:prstGeom>
          <a:noFill/>
          <a:ln w="9525">
            <a:solidFill>
              <a:srgbClr val="CBD5E1"/>
            </a:solidFill>
            <a:prstDash val="solid"/>
          </a:ln>
        </p:spPr>
        <p:txBody>
          <a:bodyPr/>
          <a:lstStyle/>
          <a:p>
            <a:endParaRPr lang="en-US"/>
          </a:p>
        </p:txBody>
      </p:sp>
      <p:sp>
        <p:nvSpPr>
          <p:cNvPr id="27" name="Text 25"/>
          <p:cNvSpPr/>
          <p:nvPr/>
        </p:nvSpPr>
        <p:spPr>
          <a:xfrm>
            <a:off x="6364224" y="3429000"/>
            <a:ext cx="2331720" cy="228600"/>
          </a:xfrm>
          <a:prstGeom prst="rect">
            <a:avLst/>
          </a:prstGeom>
          <a:noFill/>
          <a:ln/>
        </p:spPr>
        <p:txBody>
          <a:bodyPr wrap="square" lIns="0" tIns="0" rIns="0" bIns="0" rtlCol="0" anchor="ctr"/>
          <a:lstStyle/>
          <a:p>
            <a:pPr marL="0" indent="0">
              <a:buNone/>
            </a:pPr>
            <a:r>
              <a:rPr lang="en-US" sz="900" b="1" kern="0" spc="300" dirty="0">
                <a:solidFill>
                  <a:srgbClr val="64748B"/>
                </a:solidFill>
                <a:latin typeface="Calibri" pitchFamily="34" charset="0"/>
                <a:ea typeface="Calibri" pitchFamily="34" charset="-122"/>
                <a:cs typeface="Calibri" pitchFamily="34" charset="-120"/>
              </a:rPr>
              <a:t>LESSON LEARNED</a:t>
            </a:r>
            <a:endParaRPr lang="en-US" sz="900" dirty="0"/>
          </a:p>
        </p:txBody>
      </p:sp>
      <p:sp>
        <p:nvSpPr>
          <p:cNvPr id="28" name="Text 26"/>
          <p:cNvSpPr/>
          <p:nvPr/>
        </p:nvSpPr>
        <p:spPr>
          <a:xfrm>
            <a:off x="6364224" y="3657600"/>
            <a:ext cx="2331720" cy="685800"/>
          </a:xfrm>
          <a:prstGeom prst="rect">
            <a:avLst/>
          </a:prstGeom>
          <a:noFill/>
          <a:ln/>
        </p:spPr>
        <p:txBody>
          <a:bodyPr wrap="square" lIns="0" tIns="0" rIns="0" bIns="0" rtlCol="0" anchor="ctr"/>
          <a:lstStyle/>
          <a:p>
            <a:pPr marL="0" indent="0">
              <a:buNone/>
            </a:pPr>
            <a:r>
              <a:rPr lang="en-US" sz="1050" i="1" dirty="0">
                <a:solidFill>
                  <a:srgbClr val="065A82"/>
                </a:solidFill>
                <a:latin typeface="Calibri" pitchFamily="34" charset="0"/>
                <a:ea typeface="Calibri" pitchFamily="34" charset="-122"/>
                <a:cs typeface="Calibri" pitchFamily="34" charset="-120"/>
              </a:rPr>
              <a:t>Lesson: "Jupyter is not just for STEM." Reusable course modules accelerate adoption.</a:t>
            </a:r>
            <a:endParaRPr lang="en-US" sz="1050" dirty="0"/>
          </a:p>
        </p:txBody>
      </p:sp>
      <p:sp>
        <p:nvSpPr>
          <p:cNvPr id="29" name="Text 27"/>
          <p:cNvSpPr/>
          <p:nvPr/>
        </p:nvSpPr>
        <p:spPr>
          <a:xfrm>
            <a:off x="457200" y="4800600"/>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NRP @ 7NRP  ·  ITS AI Community of Practice  ·  May 2026</a:t>
            </a:r>
            <a:endParaRPr lang="en-US" sz="900" dirty="0"/>
          </a:p>
        </p:txBody>
      </p:sp>
      <p:sp>
        <p:nvSpPr>
          <p:cNvPr id="30" name="Text 28"/>
          <p:cNvSpPr/>
          <p:nvPr/>
        </p:nvSpPr>
        <p:spPr>
          <a:xfrm>
            <a:off x="8229600" y="4800600"/>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11 / 19</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lIns="0" tIns="0" rIns="0" bIns="0" rtlCol="0" anchor="ctr"/>
          <a:lstStyle/>
          <a:p>
            <a:pPr marL="0" indent="0" algn="l">
              <a:buNone/>
            </a:pPr>
            <a:r>
              <a:rPr lang="en-US" sz="1100" b="1" kern="0" spc="400" dirty="0">
                <a:solidFill>
                  <a:srgbClr val="1C7293"/>
                </a:solidFill>
                <a:latin typeface="Calibri" pitchFamily="34" charset="0"/>
                <a:ea typeface="Calibri" pitchFamily="34" charset="-122"/>
                <a:cs typeface="Calibri" pitchFamily="34" charset="-120"/>
              </a:rPr>
              <a:t>WHAT GETS DONE ON NRP</a:t>
            </a:r>
            <a:endParaRPr lang="en-US" sz="1100" dirty="0"/>
          </a:p>
        </p:txBody>
      </p:sp>
      <p:sp>
        <p:nvSpPr>
          <p:cNvPr id="3" name="Text 1"/>
          <p:cNvSpPr/>
          <p:nvPr/>
        </p:nvSpPr>
        <p:spPr>
          <a:xfrm>
            <a:off x="457200" y="292608"/>
            <a:ext cx="8229600" cy="548640"/>
          </a:xfrm>
          <a:prstGeom prst="rect">
            <a:avLst/>
          </a:prstGeom>
          <a:noFill/>
          <a:ln/>
        </p:spPr>
        <p:txBody>
          <a:bodyPr wrap="square" lIns="0" tIns="0" rIns="0" bIns="0" rtlCol="0" anchor="ctr"/>
          <a:lstStyle/>
          <a:p>
            <a:pPr marL="0" indent="0" algn="l">
              <a:buNone/>
            </a:pPr>
            <a:r>
              <a:rPr lang="en-US" sz="2800" b="1" dirty="0">
                <a:solidFill>
                  <a:srgbClr val="21295C"/>
                </a:solidFill>
                <a:latin typeface="Calibri" pitchFamily="34" charset="0"/>
                <a:ea typeface="Calibri" pitchFamily="34" charset="-122"/>
                <a:cs typeface="Calibri" pitchFamily="34" charset="-120"/>
              </a:rPr>
              <a:t>A sample of the science</a:t>
            </a:r>
            <a:endParaRPr lang="en-US" sz="2800" dirty="0"/>
          </a:p>
        </p:txBody>
      </p:sp>
      <p:sp>
        <p:nvSpPr>
          <p:cNvPr id="4" name="Shape 2"/>
          <p:cNvSpPr/>
          <p:nvPr/>
        </p:nvSpPr>
        <p:spPr>
          <a:xfrm>
            <a:off x="457200" y="868680"/>
            <a:ext cx="8229600" cy="0"/>
          </a:xfrm>
          <a:prstGeom prst="line">
            <a:avLst/>
          </a:prstGeom>
          <a:noFill/>
          <a:ln w="9525">
            <a:solidFill>
              <a:srgbClr val="CBD5E1"/>
            </a:solidFill>
            <a:prstDash val="solid"/>
          </a:ln>
        </p:spPr>
        <p:txBody>
          <a:bodyPr/>
          <a:lstStyle/>
          <a:p>
            <a:endParaRPr lang="en-US"/>
          </a:p>
        </p:txBody>
      </p:sp>
      <p:sp>
        <p:nvSpPr>
          <p:cNvPr id="5" name="Shape 3"/>
          <p:cNvSpPr/>
          <p:nvPr/>
        </p:nvSpPr>
        <p:spPr>
          <a:xfrm>
            <a:off x="457200" y="1051560"/>
            <a:ext cx="2697480" cy="1508760"/>
          </a:xfrm>
          <a:prstGeom prst="rect">
            <a:avLst/>
          </a:prstGeom>
          <a:solidFill>
            <a:srgbClr val="F4F6FA"/>
          </a:solidFill>
          <a:ln w="12700">
            <a:solidFill>
              <a:srgbClr val="F4F6FA"/>
            </a:solidFill>
            <a:prstDash val="solid"/>
          </a:ln>
        </p:spPr>
        <p:txBody>
          <a:bodyPr/>
          <a:lstStyle/>
          <a:p>
            <a:endParaRPr lang="en-US"/>
          </a:p>
        </p:txBody>
      </p:sp>
      <p:sp>
        <p:nvSpPr>
          <p:cNvPr id="6" name="Text 4"/>
          <p:cNvSpPr/>
          <p:nvPr/>
        </p:nvSpPr>
        <p:spPr>
          <a:xfrm>
            <a:off x="621792" y="1161288"/>
            <a:ext cx="2423160" cy="228600"/>
          </a:xfrm>
          <a:prstGeom prst="rect">
            <a:avLst/>
          </a:prstGeom>
          <a:noFill/>
          <a:ln/>
        </p:spPr>
        <p:txBody>
          <a:bodyPr wrap="square" lIns="0" tIns="0" rIns="0" bIns="0" rtlCol="0" anchor="ctr"/>
          <a:lstStyle/>
          <a:p>
            <a:pPr marL="0" indent="0">
              <a:buNone/>
            </a:pPr>
            <a:r>
              <a:rPr lang="en-US" sz="900" b="1" kern="0" spc="400" dirty="0">
                <a:solidFill>
                  <a:srgbClr val="1C7293"/>
                </a:solidFill>
                <a:latin typeface="Calibri" pitchFamily="34" charset="0"/>
                <a:ea typeface="Calibri" pitchFamily="34" charset="-122"/>
                <a:cs typeface="Calibri" pitchFamily="34" charset="-120"/>
              </a:rPr>
              <a:t>AGRICULTURE</a:t>
            </a:r>
            <a:endParaRPr lang="en-US" sz="900" dirty="0"/>
          </a:p>
        </p:txBody>
      </p:sp>
      <p:sp>
        <p:nvSpPr>
          <p:cNvPr id="7" name="Text 5"/>
          <p:cNvSpPr/>
          <p:nvPr/>
        </p:nvSpPr>
        <p:spPr>
          <a:xfrm>
            <a:off x="621792" y="1371600"/>
            <a:ext cx="2423160" cy="310896"/>
          </a:xfrm>
          <a:prstGeom prst="rect">
            <a:avLst/>
          </a:prstGeom>
          <a:noFill/>
          <a:ln/>
        </p:spPr>
        <p:txBody>
          <a:bodyPr wrap="square" lIns="0" tIns="0" rIns="0" bIns="0"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AIIRA &amp; Iron Horse Vineyard</a:t>
            </a:r>
            <a:endParaRPr lang="en-US" sz="1300" dirty="0"/>
          </a:p>
        </p:txBody>
      </p:sp>
      <p:sp>
        <p:nvSpPr>
          <p:cNvPr id="8" name="Text 6"/>
          <p:cNvSpPr/>
          <p:nvPr/>
        </p:nvSpPr>
        <p:spPr>
          <a:xfrm>
            <a:off x="621792" y="1709928"/>
            <a:ext cx="2423160" cy="822960"/>
          </a:xfrm>
          <a:prstGeom prst="rect">
            <a:avLst/>
          </a:prstGeom>
          <a:noFill/>
          <a:ln/>
        </p:spPr>
        <p:txBody>
          <a:bodyPr wrap="square" lIns="0" tIns="0" rIns="0" bIns="0" rtlCol="0" anchor="ctr"/>
          <a:lstStyle/>
          <a:p>
            <a:pPr marL="0" indent="0">
              <a:buNone/>
            </a:pPr>
            <a:r>
              <a:rPr lang="en-US" sz="1000" dirty="0">
                <a:solidFill>
                  <a:srgbClr val="374151"/>
                </a:solidFill>
                <a:latin typeface="Calibri" pitchFamily="34" charset="0"/>
                <a:ea typeface="Calibri" pitchFamily="34" charset="-122"/>
                <a:cs typeface="Calibri" pitchFamily="34" charset="-120"/>
              </a:rPr>
              <a:t>InsectNet/WeedNet foundation models (98%+ accuracy across 3,800 insect species). 10G-connected vineyard testbed with drones, LoRaWAN sensors, and edge inference.</a:t>
            </a:r>
            <a:endParaRPr lang="en-US" sz="1000" dirty="0"/>
          </a:p>
        </p:txBody>
      </p:sp>
      <p:sp>
        <p:nvSpPr>
          <p:cNvPr id="9" name="Shape 7"/>
          <p:cNvSpPr/>
          <p:nvPr/>
        </p:nvSpPr>
        <p:spPr>
          <a:xfrm>
            <a:off x="3300984" y="1051560"/>
            <a:ext cx="2697480" cy="1508760"/>
          </a:xfrm>
          <a:prstGeom prst="rect">
            <a:avLst/>
          </a:prstGeom>
          <a:solidFill>
            <a:srgbClr val="F4F6FA"/>
          </a:solidFill>
          <a:ln w="12700">
            <a:solidFill>
              <a:srgbClr val="F4F6FA"/>
            </a:solidFill>
            <a:prstDash val="solid"/>
          </a:ln>
        </p:spPr>
        <p:txBody>
          <a:bodyPr/>
          <a:lstStyle/>
          <a:p>
            <a:endParaRPr lang="en-US"/>
          </a:p>
        </p:txBody>
      </p:sp>
      <p:sp>
        <p:nvSpPr>
          <p:cNvPr id="10" name="Text 8"/>
          <p:cNvSpPr/>
          <p:nvPr/>
        </p:nvSpPr>
        <p:spPr>
          <a:xfrm>
            <a:off x="3465576" y="1161288"/>
            <a:ext cx="2423160" cy="228600"/>
          </a:xfrm>
          <a:prstGeom prst="rect">
            <a:avLst/>
          </a:prstGeom>
          <a:noFill/>
          <a:ln/>
        </p:spPr>
        <p:txBody>
          <a:bodyPr wrap="square" lIns="0" tIns="0" rIns="0" bIns="0" rtlCol="0" anchor="ctr"/>
          <a:lstStyle/>
          <a:p>
            <a:pPr marL="0" indent="0">
              <a:buNone/>
            </a:pPr>
            <a:r>
              <a:rPr lang="en-US" sz="900" b="1" kern="0" spc="400" dirty="0">
                <a:solidFill>
                  <a:srgbClr val="1C7293"/>
                </a:solidFill>
                <a:latin typeface="Calibri" pitchFamily="34" charset="0"/>
                <a:ea typeface="Calibri" pitchFamily="34" charset="-122"/>
                <a:cs typeface="Calibri" pitchFamily="34" charset="-120"/>
              </a:rPr>
              <a:t>WILDFIRE</a:t>
            </a:r>
            <a:endParaRPr lang="en-US" sz="900" dirty="0"/>
          </a:p>
        </p:txBody>
      </p:sp>
      <p:sp>
        <p:nvSpPr>
          <p:cNvPr id="11" name="Text 9"/>
          <p:cNvSpPr/>
          <p:nvPr/>
        </p:nvSpPr>
        <p:spPr>
          <a:xfrm>
            <a:off x="3465576" y="1371600"/>
            <a:ext cx="2423160" cy="310896"/>
          </a:xfrm>
          <a:prstGeom prst="rect">
            <a:avLst/>
          </a:prstGeom>
          <a:noFill/>
          <a:ln/>
        </p:spPr>
        <p:txBody>
          <a:bodyPr wrap="square" lIns="0" tIns="0" rIns="0" bIns="0"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BurnPro3D</a:t>
            </a:r>
            <a:endParaRPr lang="en-US" sz="1300" dirty="0"/>
          </a:p>
        </p:txBody>
      </p:sp>
      <p:sp>
        <p:nvSpPr>
          <p:cNvPr id="12" name="Text 10"/>
          <p:cNvSpPr/>
          <p:nvPr/>
        </p:nvSpPr>
        <p:spPr>
          <a:xfrm>
            <a:off x="3465576" y="1709928"/>
            <a:ext cx="2423160" cy="822960"/>
          </a:xfrm>
          <a:prstGeom prst="rect">
            <a:avLst/>
          </a:prstGeom>
          <a:noFill/>
          <a:ln/>
        </p:spPr>
        <p:txBody>
          <a:bodyPr wrap="square" lIns="0" tIns="0" rIns="0" bIns="0" rtlCol="0" anchor="ctr"/>
          <a:lstStyle/>
          <a:p>
            <a:pPr marL="0" indent="0">
              <a:buNone/>
            </a:pPr>
            <a:r>
              <a:rPr lang="en-US" sz="1000" dirty="0">
                <a:solidFill>
                  <a:srgbClr val="374151"/>
                </a:solidFill>
                <a:latin typeface="Calibri" pitchFamily="34" charset="0"/>
                <a:ea typeface="Calibri" pitchFamily="34" charset="-122"/>
                <a:cs typeface="Calibri" pitchFamily="34" charset="-120"/>
              </a:rPr>
              <a:t>Operational 3D fire and smoke modeling for prescribed burns. NRP supplies bursty elastic compute; CAL FIRE uses outputs in the Napa vineyard region.</a:t>
            </a:r>
            <a:endParaRPr lang="en-US" sz="1000" dirty="0"/>
          </a:p>
        </p:txBody>
      </p:sp>
      <p:sp>
        <p:nvSpPr>
          <p:cNvPr id="13" name="Shape 11"/>
          <p:cNvSpPr/>
          <p:nvPr/>
        </p:nvSpPr>
        <p:spPr>
          <a:xfrm>
            <a:off x="6144768" y="1051560"/>
            <a:ext cx="2697480" cy="1508760"/>
          </a:xfrm>
          <a:prstGeom prst="rect">
            <a:avLst/>
          </a:prstGeom>
          <a:solidFill>
            <a:srgbClr val="F4F6FA"/>
          </a:solidFill>
          <a:ln w="12700">
            <a:solidFill>
              <a:srgbClr val="F4F6FA"/>
            </a:solidFill>
            <a:prstDash val="solid"/>
          </a:ln>
        </p:spPr>
        <p:txBody>
          <a:bodyPr/>
          <a:lstStyle/>
          <a:p>
            <a:endParaRPr lang="en-US"/>
          </a:p>
        </p:txBody>
      </p:sp>
      <p:sp>
        <p:nvSpPr>
          <p:cNvPr id="14" name="Text 12"/>
          <p:cNvSpPr/>
          <p:nvPr/>
        </p:nvSpPr>
        <p:spPr>
          <a:xfrm>
            <a:off x="6309360" y="1161288"/>
            <a:ext cx="2423160" cy="228600"/>
          </a:xfrm>
          <a:prstGeom prst="rect">
            <a:avLst/>
          </a:prstGeom>
          <a:noFill/>
          <a:ln/>
        </p:spPr>
        <p:txBody>
          <a:bodyPr wrap="square" lIns="0" tIns="0" rIns="0" bIns="0" rtlCol="0" anchor="ctr"/>
          <a:lstStyle/>
          <a:p>
            <a:pPr marL="0" indent="0">
              <a:buNone/>
            </a:pPr>
            <a:r>
              <a:rPr lang="en-US" sz="900" b="1" kern="0" spc="400" dirty="0">
                <a:solidFill>
                  <a:srgbClr val="1C7293"/>
                </a:solidFill>
                <a:latin typeface="Calibri" pitchFamily="34" charset="0"/>
                <a:ea typeface="Calibri" pitchFamily="34" charset="-122"/>
                <a:cs typeface="Calibri" pitchFamily="34" charset="-120"/>
              </a:rPr>
              <a:t>CLIMATE</a:t>
            </a:r>
            <a:endParaRPr lang="en-US" sz="900" dirty="0"/>
          </a:p>
        </p:txBody>
      </p:sp>
      <p:sp>
        <p:nvSpPr>
          <p:cNvPr id="15" name="Text 13"/>
          <p:cNvSpPr/>
          <p:nvPr/>
        </p:nvSpPr>
        <p:spPr>
          <a:xfrm>
            <a:off x="6309360" y="1371600"/>
            <a:ext cx="2423160" cy="310896"/>
          </a:xfrm>
          <a:prstGeom prst="rect">
            <a:avLst/>
          </a:prstGeom>
          <a:noFill/>
          <a:ln/>
        </p:spPr>
        <p:txBody>
          <a:bodyPr wrap="square" lIns="0" tIns="0" rIns="0" bIns="0"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JAX-based climate emulators</a:t>
            </a:r>
            <a:endParaRPr lang="en-US" sz="1300" dirty="0"/>
          </a:p>
        </p:txBody>
      </p:sp>
      <p:sp>
        <p:nvSpPr>
          <p:cNvPr id="16" name="Text 14"/>
          <p:cNvSpPr/>
          <p:nvPr/>
        </p:nvSpPr>
        <p:spPr>
          <a:xfrm>
            <a:off x="6309360" y="1709928"/>
            <a:ext cx="2423160" cy="822960"/>
          </a:xfrm>
          <a:prstGeom prst="rect">
            <a:avLst/>
          </a:prstGeom>
          <a:noFill/>
          <a:ln/>
        </p:spPr>
        <p:txBody>
          <a:bodyPr wrap="square" lIns="0" tIns="0" rIns="0" bIns="0" rtlCol="0" anchor="ctr"/>
          <a:lstStyle/>
          <a:p>
            <a:pPr marL="0" indent="0">
              <a:buNone/>
            </a:pPr>
            <a:r>
              <a:rPr lang="en-US" sz="1000" dirty="0">
                <a:solidFill>
                  <a:srgbClr val="374151"/>
                </a:solidFill>
                <a:latin typeface="Calibri" pitchFamily="34" charset="0"/>
                <a:ea typeface="Calibri" pitchFamily="34" charset="-122"/>
                <a:cs typeface="Calibri" pitchFamily="34" charset="-120"/>
              </a:rPr>
              <a:t>Differentiable, portable climate models running on CPU/GPU/TPU. Bridges satellite observations and global simulations via deep learning.</a:t>
            </a:r>
            <a:endParaRPr lang="en-US" sz="1000" dirty="0"/>
          </a:p>
        </p:txBody>
      </p:sp>
      <p:sp>
        <p:nvSpPr>
          <p:cNvPr id="17" name="Shape 15"/>
          <p:cNvSpPr/>
          <p:nvPr/>
        </p:nvSpPr>
        <p:spPr>
          <a:xfrm>
            <a:off x="457200" y="2706624"/>
            <a:ext cx="2697480" cy="1508760"/>
          </a:xfrm>
          <a:prstGeom prst="rect">
            <a:avLst/>
          </a:prstGeom>
          <a:solidFill>
            <a:srgbClr val="F4F6FA"/>
          </a:solidFill>
          <a:ln w="12700">
            <a:solidFill>
              <a:srgbClr val="F4F6FA"/>
            </a:solidFill>
            <a:prstDash val="solid"/>
          </a:ln>
        </p:spPr>
        <p:txBody>
          <a:bodyPr/>
          <a:lstStyle/>
          <a:p>
            <a:endParaRPr lang="en-US"/>
          </a:p>
        </p:txBody>
      </p:sp>
      <p:sp>
        <p:nvSpPr>
          <p:cNvPr id="18" name="Text 16"/>
          <p:cNvSpPr/>
          <p:nvPr/>
        </p:nvSpPr>
        <p:spPr>
          <a:xfrm>
            <a:off x="621792" y="2816352"/>
            <a:ext cx="2423160" cy="228600"/>
          </a:xfrm>
          <a:prstGeom prst="rect">
            <a:avLst/>
          </a:prstGeom>
          <a:noFill/>
          <a:ln/>
        </p:spPr>
        <p:txBody>
          <a:bodyPr wrap="square" lIns="0" tIns="0" rIns="0" bIns="0" rtlCol="0" anchor="ctr"/>
          <a:lstStyle/>
          <a:p>
            <a:pPr marL="0" indent="0">
              <a:buNone/>
            </a:pPr>
            <a:r>
              <a:rPr lang="en-US" sz="900" b="1" kern="0" spc="400" dirty="0">
                <a:solidFill>
                  <a:srgbClr val="1C7293"/>
                </a:solidFill>
                <a:latin typeface="Calibri" pitchFamily="34" charset="0"/>
                <a:ea typeface="Calibri" pitchFamily="34" charset="-122"/>
                <a:cs typeface="Calibri" pitchFamily="34" charset="-120"/>
              </a:rPr>
              <a:t>HEALTH</a:t>
            </a:r>
            <a:endParaRPr lang="en-US" sz="900" dirty="0"/>
          </a:p>
        </p:txBody>
      </p:sp>
      <p:sp>
        <p:nvSpPr>
          <p:cNvPr id="19" name="Text 17"/>
          <p:cNvSpPr/>
          <p:nvPr/>
        </p:nvSpPr>
        <p:spPr>
          <a:xfrm>
            <a:off x="621792" y="3026664"/>
            <a:ext cx="2423160" cy="310896"/>
          </a:xfrm>
          <a:prstGeom prst="rect">
            <a:avLst/>
          </a:prstGeom>
          <a:noFill/>
          <a:ln/>
        </p:spPr>
        <p:txBody>
          <a:bodyPr wrap="square" lIns="0" tIns="0" rIns="0" bIns="0"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Brain MRI for Alzheimer's</a:t>
            </a:r>
            <a:endParaRPr lang="en-US" sz="1300" dirty="0"/>
          </a:p>
        </p:txBody>
      </p:sp>
      <p:sp>
        <p:nvSpPr>
          <p:cNvPr id="20" name="Text 18"/>
          <p:cNvSpPr/>
          <p:nvPr/>
        </p:nvSpPr>
        <p:spPr>
          <a:xfrm>
            <a:off x="621792" y="3364992"/>
            <a:ext cx="2423160" cy="822960"/>
          </a:xfrm>
          <a:prstGeom prst="rect">
            <a:avLst/>
          </a:prstGeom>
          <a:noFill/>
          <a:ln/>
        </p:spPr>
        <p:txBody>
          <a:bodyPr wrap="square" lIns="0" tIns="0" rIns="0" bIns="0" rtlCol="0" anchor="ctr"/>
          <a:lstStyle/>
          <a:p>
            <a:pPr marL="0" indent="0">
              <a:buNone/>
            </a:pPr>
            <a:r>
              <a:rPr lang="en-US" sz="1000" dirty="0">
                <a:solidFill>
                  <a:srgbClr val="374151"/>
                </a:solidFill>
                <a:latin typeface="Calibri" pitchFamily="34" charset="0"/>
                <a:ea typeface="Calibri" pitchFamily="34" charset="-122"/>
                <a:cs typeface="Calibri" pitchFamily="34" charset="-120"/>
              </a:rPr>
              <a:t>CSU Fullerton grad student Akshat Desai — 4,500 GPU hours extracting texture and shape features from hippocampal subfields across 1,200 participants.</a:t>
            </a:r>
            <a:endParaRPr lang="en-US" sz="1000" dirty="0"/>
          </a:p>
        </p:txBody>
      </p:sp>
      <p:sp>
        <p:nvSpPr>
          <p:cNvPr id="21" name="Shape 19"/>
          <p:cNvSpPr/>
          <p:nvPr/>
        </p:nvSpPr>
        <p:spPr>
          <a:xfrm>
            <a:off x="3300984" y="2706624"/>
            <a:ext cx="2697480" cy="1508760"/>
          </a:xfrm>
          <a:prstGeom prst="rect">
            <a:avLst/>
          </a:prstGeom>
          <a:solidFill>
            <a:srgbClr val="F4F6FA"/>
          </a:solidFill>
          <a:ln w="12700">
            <a:solidFill>
              <a:srgbClr val="F4F6FA"/>
            </a:solidFill>
            <a:prstDash val="solid"/>
          </a:ln>
        </p:spPr>
        <p:txBody>
          <a:bodyPr/>
          <a:lstStyle/>
          <a:p>
            <a:endParaRPr lang="en-US"/>
          </a:p>
        </p:txBody>
      </p:sp>
      <p:sp>
        <p:nvSpPr>
          <p:cNvPr id="22" name="Text 20"/>
          <p:cNvSpPr/>
          <p:nvPr/>
        </p:nvSpPr>
        <p:spPr>
          <a:xfrm>
            <a:off x="3465576" y="2816352"/>
            <a:ext cx="2423160" cy="228600"/>
          </a:xfrm>
          <a:prstGeom prst="rect">
            <a:avLst/>
          </a:prstGeom>
          <a:noFill/>
          <a:ln/>
        </p:spPr>
        <p:txBody>
          <a:bodyPr wrap="square" lIns="0" tIns="0" rIns="0" bIns="0" rtlCol="0" anchor="ctr"/>
          <a:lstStyle/>
          <a:p>
            <a:pPr marL="0" indent="0">
              <a:buNone/>
            </a:pPr>
            <a:r>
              <a:rPr lang="en-US" sz="900" b="1" kern="0" spc="400" dirty="0">
                <a:solidFill>
                  <a:srgbClr val="1C7293"/>
                </a:solidFill>
                <a:latin typeface="Calibri" pitchFamily="34" charset="0"/>
                <a:ea typeface="Calibri" pitchFamily="34" charset="-122"/>
                <a:cs typeface="Calibri" pitchFamily="34" charset="-120"/>
              </a:rPr>
              <a:t>MATERIALS</a:t>
            </a:r>
            <a:endParaRPr lang="en-US" sz="900" dirty="0"/>
          </a:p>
        </p:txBody>
      </p:sp>
      <p:sp>
        <p:nvSpPr>
          <p:cNvPr id="23" name="Text 21"/>
          <p:cNvSpPr/>
          <p:nvPr/>
        </p:nvSpPr>
        <p:spPr>
          <a:xfrm>
            <a:off x="3465576" y="3026664"/>
            <a:ext cx="2423160" cy="310896"/>
          </a:xfrm>
          <a:prstGeom prst="rect">
            <a:avLst/>
          </a:prstGeom>
          <a:noFill/>
          <a:ln/>
        </p:spPr>
        <p:txBody>
          <a:bodyPr wrap="square" lIns="0" tIns="0" rIns="0" bIns="0"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Quantum molecular dynamics</a:t>
            </a:r>
            <a:endParaRPr lang="en-US" sz="1300" dirty="0"/>
          </a:p>
        </p:txBody>
      </p:sp>
      <p:sp>
        <p:nvSpPr>
          <p:cNvPr id="24" name="Text 22"/>
          <p:cNvSpPr/>
          <p:nvPr/>
        </p:nvSpPr>
        <p:spPr>
          <a:xfrm>
            <a:off x="3465576" y="3364992"/>
            <a:ext cx="2423160" cy="822960"/>
          </a:xfrm>
          <a:prstGeom prst="rect">
            <a:avLst/>
          </a:prstGeom>
          <a:noFill/>
          <a:ln/>
        </p:spPr>
        <p:txBody>
          <a:bodyPr wrap="square" lIns="0" tIns="0" rIns="0" bIns="0" rtlCol="0" anchor="ctr"/>
          <a:lstStyle/>
          <a:p>
            <a:pPr marL="0" indent="0">
              <a:buNone/>
            </a:pPr>
            <a:r>
              <a:rPr lang="en-US" sz="1000" dirty="0">
                <a:solidFill>
                  <a:srgbClr val="374151"/>
                </a:solidFill>
                <a:latin typeface="Calibri" pitchFamily="34" charset="0"/>
                <a:ea typeface="Calibri" pitchFamily="34" charset="-122"/>
                <a:cs typeface="Calibri" pitchFamily="34" charset="-120"/>
              </a:rPr>
              <a:t>CSU San Bernardino — Kimberly Cousins runs custom JupyterHubs for VASP simulations (50K GPU hours/year) discovering new hybrid solids.</a:t>
            </a:r>
            <a:endParaRPr lang="en-US" sz="1000" dirty="0"/>
          </a:p>
        </p:txBody>
      </p:sp>
      <p:sp>
        <p:nvSpPr>
          <p:cNvPr id="25" name="Shape 23"/>
          <p:cNvSpPr/>
          <p:nvPr/>
        </p:nvSpPr>
        <p:spPr>
          <a:xfrm>
            <a:off x="6144768" y="2706624"/>
            <a:ext cx="2697480" cy="1508760"/>
          </a:xfrm>
          <a:prstGeom prst="rect">
            <a:avLst/>
          </a:prstGeom>
          <a:solidFill>
            <a:srgbClr val="F4F6FA"/>
          </a:solidFill>
          <a:ln w="12700">
            <a:solidFill>
              <a:srgbClr val="F4F6FA"/>
            </a:solidFill>
            <a:prstDash val="solid"/>
          </a:ln>
        </p:spPr>
        <p:txBody>
          <a:bodyPr/>
          <a:lstStyle/>
          <a:p>
            <a:endParaRPr lang="en-US"/>
          </a:p>
        </p:txBody>
      </p:sp>
      <p:sp>
        <p:nvSpPr>
          <p:cNvPr id="26" name="Text 24"/>
          <p:cNvSpPr/>
          <p:nvPr/>
        </p:nvSpPr>
        <p:spPr>
          <a:xfrm>
            <a:off x="6309360" y="2816352"/>
            <a:ext cx="2423160" cy="228600"/>
          </a:xfrm>
          <a:prstGeom prst="rect">
            <a:avLst/>
          </a:prstGeom>
          <a:noFill/>
          <a:ln/>
        </p:spPr>
        <p:txBody>
          <a:bodyPr wrap="square" lIns="0" tIns="0" rIns="0" bIns="0" rtlCol="0" anchor="ctr"/>
          <a:lstStyle/>
          <a:p>
            <a:pPr marL="0" indent="0">
              <a:buNone/>
            </a:pPr>
            <a:r>
              <a:rPr lang="en-US" sz="900" b="1" kern="0" spc="400" dirty="0">
                <a:solidFill>
                  <a:srgbClr val="1C7293"/>
                </a:solidFill>
                <a:latin typeface="Calibri" pitchFamily="34" charset="0"/>
                <a:ea typeface="Calibri" pitchFamily="34" charset="-122"/>
                <a:cs typeface="Calibri" pitchFamily="34" charset="-120"/>
              </a:rPr>
              <a:t>GENOMICS</a:t>
            </a:r>
            <a:endParaRPr lang="en-US" sz="900" dirty="0"/>
          </a:p>
        </p:txBody>
      </p:sp>
      <p:sp>
        <p:nvSpPr>
          <p:cNvPr id="27" name="Text 25"/>
          <p:cNvSpPr/>
          <p:nvPr/>
        </p:nvSpPr>
        <p:spPr>
          <a:xfrm>
            <a:off x="6309360" y="3026664"/>
            <a:ext cx="2423160" cy="310896"/>
          </a:xfrm>
          <a:prstGeom prst="rect">
            <a:avLst/>
          </a:prstGeom>
          <a:noFill/>
          <a:ln/>
        </p:spPr>
        <p:txBody>
          <a:bodyPr wrap="square" lIns="0" tIns="0" rIns="0" bIns="0"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Deep regulatory genomics</a:t>
            </a:r>
            <a:endParaRPr lang="en-US" sz="1300" dirty="0"/>
          </a:p>
        </p:txBody>
      </p:sp>
      <p:sp>
        <p:nvSpPr>
          <p:cNvPr id="28" name="Text 26"/>
          <p:cNvSpPr/>
          <p:nvPr/>
        </p:nvSpPr>
        <p:spPr>
          <a:xfrm>
            <a:off x="6309360" y="3364992"/>
            <a:ext cx="2423160" cy="822960"/>
          </a:xfrm>
          <a:prstGeom prst="rect">
            <a:avLst/>
          </a:prstGeom>
          <a:noFill/>
          <a:ln/>
        </p:spPr>
        <p:txBody>
          <a:bodyPr wrap="square" lIns="0" tIns="0" rIns="0" bIns="0" rtlCol="0" anchor="ctr"/>
          <a:lstStyle/>
          <a:p>
            <a:pPr marL="0" indent="0">
              <a:buNone/>
            </a:pPr>
            <a:r>
              <a:rPr lang="en-US" sz="1000" dirty="0">
                <a:solidFill>
                  <a:srgbClr val="374151"/>
                </a:solidFill>
                <a:latin typeface="Calibri" pitchFamily="34" charset="0"/>
                <a:ea typeface="Calibri" pitchFamily="34" charset="-122"/>
                <a:cs typeface="Calibri" pitchFamily="34" charset="-120"/>
              </a:rPr>
              <a:t>Stanford — Anshul Kundaje used 130K GPU hours decoding gene regulation. Cal Poly's Lauren Chan ran 253 hours on the same platform.</a:t>
            </a:r>
            <a:endParaRPr lang="en-US" sz="1000" dirty="0"/>
          </a:p>
        </p:txBody>
      </p:sp>
      <p:sp>
        <p:nvSpPr>
          <p:cNvPr id="29" name="Text 27"/>
          <p:cNvSpPr/>
          <p:nvPr/>
        </p:nvSpPr>
        <p:spPr>
          <a:xfrm>
            <a:off x="457200" y="4800600"/>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NRP @ 7NRP  ·  ITS AI Community of Practice  ·  May 2026</a:t>
            </a:r>
            <a:endParaRPr lang="en-US" sz="900" dirty="0"/>
          </a:p>
        </p:txBody>
      </p:sp>
      <p:sp>
        <p:nvSpPr>
          <p:cNvPr id="30" name="Text 28"/>
          <p:cNvSpPr/>
          <p:nvPr/>
        </p:nvSpPr>
        <p:spPr>
          <a:xfrm>
            <a:off x="8229600" y="4800600"/>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12 / 19</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lIns="0" tIns="0" rIns="0" bIns="0" rtlCol="0" anchor="ctr"/>
          <a:lstStyle/>
          <a:p>
            <a:pPr marL="0" indent="0" algn="l">
              <a:buNone/>
            </a:pPr>
            <a:r>
              <a:rPr lang="en-US" sz="1100" b="1" kern="0" spc="400" dirty="0">
                <a:solidFill>
                  <a:srgbClr val="1C7293"/>
                </a:solidFill>
                <a:latin typeface="Calibri" pitchFamily="34" charset="0"/>
                <a:ea typeface="Calibri" pitchFamily="34" charset="-122"/>
                <a:cs typeface="Calibri" pitchFamily="34" charset="-120"/>
              </a:rPr>
              <a:t>EDUCATION AT SCALE</a:t>
            </a:r>
            <a:endParaRPr lang="en-US" sz="1100" dirty="0"/>
          </a:p>
        </p:txBody>
      </p:sp>
      <p:sp>
        <p:nvSpPr>
          <p:cNvPr id="3" name="Text 1"/>
          <p:cNvSpPr/>
          <p:nvPr/>
        </p:nvSpPr>
        <p:spPr>
          <a:xfrm>
            <a:off x="457200" y="292608"/>
            <a:ext cx="8229600" cy="548640"/>
          </a:xfrm>
          <a:prstGeom prst="rect">
            <a:avLst/>
          </a:prstGeom>
          <a:noFill/>
          <a:ln/>
        </p:spPr>
        <p:txBody>
          <a:bodyPr wrap="square" lIns="0" tIns="0" rIns="0" bIns="0" rtlCol="0" anchor="ctr"/>
          <a:lstStyle/>
          <a:p>
            <a:pPr marL="0" indent="0" algn="l">
              <a:buNone/>
            </a:pPr>
            <a:r>
              <a:rPr lang="en-US" sz="2800" b="1" dirty="0">
                <a:solidFill>
                  <a:srgbClr val="21295C"/>
                </a:solidFill>
                <a:latin typeface="Calibri" pitchFamily="34" charset="0"/>
                <a:ea typeface="Calibri" pitchFamily="34" charset="-122"/>
                <a:cs typeface="Calibri" pitchFamily="34" charset="-120"/>
              </a:rPr>
              <a:t>UCSD's case for digital assets in the classroom</a:t>
            </a:r>
            <a:endParaRPr lang="en-US" sz="2800" dirty="0"/>
          </a:p>
        </p:txBody>
      </p:sp>
      <p:sp>
        <p:nvSpPr>
          <p:cNvPr id="4" name="Shape 2"/>
          <p:cNvSpPr/>
          <p:nvPr/>
        </p:nvSpPr>
        <p:spPr>
          <a:xfrm>
            <a:off x="457200" y="868680"/>
            <a:ext cx="8229600" cy="0"/>
          </a:xfrm>
          <a:prstGeom prst="line">
            <a:avLst/>
          </a:prstGeom>
          <a:noFill/>
          <a:ln w="9525">
            <a:solidFill>
              <a:srgbClr val="CBD5E1"/>
            </a:solidFill>
            <a:prstDash val="solid"/>
          </a:ln>
        </p:spPr>
        <p:txBody>
          <a:bodyPr/>
          <a:lstStyle/>
          <a:p>
            <a:endParaRPr lang="en-US"/>
          </a:p>
        </p:txBody>
      </p:sp>
      <p:sp>
        <p:nvSpPr>
          <p:cNvPr id="5" name="Shape 3"/>
          <p:cNvSpPr/>
          <p:nvPr/>
        </p:nvSpPr>
        <p:spPr>
          <a:xfrm>
            <a:off x="457200" y="1051560"/>
            <a:ext cx="3383280" cy="3383280"/>
          </a:xfrm>
          <a:prstGeom prst="rect">
            <a:avLst/>
          </a:prstGeom>
          <a:solidFill>
            <a:srgbClr val="21295C"/>
          </a:solidFill>
          <a:ln w="12700">
            <a:solidFill>
              <a:srgbClr val="21295C"/>
            </a:solidFill>
            <a:prstDash val="solid"/>
          </a:ln>
        </p:spPr>
        <p:txBody>
          <a:bodyPr/>
          <a:lstStyle/>
          <a:p>
            <a:endParaRPr lang="en-US"/>
          </a:p>
        </p:txBody>
      </p:sp>
      <p:sp>
        <p:nvSpPr>
          <p:cNvPr id="6" name="Text 4"/>
          <p:cNvSpPr/>
          <p:nvPr/>
        </p:nvSpPr>
        <p:spPr>
          <a:xfrm>
            <a:off x="640080" y="1188720"/>
            <a:ext cx="3017520" cy="914400"/>
          </a:xfrm>
          <a:prstGeom prst="rect">
            <a:avLst/>
          </a:prstGeom>
          <a:noFill/>
          <a:ln/>
        </p:spPr>
        <p:txBody>
          <a:bodyPr wrap="square" lIns="0" tIns="0" rIns="0" bIns="0" rtlCol="0" anchor="ctr"/>
          <a:lstStyle/>
          <a:p>
            <a:pPr marL="0" indent="0" algn="l">
              <a:buNone/>
            </a:pPr>
            <a:r>
              <a:rPr lang="en-US" sz="5600" b="1" dirty="0">
                <a:solidFill>
                  <a:srgbClr val="FFFFFF"/>
                </a:solidFill>
                <a:latin typeface="Calibri" pitchFamily="34" charset="0"/>
                <a:ea typeface="Calibri" pitchFamily="34" charset="-122"/>
                <a:cs typeface="Calibri" pitchFamily="34" charset="-120"/>
              </a:rPr>
              <a:t>30,000</a:t>
            </a:r>
            <a:endParaRPr lang="en-US" sz="5600" dirty="0"/>
          </a:p>
        </p:txBody>
      </p:sp>
      <p:sp>
        <p:nvSpPr>
          <p:cNvPr id="7" name="Text 5"/>
          <p:cNvSpPr/>
          <p:nvPr/>
        </p:nvSpPr>
        <p:spPr>
          <a:xfrm>
            <a:off x="640080" y="2194560"/>
            <a:ext cx="3017520" cy="73152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students per year on UCSD DataHub, across 30 departments.</a:t>
            </a:r>
            <a:endParaRPr lang="en-US" sz="1400" dirty="0"/>
          </a:p>
        </p:txBody>
      </p:sp>
      <p:sp>
        <p:nvSpPr>
          <p:cNvPr id="8" name="Text 6"/>
          <p:cNvSpPr/>
          <p:nvPr/>
        </p:nvSpPr>
        <p:spPr>
          <a:xfrm>
            <a:off x="640080" y="3108960"/>
            <a:ext cx="3017520" cy="640080"/>
          </a:xfrm>
          <a:prstGeom prst="rect">
            <a:avLst/>
          </a:prstGeom>
          <a:noFill/>
          <a:ln/>
        </p:spPr>
        <p:txBody>
          <a:bodyPr wrap="square" lIns="0" tIns="0" rIns="0" bIns="0" rtlCol="0" anchor="ctr"/>
          <a:lstStyle/>
          <a:p>
            <a:pPr marL="0" indent="0">
              <a:buNone/>
            </a:pPr>
            <a:r>
              <a:rPr lang="en-US" sz="1200" i="1" dirty="0">
                <a:solidFill>
                  <a:srgbClr val="C5D8E5"/>
                </a:solidFill>
                <a:latin typeface="Calibri" pitchFamily="34" charset="0"/>
                <a:ea typeface="Calibri" pitchFamily="34" charset="-122"/>
                <a:cs typeface="Calibri" pitchFamily="34" charset="-120"/>
              </a:rPr>
              <a:t>1,523 students in a single Music + Machine Learning class (Spring 2025).</a:t>
            </a:r>
            <a:endParaRPr lang="en-US" sz="1200" dirty="0"/>
          </a:p>
        </p:txBody>
      </p:sp>
      <p:sp>
        <p:nvSpPr>
          <p:cNvPr id="9" name="Text 7"/>
          <p:cNvSpPr/>
          <p:nvPr/>
        </p:nvSpPr>
        <p:spPr>
          <a:xfrm>
            <a:off x="640080" y="4023360"/>
            <a:ext cx="3017520" cy="320040"/>
          </a:xfrm>
          <a:prstGeom prst="rect">
            <a:avLst/>
          </a:prstGeom>
          <a:noFill/>
          <a:ln/>
        </p:spPr>
        <p:txBody>
          <a:bodyPr wrap="square" lIns="0" tIns="0" rIns="0" bIns="0" rtlCol="0" anchor="ctr"/>
          <a:lstStyle/>
          <a:p>
            <a:pPr marL="0" indent="0">
              <a:buNone/>
            </a:pPr>
            <a:r>
              <a:rPr lang="en-US" sz="1100" dirty="0">
                <a:solidFill>
                  <a:srgbClr val="9CB7CB"/>
                </a:solidFill>
                <a:latin typeface="Calibri" pitchFamily="34" charset="0"/>
                <a:ea typeface="Calibri" pitchFamily="34" charset="-122"/>
                <a:cs typeface="Calibri" pitchFamily="34" charset="-120"/>
              </a:rPr>
              <a:t>— Sam Lau, UCSD</a:t>
            </a:r>
            <a:endParaRPr lang="en-US" sz="1100" dirty="0"/>
          </a:p>
        </p:txBody>
      </p:sp>
      <p:sp>
        <p:nvSpPr>
          <p:cNvPr id="10" name="Text 8"/>
          <p:cNvSpPr/>
          <p:nvPr/>
        </p:nvSpPr>
        <p:spPr>
          <a:xfrm>
            <a:off x="4114800" y="1051560"/>
            <a:ext cx="822960" cy="365760"/>
          </a:xfrm>
          <a:prstGeom prst="rect">
            <a:avLst/>
          </a:prstGeom>
          <a:noFill/>
          <a:ln/>
        </p:spPr>
        <p:txBody>
          <a:bodyPr wrap="square" lIns="0" tIns="0" rIns="0" bIns="0" rtlCol="0" anchor="ctr"/>
          <a:lstStyle/>
          <a:p>
            <a:pPr marL="0" indent="0">
              <a:buNone/>
            </a:pPr>
            <a:r>
              <a:rPr lang="en-US" sz="1800" b="1" dirty="0">
                <a:solidFill>
                  <a:srgbClr val="065A82"/>
                </a:solidFill>
                <a:latin typeface="Calibri" pitchFamily="34" charset="0"/>
                <a:ea typeface="Calibri" pitchFamily="34" charset="-122"/>
                <a:cs typeface="Calibri" pitchFamily="34" charset="-120"/>
              </a:rPr>
              <a:t>2017</a:t>
            </a:r>
            <a:endParaRPr lang="en-US" sz="1800" dirty="0"/>
          </a:p>
        </p:txBody>
      </p:sp>
      <p:sp>
        <p:nvSpPr>
          <p:cNvPr id="11" name="Text 9"/>
          <p:cNvSpPr/>
          <p:nvPr/>
        </p:nvSpPr>
        <p:spPr>
          <a:xfrm>
            <a:off x="5029200" y="1051560"/>
            <a:ext cx="3657600" cy="365760"/>
          </a:xfrm>
          <a:prstGeom prst="rect">
            <a:avLst/>
          </a:prstGeom>
          <a:noFill/>
          <a:ln/>
        </p:spPr>
        <p:txBody>
          <a:bodyPr wrap="square" lIns="0" tIns="0" rIns="0" bIns="0" rtlCol="0" anchor="ctr"/>
          <a:lstStyle/>
          <a:p>
            <a:pPr marL="0" indent="0">
              <a:buNone/>
            </a:pPr>
            <a:r>
              <a:rPr lang="en-US" sz="1400" b="1" dirty="0">
                <a:solidFill>
                  <a:srgbClr val="21295C"/>
                </a:solidFill>
                <a:latin typeface="Calibri" pitchFamily="34" charset="0"/>
                <a:ea typeface="Calibri" pitchFamily="34" charset="-122"/>
                <a:cs typeface="Calibri" pitchFamily="34" charset="-120"/>
              </a:rPr>
              <a:t>Free compute for instructors</a:t>
            </a:r>
            <a:endParaRPr lang="en-US" sz="1400" dirty="0"/>
          </a:p>
        </p:txBody>
      </p:sp>
      <p:sp>
        <p:nvSpPr>
          <p:cNvPr id="12" name="Text 10"/>
          <p:cNvSpPr/>
          <p:nvPr/>
        </p:nvSpPr>
        <p:spPr>
          <a:xfrm>
            <a:off x="5029200" y="1435608"/>
            <a:ext cx="3657600" cy="594360"/>
          </a:xfrm>
          <a:prstGeom prst="rect">
            <a:avLst/>
          </a:prstGeom>
          <a:noFill/>
          <a:ln/>
        </p:spPr>
        <p:txBody>
          <a:bodyPr wrap="square" lIns="0" tIns="0" rIns="0" bIns="0" rtlCol="0" anchor="ctr"/>
          <a:lstStyle/>
          <a:p>
            <a:pPr marL="0" indent="0">
              <a:buNone/>
            </a:pPr>
            <a:r>
              <a:rPr lang="en-US" sz="1100" dirty="0">
                <a:solidFill>
                  <a:srgbClr val="374151"/>
                </a:solidFill>
                <a:latin typeface="Calibri" pitchFamily="34" charset="0"/>
                <a:ea typeface="Calibri" pitchFamily="34" charset="-122"/>
                <a:cs typeface="Calibri" pitchFamily="34" charset="-120"/>
              </a:rPr>
              <a:t>UCSD made shared notebook infrastructure free at point of use for any course.</a:t>
            </a:r>
            <a:endParaRPr lang="en-US" sz="1100" dirty="0"/>
          </a:p>
        </p:txBody>
      </p:sp>
      <p:sp>
        <p:nvSpPr>
          <p:cNvPr id="13" name="Text 11"/>
          <p:cNvSpPr/>
          <p:nvPr/>
        </p:nvSpPr>
        <p:spPr>
          <a:xfrm>
            <a:off x="4114800" y="2194560"/>
            <a:ext cx="822960" cy="365760"/>
          </a:xfrm>
          <a:prstGeom prst="rect">
            <a:avLst/>
          </a:prstGeom>
          <a:noFill/>
          <a:ln/>
        </p:spPr>
        <p:txBody>
          <a:bodyPr wrap="square" lIns="0" tIns="0" rIns="0" bIns="0" rtlCol="0" anchor="ctr"/>
          <a:lstStyle/>
          <a:p>
            <a:pPr marL="0" indent="0">
              <a:buNone/>
            </a:pPr>
            <a:r>
              <a:rPr lang="en-US" sz="1800" b="1" dirty="0">
                <a:solidFill>
                  <a:srgbClr val="065A82"/>
                </a:solidFill>
                <a:latin typeface="Calibri" pitchFamily="34" charset="0"/>
                <a:ea typeface="Calibri" pitchFamily="34" charset="-122"/>
                <a:cs typeface="Calibri" pitchFamily="34" charset="-120"/>
              </a:rPr>
              <a:t>2024</a:t>
            </a:r>
            <a:endParaRPr lang="en-US" sz="1800" dirty="0"/>
          </a:p>
        </p:txBody>
      </p:sp>
      <p:sp>
        <p:nvSpPr>
          <p:cNvPr id="14" name="Text 12"/>
          <p:cNvSpPr/>
          <p:nvPr/>
        </p:nvSpPr>
        <p:spPr>
          <a:xfrm>
            <a:off x="5029200" y="2194560"/>
            <a:ext cx="3657600" cy="365760"/>
          </a:xfrm>
          <a:prstGeom prst="rect">
            <a:avLst/>
          </a:prstGeom>
          <a:noFill/>
          <a:ln/>
        </p:spPr>
        <p:txBody>
          <a:bodyPr wrap="square" lIns="0" tIns="0" rIns="0" bIns="0" rtlCol="0" anchor="ctr"/>
          <a:lstStyle/>
          <a:p>
            <a:pPr marL="0" indent="0">
              <a:buNone/>
            </a:pPr>
            <a:r>
              <a:rPr lang="en-US" sz="1400" b="1" dirty="0">
                <a:solidFill>
                  <a:srgbClr val="21295C"/>
                </a:solidFill>
                <a:latin typeface="Calibri" pitchFamily="34" charset="0"/>
                <a:ea typeface="Calibri" pitchFamily="34" charset="-122"/>
                <a:cs typeface="Calibri" pitchFamily="34" charset="-120"/>
              </a:rPr>
              <a:t>AI tutors per class</a:t>
            </a:r>
            <a:endParaRPr lang="en-US" sz="1400" dirty="0"/>
          </a:p>
        </p:txBody>
      </p:sp>
      <p:sp>
        <p:nvSpPr>
          <p:cNvPr id="15" name="Text 13"/>
          <p:cNvSpPr/>
          <p:nvPr/>
        </p:nvSpPr>
        <p:spPr>
          <a:xfrm>
            <a:off x="5029200" y="2578608"/>
            <a:ext cx="3657600" cy="594360"/>
          </a:xfrm>
          <a:prstGeom prst="rect">
            <a:avLst/>
          </a:prstGeom>
          <a:noFill/>
          <a:ln/>
        </p:spPr>
        <p:txBody>
          <a:bodyPr wrap="square" lIns="0" tIns="0" rIns="0" bIns="0" rtlCol="0" anchor="ctr"/>
          <a:lstStyle/>
          <a:p>
            <a:pPr marL="0" indent="0">
              <a:buNone/>
            </a:pPr>
            <a:r>
              <a:rPr lang="en-US" sz="1100" dirty="0">
                <a:solidFill>
                  <a:srgbClr val="374151"/>
                </a:solidFill>
                <a:latin typeface="Calibri" pitchFamily="34" charset="0"/>
                <a:ea typeface="Calibri" pitchFamily="34" charset="-122"/>
                <a:cs typeface="Calibri" pitchFamily="34" charset="-120"/>
              </a:rPr>
              <a:t>Fall 2025 rollout of personalized AI tutors across multiple large courses.</a:t>
            </a:r>
            <a:endParaRPr lang="en-US" sz="1100" dirty="0"/>
          </a:p>
        </p:txBody>
      </p:sp>
      <p:sp>
        <p:nvSpPr>
          <p:cNvPr id="16" name="Text 14"/>
          <p:cNvSpPr/>
          <p:nvPr/>
        </p:nvSpPr>
        <p:spPr>
          <a:xfrm>
            <a:off x="4114800" y="3337560"/>
            <a:ext cx="822960" cy="365760"/>
          </a:xfrm>
          <a:prstGeom prst="rect">
            <a:avLst/>
          </a:prstGeom>
          <a:noFill/>
          <a:ln/>
        </p:spPr>
        <p:txBody>
          <a:bodyPr wrap="square" lIns="0" tIns="0" rIns="0" bIns="0" rtlCol="0" anchor="ctr"/>
          <a:lstStyle/>
          <a:p>
            <a:pPr marL="0" indent="0">
              <a:buNone/>
            </a:pPr>
            <a:r>
              <a:rPr lang="en-US" sz="1800" b="1" dirty="0">
                <a:solidFill>
                  <a:srgbClr val="065A82"/>
                </a:solidFill>
                <a:latin typeface="Calibri" pitchFamily="34" charset="0"/>
                <a:ea typeface="Calibri" pitchFamily="34" charset="-122"/>
                <a:cs typeface="Calibri" pitchFamily="34" charset="-120"/>
              </a:rPr>
              <a:t>2026</a:t>
            </a:r>
            <a:endParaRPr lang="en-US" sz="1800" dirty="0"/>
          </a:p>
        </p:txBody>
      </p:sp>
      <p:sp>
        <p:nvSpPr>
          <p:cNvPr id="17" name="Text 15"/>
          <p:cNvSpPr/>
          <p:nvPr/>
        </p:nvSpPr>
        <p:spPr>
          <a:xfrm>
            <a:off x="5029200" y="3337560"/>
            <a:ext cx="3657600" cy="365760"/>
          </a:xfrm>
          <a:prstGeom prst="rect">
            <a:avLst/>
          </a:prstGeom>
          <a:noFill/>
          <a:ln/>
        </p:spPr>
        <p:txBody>
          <a:bodyPr wrap="square" lIns="0" tIns="0" rIns="0" bIns="0" rtlCol="0" anchor="ctr"/>
          <a:lstStyle/>
          <a:p>
            <a:pPr marL="0" indent="0">
              <a:buNone/>
            </a:pPr>
            <a:r>
              <a:rPr lang="en-US" sz="1400" b="1" dirty="0">
                <a:solidFill>
                  <a:srgbClr val="21295C"/>
                </a:solidFill>
                <a:latin typeface="Calibri" pitchFamily="34" charset="0"/>
                <a:ea typeface="Calibri" pitchFamily="34" charset="-122"/>
                <a:cs typeface="Calibri" pitchFamily="34" charset="-120"/>
              </a:rPr>
              <a:t>Free AI for instructors</a:t>
            </a:r>
            <a:endParaRPr lang="en-US" sz="1400" dirty="0"/>
          </a:p>
        </p:txBody>
      </p:sp>
      <p:sp>
        <p:nvSpPr>
          <p:cNvPr id="18" name="Text 16"/>
          <p:cNvSpPr/>
          <p:nvPr/>
        </p:nvSpPr>
        <p:spPr>
          <a:xfrm>
            <a:off x="5029200" y="3721608"/>
            <a:ext cx="3657600" cy="594360"/>
          </a:xfrm>
          <a:prstGeom prst="rect">
            <a:avLst/>
          </a:prstGeom>
          <a:noFill/>
          <a:ln/>
        </p:spPr>
        <p:txBody>
          <a:bodyPr wrap="square" lIns="0" tIns="0" rIns="0" bIns="0" rtlCol="0" anchor="ctr"/>
          <a:lstStyle/>
          <a:p>
            <a:pPr marL="0" indent="0">
              <a:buNone/>
            </a:pPr>
            <a:r>
              <a:rPr lang="en-US" sz="1100" dirty="0">
                <a:solidFill>
                  <a:srgbClr val="374151"/>
                </a:solidFill>
                <a:latin typeface="Calibri" pitchFamily="34" charset="0"/>
                <a:ea typeface="Calibri" pitchFamily="34" charset="-122"/>
                <a:cs typeface="Calibri" pitchFamily="34" charset="-120"/>
              </a:rPr>
              <a:t>Now experimenting with open-weight LLMs at the same scale — same question, new tool.</a:t>
            </a:r>
            <a:endParaRPr lang="en-US" sz="1100" dirty="0"/>
          </a:p>
        </p:txBody>
      </p:sp>
      <p:sp>
        <p:nvSpPr>
          <p:cNvPr id="19" name="Text 17"/>
          <p:cNvSpPr/>
          <p:nvPr/>
        </p:nvSpPr>
        <p:spPr>
          <a:xfrm>
            <a:off x="457200" y="4800600"/>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NRP @ 7NRP  ·  ITS AI Community of Practice  ·  May 2026</a:t>
            </a:r>
            <a:endParaRPr lang="en-US" sz="900" dirty="0"/>
          </a:p>
        </p:txBody>
      </p:sp>
      <p:sp>
        <p:nvSpPr>
          <p:cNvPr id="20" name="Text 18"/>
          <p:cNvSpPr/>
          <p:nvPr/>
        </p:nvSpPr>
        <p:spPr>
          <a:xfrm>
            <a:off x="8229600" y="4800600"/>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13 / 19</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lIns="0" tIns="0" rIns="0" bIns="0" rtlCol="0" anchor="ctr"/>
          <a:lstStyle/>
          <a:p>
            <a:pPr marL="0" indent="0" algn="l">
              <a:buNone/>
            </a:pPr>
            <a:r>
              <a:rPr lang="en-US" sz="1100" b="1" kern="0" spc="400" dirty="0">
                <a:solidFill>
                  <a:srgbClr val="1C7293"/>
                </a:solidFill>
                <a:latin typeface="Calibri" pitchFamily="34" charset="0"/>
                <a:ea typeface="Calibri" pitchFamily="34" charset="-122"/>
                <a:cs typeface="Calibri" pitchFamily="34" charset="-120"/>
              </a:rPr>
              <a:t>COMMUNITY COLLEGES &amp; EQUITY</a:t>
            </a:r>
            <a:endParaRPr lang="en-US" sz="1100" dirty="0"/>
          </a:p>
        </p:txBody>
      </p:sp>
      <p:sp>
        <p:nvSpPr>
          <p:cNvPr id="3" name="Text 1"/>
          <p:cNvSpPr/>
          <p:nvPr/>
        </p:nvSpPr>
        <p:spPr>
          <a:xfrm>
            <a:off x="457200" y="292608"/>
            <a:ext cx="8229600" cy="548640"/>
          </a:xfrm>
          <a:prstGeom prst="rect">
            <a:avLst/>
          </a:prstGeom>
          <a:noFill/>
          <a:ln/>
        </p:spPr>
        <p:txBody>
          <a:bodyPr wrap="square" lIns="0" tIns="0" rIns="0" bIns="0" rtlCol="0" anchor="ctr"/>
          <a:lstStyle/>
          <a:p>
            <a:pPr marL="0" indent="0" algn="l">
              <a:buNone/>
            </a:pPr>
            <a:r>
              <a:rPr lang="en-US" sz="2800" b="1" dirty="0">
                <a:solidFill>
                  <a:srgbClr val="21295C"/>
                </a:solidFill>
                <a:latin typeface="Calibri" pitchFamily="34" charset="0"/>
                <a:ea typeface="Calibri" pitchFamily="34" charset="-122"/>
                <a:cs typeface="Calibri" pitchFamily="34" charset="-120"/>
              </a:rPr>
              <a:t>Why NRP cares about the CA transfer pipeline</a:t>
            </a:r>
            <a:endParaRPr lang="en-US" sz="2800" dirty="0"/>
          </a:p>
        </p:txBody>
      </p:sp>
      <p:sp>
        <p:nvSpPr>
          <p:cNvPr id="4" name="Shape 2"/>
          <p:cNvSpPr/>
          <p:nvPr/>
        </p:nvSpPr>
        <p:spPr>
          <a:xfrm>
            <a:off x="457200" y="868680"/>
            <a:ext cx="8229600" cy="0"/>
          </a:xfrm>
          <a:prstGeom prst="line">
            <a:avLst/>
          </a:prstGeom>
          <a:noFill/>
          <a:ln w="9525">
            <a:solidFill>
              <a:srgbClr val="CBD5E1"/>
            </a:solidFill>
            <a:prstDash val="solid"/>
          </a:ln>
        </p:spPr>
        <p:txBody>
          <a:bodyPr/>
          <a:lstStyle/>
          <a:p>
            <a:endParaRPr lang="en-US"/>
          </a:p>
        </p:txBody>
      </p:sp>
      <p:sp>
        <p:nvSpPr>
          <p:cNvPr id="5" name="Shape 3"/>
          <p:cNvSpPr/>
          <p:nvPr/>
        </p:nvSpPr>
        <p:spPr>
          <a:xfrm>
            <a:off x="457200" y="1097280"/>
            <a:ext cx="1920240" cy="1645920"/>
          </a:xfrm>
          <a:prstGeom prst="rect">
            <a:avLst/>
          </a:prstGeom>
          <a:solidFill>
            <a:srgbClr val="F4F6FA"/>
          </a:solidFill>
          <a:ln w="12700">
            <a:solidFill>
              <a:srgbClr val="F4F6FA"/>
            </a:solidFill>
            <a:prstDash val="solid"/>
          </a:ln>
        </p:spPr>
        <p:txBody>
          <a:bodyPr/>
          <a:lstStyle/>
          <a:p>
            <a:endParaRPr lang="en-US"/>
          </a:p>
        </p:txBody>
      </p:sp>
      <p:sp>
        <p:nvSpPr>
          <p:cNvPr id="6" name="Shape 4"/>
          <p:cNvSpPr/>
          <p:nvPr/>
        </p:nvSpPr>
        <p:spPr>
          <a:xfrm>
            <a:off x="457200" y="1097280"/>
            <a:ext cx="1920240" cy="64008"/>
          </a:xfrm>
          <a:prstGeom prst="rect">
            <a:avLst/>
          </a:prstGeom>
          <a:solidFill>
            <a:srgbClr val="065A82"/>
          </a:solidFill>
          <a:ln w="12700">
            <a:solidFill>
              <a:srgbClr val="065A82"/>
            </a:solidFill>
            <a:prstDash val="solid"/>
          </a:ln>
        </p:spPr>
        <p:txBody>
          <a:bodyPr/>
          <a:lstStyle/>
          <a:p>
            <a:endParaRPr lang="en-US"/>
          </a:p>
        </p:txBody>
      </p:sp>
      <p:sp>
        <p:nvSpPr>
          <p:cNvPr id="7" name="Text 5"/>
          <p:cNvSpPr/>
          <p:nvPr/>
        </p:nvSpPr>
        <p:spPr>
          <a:xfrm>
            <a:off x="594360" y="1234440"/>
            <a:ext cx="1645920" cy="320040"/>
          </a:xfrm>
          <a:prstGeom prst="rect">
            <a:avLst/>
          </a:prstGeom>
          <a:noFill/>
          <a:ln/>
        </p:spPr>
        <p:txBody>
          <a:bodyPr wrap="square" lIns="0" tIns="0" rIns="0" bIns="0"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K–12</a:t>
            </a:r>
            <a:endParaRPr lang="en-US" sz="1300" dirty="0"/>
          </a:p>
        </p:txBody>
      </p:sp>
      <p:sp>
        <p:nvSpPr>
          <p:cNvPr id="8" name="Text 6"/>
          <p:cNvSpPr/>
          <p:nvPr/>
        </p:nvSpPr>
        <p:spPr>
          <a:xfrm>
            <a:off x="594360" y="1554480"/>
            <a:ext cx="1645920" cy="502920"/>
          </a:xfrm>
          <a:prstGeom prst="rect">
            <a:avLst/>
          </a:prstGeom>
          <a:noFill/>
          <a:ln/>
        </p:spPr>
        <p:txBody>
          <a:bodyPr wrap="square" lIns="0" tIns="0" rIns="0" bIns="0" rtlCol="0" anchor="ctr"/>
          <a:lstStyle/>
          <a:p>
            <a:pPr marL="0" indent="0">
              <a:buNone/>
            </a:pPr>
            <a:r>
              <a:rPr lang="en-US" sz="2400" b="1" dirty="0">
                <a:solidFill>
                  <a:srgbClr val="21295C"/>
                </a:solidFill>
                <a:latin typeface="Calibri" pitchFamily="34" charset="0"/>
                <a:ea typeface="Calibri" pitchFamily="34" charset="-122"/>
                <a:cs typeface="Calibri" pitchFamily="34" charset="-120"/>
              </a:rPr>
              <a:t>2M+</a:t>
            </a:r>
            <a:endParaRPr lang="en-US" sz="2400" dirty="0"/>
          </a:p>
        </p:txBody>
      </p:sp>
      <p:sp>
        <p:nvSpPr>
          <p:cNvPr id="9" name="Text 7"/>
          <p:cNvSpPr/>
          <p:nvPr/>
        </p:nvSpPr>
        <p:spPr>
          <a:xfrm>
            <a:off x="594360" y="2057400"/>
            <a:ext cx="1645920" cy="640080"/>
          </a:xfrm>
          <a:prstGeom prst="rect">
            <a:avLst/>
          </a:prstGeom>
          <a:noFill/>
          <a:ln/>
        </p:spPr>
        <p:txBody>
          <a:bodyPr wrap="square" lIns="0" tIns="0" rIns="0" bIns="0" rtlCol="0" anchor="ctr"/>
          <a:lstStyle/>
          <a:p>
            <a:pPr marL="0" indent="0">
              <a:buNone/>
            </a:pPr>
            <a:r>
              <a:rPr lang="en-US" sz="1000" dirty="0">
                <a:solidFill>
                  <a:srgbClr val="374151"/>
                </a:solidFill>
                <a:latin typeface="Calibri" pitchFamily="34" charset="0"/>
                <a:ea typeface="Calibri" pitchFamily="34" charset="-122"/>
                <a:cs typeface="Calibri" pitchFamily="34" charset="-120"/>
              </a:rPr>
              <a:t>Public high schoolers; many take CCC dual enrollment</a:t>
            </a:r>
            <a:endParaRPr lang="en-US" sz="1000" dirty="0"/>
          </a:p>
        </p:txBody>
      </p:sp>
      <p:sp>
        <p:nvSpPr>
          <p:cNvPr id="10" name="Shape 8"/>
          <p:cNvSpPr/>
          <p:nvPr/>
        </p:nvSpPr>
        <p:spPr>
          <a:xfrm rot="5400000">
            <a:off x="2382012" y="1828800"/>
            <a:ext cx="118872" cy="182880"/>
          </a:xfrm>
          <a:prstGeom prst="rtTriangle">
            <a:avLst/>
          </a:prstGeom>
          <a:solidFill>
            <a:srgbClr val="1C7293"/>
          </a:solidFill>
          <a:ln w="12700">
            <a:solidFill>
              <a:srgbClr val="1C7293"/>
            </a:solidFill>
            <a:prstDash val="solid"/>
          </a:ln>
        </p:spPr>
        <p:txBody>
          <a:bodyPr/>
          <a:lstStyle/>
          <a:p>
            <a:endParaRPr lang="en-US"/>
          </a:p>
        </p:txBody>
      </p:sp>
      <p:sp>
        <p:nvSpPr>
          <p:cNvPr id="11" name="Shape 9"/>
          <p:cNvSpPr/>
          <p:nvPr/>
        </p:nvSpPr>
        <p:spPr>
          <a:xfrm>
            <a:off x="2514600" y="1097280"/>
            <a:ext cx="1920240" cy="1645920"/>
          </a:xfrm>
          <a:prstGeom prst="rect">
            <a:avLst/>
          </a:prstGeom>
          <a:solidFill>
            <a:srgbClr val="F4F6FA"/>
          </a:solidFill>
          <a:ln w="12700">
            <a:solidFill>
              <a:srgbClr val="F4F6FA"/>
            </a:solidFill>
            <a:prstDash val="solid"/>
          </a:ln>
        </p:spPr>
        <p:txBody>
          <a:bodyPr/>
          <a:lstStyle/>
          <a:p>
            <a:endParaRPr lang="en-US"/>
          </a:p>
        </p:txBody>
      </p:sp>
      <p:sp>
        <p:nvSpPr>
          <p:cNvPr id="12" name="Shape 10"/>
          <p:cNvSpPr/>
          <p:nvPr/>
        </p:nvSpPr>
        <p:spPr>
          <a:xfrm>
            <a:off x="2514600" y="1097280"/>
            <a:ext cx="1920240" cy="64008"/>
          </a:xfrm>
          <a:prstGeom prst="rect">
            <a:avLst/>
          </a:prstGeom>
          <a:solidFill>
            <a:srgbClr val="065A82"/>
          </a:solidFill>
          <a:ln w="12700">
            <a:solidFill>
              <a:srgbClr val="065A82"/>
            </a:solidFill>
            <a:prstDash val="solid"/>
          </a:ln>
        </p:spPr>
        <p:txBody>
          <a:bodyPr/>
          <a:lstStyle/>
          <a:p>
            <a:endParaRPr lang="en-US"/>
          </a:p>
        </p:txBody>
      </p:sp>
      <p:sp>
        <p:nvSpPr>
          <p:cNvPr id="13" name="Text 11"/>
          <p:cNvSpPr/>
          <p:nvPr/>
        </p:nvSpPr>
        <p:spPr>
          <a:xfrm>
            <a:off x="2651760" y="1234440"/>
            <a:ext cx="1645920" cy="320040"/>
          </a:xfrm>
          <a:prstGeom prst="rect">
            <a:avLst/>
          </a:prstGeom>
          <a:noFill/>
          <a:ln/>
        </p:spPr>
        <p:txBody>
          <a:bodyPr wrap="square" lIns="0" tIns="0" rIns="0" bIns="0"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CCC</a:t>
            </a:r>
            <a:endParaRPr lang="en-US" sz="1300" dirty="0"/>
          </a:p>
        </p:txBody>
      </p:sp>
      <p:sp>
        <p:nvSpPr>
          <p:cNvPr id="14" name="Text 12"/>
          <p:cNvSpPr/>
          <p:nvPr/>
        </p:nvSpPr>
        <p:spPr>
          <a:xfrm>
            <a:off x="2651760" y="1554480"/>
            <a:ext cx="1645920" cy="502920"/>
          </a:xfrm>
          <a:prstGeom prst="rect">
            <a:avLst/>
          </a:prstGeom>
          <a:noFill/>
          <a:ln/>
        </p:spPr>
        <p:txBody>
          <a:bodyPr wrap="square" lIns="0" tIns="0" rIns="0" bIns="0" rtlCol="0" anchor="ctr"/>
          <a:lstStyle/>
          <a:p>
            <a:pPr marL="0" indent="0">
              <a:buNone/>
            </a:pPr>
            <a:r>
              <a:rPr lang="en-US" sz="2400" b="1" dirty="0">
                <a:solidFill>
                  <a:srgbClr val="21295C"/>
                </a:solidFill>
                <a:latin typeface="Calibri" pitchFamily="34" charset="0"/>
                <a:ea typeface="Calibri" pitchFamily="34" charset="-122"/>
                <a:cs typeface="Calibri" pitchFamily="34" charset="-120"/>
              </a:rPr>
              <a:t>2.2M</a:t>
            </a:r>
            <a:endParaRPr lang="en-US" sz="2400" dirty="0"/>
          </a:p>
        </p:txBody>
      </p:sp>
      <p:sp>
        <p:nvSpPr>
          <p:cNvPr id="15" name="Text 13"/>
          <p:cNvSpPr/>
          <p:nvPr/>
        </p:nvSpPr>
        <p:spPr>
          <a:xfrm>
            <a:off x="2651760" y="2057400"/>
            <a:ext cx="1645920" cy="640080"/>
          </a:xfrm>
          <a:prstGeom prst="rect">
            <a:avLst/>
          </a:prstGeom>
          <a:noFill/>
          <a:ln/>
        </p:spPr>
        <p:txBody>
          <a:bodyPr wrap="square" lIns="0" tIns="0" rIns="0" bIns="0" rtlCol="0" anchor="ctr"/>
          <a:lstStyle/>
          <a:p>
            <a:pPr marL="0" indent="0">
              <a:buNone/>
            </a:pPr>
            <a:r>
              <a:rPr lang="en-US" sz="1000" dirty="0">
                <a:solidFill>
                  <a:srgbClr val="374151"/>
                </a:solidFill>
                <a:latin typeface="Calibri" pitchFamily="34" charset="0"/>
                <a:ea typeface="Calibri" pitchFamily="34" charset="-122"/>
                <a:cs typeface="Calibri" pitchFamily="34" charset="-120"/>
              </a:rPr>
              <a:t>Students across 116 California community colleges</a:t>
            </a:r>
            <a:endParaRPr lang="en-US" sz="1000" dirty="0"/>
          </a:p>
        </p:txBody>
      </p:sp>
      <p:sp>
        <p:nvSpPr>
          <p:cNvPr id="16" name="Shape 14"/>
          <p:cNvSpPr/>
          <p:nvPr/>
        </p:nvSpPr>
        <p:spPr>
          <a:xfrm rot="5400000">
            <a:off x="4439412" y="1828800"/>
            <a:ext cx="118872" cy="182880"/>
          </a:xfrm>
          <a:prstGeom prst="rtTriangle">
            <a:avLst/>
          </a:prstGeom>
          <a:solidFill>
            <a:srgbClr val="1C7293"/>
          </a:solidFill>
          <a:ln w="12700">
            <a:solidFill>
              <a:srgbClr val="1C7293"/>
            </a:solidFill>
            <a:prstDash val="solid"/>
          </a:ln>
        </p:spPr>
        <p:txBody>
          <a:bodyPr/>
          <a:lstStyle/>
          <a:p>
            <a:endParaRPr lang="en-US"/>
          </a:p>
        </p:txBody>
      </p:sp>
      <p:sp>
        <p:nvSpPr>
          <p:cNvPr id="17" name="Shape 15"/>
          <p:cNvSpPr/>
          <p:nvPr/>
        </p:nvSpPr>
        <p:spPr>
          <a:xfrm>
            <a:off x="4572000" y="1097280"/>
            <a:ext cx="1920240" cy="1645920"/>
          </a:xfrm>
          <a:prstGeom prst="rect">
            <a:avLst/>
          </a:prstGeom>
          <a:solidFill>
            <a:srgbClr val="F4F6FA"/>
          </a:solidFill>
          <a:ln w="12700">
            <a:solidFill>
              <a:srgbClr val="F4F6FA"/>
            </a:solidFill>
            <a:prstDash val="solid"/>
          </a:ln>
        </p:spPr>
        <p:txBody>
          <a:bodyPr/>
          <a:lstStyle/>
          <a:p>
            <a:endParaRPr lang="en-US"/>
          </a:p>
        </p:txBody>
      </p:sp>
      <p:sp>
        <p:nvSpPr>
          <p:cNvPr id="18" name="Shape 16"/>
          <p:cNvSpPr/>
          <p:nvPr/>
        </p:nvSpPr>
        <p:spPr>
          <a:xfrm>
            <a:off x="4572000" y="1097280"/>
            <a:ext cx="1920240" cy="64008"/>
          </a:xfrm>
          <a:prstGeom prst="rect">
            <a:avLst/>
          </a:prstGeom>
          <a:solidFill>
            <a:srgbClr val="065A82"/>
          </a:solidFill>
          <a:ln w="12700">
            <a:solidFill>
              <a:srgbClr val="065A82"/>
            </a:solidFill>
            <a:prstDash val="solid"/>
          </a:ln>
        </p:spPr>
        <p:txBody>
          <a:bodyPr/>
          <a:lstStyle/>
          <a:p>
            <a:endParaRPr lang="en-US"/>
          </a:p>
        </p:txBody>
      </p:sp>
      <p:sp>
        <p:nvSpPr>
          <p:cNvPr id="19" name="Text 17"/>
          <p:cNvSpPr/>
          <p:nvPr/>
        </p:nvSpPr>
        <p:spPr>
          <a:xfrm>
            <a:off x="4709160" y="1234440"/>
            <a:ext cx="1645920" cy="320040"/>
          </a:xfrm>
          <a:prstGeom prst="rect">
            <a:avLst/>
          </a:prstGeom>
          <a:noFill/>
          <a:ln/>
        </p:spPr>
        <p:txBody>
          <a:bodyPr wrap="square" lIns="0" tIns="0" rIns="0" bIns="0"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CSU</a:t>
            </a:r>
            <a:endParaRPr lang="en-US" sz="1300" dirty="0"/>
          </a:p>
        </p:txBody>
      </p:sp>
      <p:sp>
        <p:nvSpPr>
          <p:cNvPr id="20" name="Text 18"/>
          <p:cNvSpPr/>
          <p:nvPr/>
        </p:nvSpPr>
        <p:spPr>
          <a:xfrm>
            <a:off x="4709160" y="1554480"/>
            <a:ext cx="1645920" cy="502920"/>
          </a:xfrm>
          <a:prstGeom prst="rect">
            <a:avLst/>
          </a:prstGeom>
          <a:noFill/>
          <a:ln/>
        </p:spPr>
        <p:txBody>
          <a:bodyPr wrap="square" lIns="0" tIns="0" rIns="0" bIns="0" rtlCol="0" anchor="ctr"/>
          <a:lstStyle/>
          <a:p>
            <a:pPr marL="0" indent="0">
              <a:buNone/>
            </a:pPr>
            <a:r>
              <a:rPr lang="en-US" sz="2400" b="1" dirty="0">
                <a:solidFill>
                  <a:srgbClr val="21295C"/>
                </a:solidFill>
                <a:latin typeface="Calibri" pitchFamily="34" charset="0"/>
                <a:ea typeface="Calibri" pitchFamily="34" charset="-122"/>
                <a:cs typeface="Calibri" pitchFamily="34" charset="-120"/>
              </a:rPr>
              <a:t>480K</a:t>
            </a:r>
            <a:endParaRPr lang="en-US" sz="2400" dirty="0"/>
          </a:p>
        </p:txBody>
      </p:sp>
      <p:sp>
        <p:nvSpPr>
          <p:cNvPr id="21" name="Text 19"/>
          <p:cNvSpPr/>
          <p:nvPr/>
        </p:nvSpPr>
        <p:spPr>
          <a:xfrm>
            <a:off x="4709160" y="2057400"/>
            <a:ext cx="1645920" cy="640080"/>
          </a:xfrm>
          <a:prstGeom prst="rect">
            <a:avLst/>
          </a:prstGeom>
          <a:noFill/>
          <a:ln/>
        </p:spPr>
        <p:txBody>
          <a:bodyPr wrap="square" lIns="0" tIns="0" rIns="0" bIns="0" rtlCol="0" anchor="ctr"/>
          <a:lstStyle/>
          <a:p>
            <a:pPr marL="0" indent="0">
              <a:buNone/>
            </a:pPr>
            <a:r>
              <a:rPr lang="en-US" sz="1000" dirty="0">
                <a:solidFill>
                  <a:srgbClr val="374151"/>
                </a:solidFill>
                <a:latin typeface="Calibri" pitchFamily="34" charset="0"/>
                <a:ea typeface="Calibri" pitchFamily="34" charset="-122"/>
                <a:cs typeface="Calibri" pitchFamily="34" charset="-120"/>
              </a:rPr>
              <a:t>Students across 23 CSU campuses</a:t>
            </a:r>
            <a:endParaRPr lang="en-US" sz="1000" dirty="0"/>
          </a:p>
        </p:txBody>
      </p:sp>
      <p:sp>
        <p:nvSpPr>
          <p:cNvPr id="22" name="Shape 20"/>
          <p:cNvSpPr/>
          <p:nvPr/>
        </p:nvSpPr>
        <p:spPr>
          <a:xfrm rot="5400000">
            <a:off x="6496812" y="1828800"/>
            <a:ext cx="118872" cy="182880"/>
          </a:xfrm>
          <a:prstGeom prst="rtTriangle">
            <a:avLst/>
          </a:prstGeom>
          <a:solidFill>
            <a:srgbClr val="1C7293"/>
          </a:solidFill>
          <a:ln w="12700">
            <a:solidFill>
              <a:srgbClr val="1C7293"/>
            </a:solidFill>
            <a:prstDash val="solid"/>
          </a:ln>
        </p:spPr>
        <p:txBody>
          <a:bodyPr/>
          <a:lstStyle/>
          <a:p>
            <a:endParaRPr lang="en-US"/>
          </a:p>
        </p:txBody>
      </p:sp>
      <p:sp>
        <p:nvSpPr>
          <p:cNvPr id="23" name="Shape 21"/>
          <p:cNvSpPr/>
          <p:nvPr/>
        </p:nvSpPr>
        <p:spPr>
          <a:xfrm>
            <a:off x="6629400" y="1097280"/>
            <a:ext cx="1920240" cy="1645920"/>
          </a:xfrm>
          <a:prstGeom prst="rect">
            <a:avLst/>
          </a:prstGeom>
          <a:solidFill>
            <a:srgbClr val="F4F6FA"/>
          </a:solidFill>
          <a:ln w="12700">
            <a:solidFill>
              <a:srgbClr val="F4F6FA"/>
            </a:solidFill>
            <a:prstDash val="solid"/>
          </a:ln>
        </p:spPr>
        <p:txBody>
          <a:bodyPr/>
          <a:lstStyle/>
          <a:p>
            <a:endParaRPr lang="en-US"/>
          </a:p>
        </p:txBody>
      </p:sp>
      <p:sp>
        <p:nvSpPr>
          <p:cNvPr id="24" name="Shape 22"/>
          <p:cNvSpPr/>
          <p:nvPr/>
        </p:nvSpPr>
        <p:spPr>
          <a:xfrm>
            <a:off x="6629400" y="1097280"/>
            <a:ext cx="1920240" cy="64008"/>
          </a:xfrm>
          <a:prstGeom prst="rect">
            <a:avLst/>
          </a:prstGeom>
          <a:solidFill>
            <a:srgbClr val="065A82"/>
          </a:solidFill>
          <a:ln w="12700">
            <a:solidFill>
              <a:srgbClr val="065A82"/>
            </a:solidFill>
            <a:prstDash val="solid"/>
          </a:ln>
        </p:spPr>
        <p:txBody>
          <a:bodyPr/>
          <a:lstStyle/>
          <a:p>
            <a:endParaRPr lang="en-US"/>
          </a:p>
        </p:txBody>
      </p:sp>
      <p:sp>
        <p:nvSpPr>
          <p:cNvPr id="25" name="Text 23"/>
          <p:cNvSpPr/>
          <p:nvPr/>
        </p:nvSpPr>
        <p:spPr>
          <a:xfrm>
            <a:off x="6766560" y="1234440"/>
            <a:ext cx="1645920" cy="320040"/>
          </a:xfrm>
          <a:prstGeom prst="rect">
            <a:avLst/>
          </a:prstGeom>
          <a:noFill/>
          <a:ln/>
        </p:spPr>
        <p:txBody>
          <a:bodyPr wrap="square" lIns="0" tIns="0" rIns="0" bIns="0"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UC</a:t>
            </a:r>
            <a:endParaRPr lang="en-US" sz="1300" dirty="0"/>
          </a:p>
        </p:txBody>
      </p:sp>
      <p:sp>
        <p:nvSpPr>
          <p:cNvPr id="26" name="Text 24"/>
          <p:cNvSpPr/>
          <p:nvPr/>
        </p:nvSpPr>
        <p:spPr>
          <a:xfrm>
            <a:off x="6766560" y="1554480"/>
            <a:ext cx="1645920" cy="502920"/>
          </a:xfrm>
          <a:prstGeom prst="rect">
            <a:avLst/>
          </a:prstGeom>
          <a:noFill/>
          <a:ln/>
        </p:spPr>
        <p:txBody>
          <a:bodyPr wrap="square" lIns="0" tIns="0" rIns="0" bIns="0" rtlCol="0" anchor="ctr"/>
          <a:lstStyle/>
          <a:p>
            <a:pPr marL="0" indent="0">
              <a:buNone/>
            </a:pPr>
            <a:r>
              <a:rPr lang="en-US" sz="2400" b="1" dirty="0">
                <a:solidFill>
                  <a:srgbClr val="21295C"/>
                </a:solidFill>
                <a:latin typeface="Calibri" pitchFamily="34" charset="0"/>
                <a:ea typeface="Calibri" pitchFamily="34" charset="-122"/>
                <a:cs typeface="Calibri" pitchFamily="34" charset="-120"/>
              </a:rPr>
              <a:t>440K</a:t>
            </a:r>
            <a:endParaRPr lang="en-US" sz="2400" dirty="0"/>
          </a:p>
        </p:txBody>
      </p:sp>
      <p:sp>
        <p:nvSpPr>
          <p:cNvPr id="27" name="Text 25"/>
          <p:cNvSpPr/>
          <p:nvPr/>
        </p:nvSpPr>
        <p:spPr>
          <a:xfrm>
            <a:off x="6766560" y="2057400"/>
            <a:ext cx="1645920" cy="640080"/>
          </a:xfrm>
          <a:prstGeom prst="rect">
            <a:avLst/>
          </a:prstGeom>
          <a:noFill/>
          <a:ln/>
        </p:spPr>
        <p:txBody>
          <a:bodyPr wrap="square" lIns="0" tIns="0" rIns="0" bIns="0" rtlCol="0" anchor="ctr"/>
          <a:lstStyle/>
          <a:p>
            <a:pPr marL="0" indent="0">
              <a:buNone/>
            </a:pPr>
            <a:r>
              <a:rPr lang="en-US" sz="1000" dirty="0">
                <a:solidFill>
                  <a:srgbClr val="374151"/>
                </a:solidFill>
                <a:latin typeface="Calibri" pitchFamily="34" charset="0"/>
                <a:ea typeface="Calibri" pitchFamily="34" charset="-122"/>
                <a:cs typeface="Calibri" pitchFamily="34" charset="-120"/>
              </a:rPr>
              <a:t>Students across 10 UC campuses</a:t>
            </a:r>
            <a:endParaRPr lang="en-US" sz="1000" dirty="0"/>
          </a:p>
        </p:txBody>
      </p:sp>
      <p:sp>
        <p:nvSpPr>
          <p:cNvPr id="28" name="Shape 26"/>
          <p:cNvSpPr/>
          <p:nvPr/>
        </p:nvSpPr>
        <p:spPr>
          <a:xfrm>
            <a:off x="457200" y="2971800"/>
            <a:ext cx="8229600" cy="1417320"/>
          </a:xfrm>
          <a:prstGeom prst="rect">
            <a:avLst/>
          </a:prstGeom>
          <a:solidFill>
            <a:srgbClr val="E8EEF5"/>
          </a:solidFill>
          <a:ln w="12700">
            <a:solidFill>
              <a:srgbClr val="E8EEF5"/>
            </a:solidFill>
            <a:prstDash val="solid"/>
          </a:ln>
        </p:spPr>
        <p:txBody>
          <a:bodyPr/>
          <a:lstStyle/>
          <a:p>
            <a:endParaRPr lang="en-US"/>
          </a:p>
        </p:txBody>
      </p:sp>
      <p:sp>
        <p:nvSpPr>
          <p:cNvPr id="29" name="Text 27"/>
          <p:cNvSpPr/>
          <p:nvPr/>
        </p:nvSpPr>
        <p:spPr>
          <a:xfrm>
            <a:off x="640080" y="3063240"/>
            <a:ext cx="7863840" cy="274320"/>
          </a:xfrm>
          <a:prstGeom prst="rect">
            <a:avLst/>
          </a:prstGeom>
          <a:noFill/>
          <a:ln/>
        </p:spPr>
        <p:txBody>
          <a:bodyPr wrap="square" lIns="0" tIns="0" rIns="0" bIns="0" rtlCol="0" anchor="ctr"/>
          <a:lstStyle/>
          <a:p>
            <a:pPr marL="0" indent="0">
              <a:buNone/>
            </a:pPr>
            <a:r>
              <a:rPr lang="en-US" sz="1200" b="1" dirty="0">
                <a:solidFill>
                  <a:srgbClr val="1C7293"/>
                </a:solidFill>
                <a:latin typeface="Calibri" pitchFamily="34" charset="0"/>
                <a:ea typeface="Calibri" pitchFamily="34" charset="-122"/>
                <a:cs typeface="Calibri" pitchFamily="34" charset="-120"/>
              </a:rPr>
              <a:t>Why this matters</a:t>
            </a:r>
            <a:endParaRPr lang="en-US" sz="1200" dirty="0"/>
          </a:p>
        </p:txBody>
      </p:sp>
      <p:sp>
        <p:nvSpPr>
          <p:cNvPr id="30" name="Text 28"/>
          <p:cNvSpPr/>
          <p:nvPr/>
        </p:nvSpPr>
        <p:spPr>
          <a:xfrm>
            <a:off x="640080" y="3337560"/>
            <a:ext cx="7863840" cy="960120"/>
          </a:xfrm>
          <a:prstGeom prst="rect">
            <a:avLst/>
          </a:prstGeom>
          <a:noFill/>
          <a:ln/>
        </p:spPr>
        <p:txBody>
          <a:bodyPr wrap="square" lIns="0" tIns="0" rIns="0" bIns="0" rtlCol="0" anchor="ctr"/>
          <a:lstStyle/>
          <a:p>
            <a:pPr marL="0" indent="0">
              <a:buNone/>
            </a:pPr>
            <a:r>
              <a:rPr lang="en-US" sz="1200" dirty="0">
                <a:solidFill>
                  <a:srgbClr val="1A2233"/>
                </a:solidFill>
                <a:latin typeface="Calibri" pitchFamily="34" charset="0"/>
                <a:ea typeface="Calibri" pitchFamily="34" charset="-122"/>
                <a:cs typeface="Calibri" pitchFamily="34" charset="-120"/>
              </a:rPr>
              <a:t>30% of all U.S. transfer students come from California community colleges. 50% of every incoming CSU class arrived as a transfer. If CSUs and UCs deploy digital assets in the classroom but CCCs can't match, the pipeline breaks. NRP's Data8 partnership has now reached 27 California community colleges, 2 high schools, and 11 CSUs/UCs.</a:t>
            </a:r>
            <a:endParaRPr lang="en-US" sz="1200" dirty="0"/>
          </a:p>
        </p:txBody>
      </p:sp>
      <p:sp>
        <p:nvSpPr>
          <p:cNvPr id="31" name="Text 29"/>
          <p:cNvSpPr/>
          <p:nvPr/>
        </p:nvSpPr>
        <p:spPr>
          <a:xfrm>
            <a:off x="457200" y="4800600"/>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NRP @ 7NRP  ·  ITS AI Community of Practice  ·  May 2026</a:t>
            </a:r>
            <a:endParaRPr lang="en-US" sz="900" dirty="0"/>
          </a:p>
        </p:txBody>
      </p:sp>
      <p:sp>
        <p:nvSpPr>
          <p:cNvPr id="32" name="Text 30"/>
          <p:cNvSpPr/>
          <p:nvPr/>
        </p:nvSpPr>
        <p:spPr>
          <a:xfrm>
            <a:off x="8229600" y="4800600"/>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14 / 19</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lIns="0" tIns="0" rIns="0" bIns="0" rtlCol="0" anchor="ctr"/>
          <a:lstStyle/>
          <a:p>
            <a:pPr marL="0" indent="0" algn="l">
              <a:buNone/>
            </a:pPr>
            <a:r>
              <a:rPr lang="en-US" sz="1100" b="1" kern="0" spc="400" dirty="0">
                <a:solidFill>
                  <a:srgbClr val="1C7293"/>
                </a:solidFill>
                <a:latin typeface="Calibri" pitchFamily="34" charset="0"/>
                <a:ea typeface="Calibri" pitchFamily="34" charset="-122"/>
                <a:cs typeface="Calibri" pitchFamily="34" charset="-120"/>
              </a:rPr>
              <a:t>BROADER LANDSCAPE</a:t>
            </a:r>
            <a:endParaRPr lang="en-US" sz="1100" dirty="0"/>
          </a:p>
        </p:txBody>
      </p:sp>
      <p:sp>
        <p:nvSpPr>
          <p:cNvPr id="3" name="Text 1"/>
          <p:cNvSpPr/>
          <p:nvPr/>
        </p:nvSpPr>
        <p:spPr>
          <a:xfrm>
            <a:off x="457200" y="292608"/>
            <a:ext cx="8229600" cy="548640"/>
          </a:xfrm>
          <a:prstGeom prst="rect">
            <a:avLst/>
          </a:prstGeom>
          <a:noFill/>
          <a:ln/>
        </p:spPr>
        <p:txBody>
          <a:bodyPr wrap="square" lIns="0" tIns="0" rIns="0" bIns="0" rtlCol="0" anchor="ctr"/>
          <a:lstStyle/>
          <a:p>
            <a:pPr marL="0" indent="0" algn="l">
              <a:buNone/>
            </a:pPr>
            <a:r>
              <a:rPr lang="en-US" sz="2800" b="1" dirty="0">
                <a:solidFill>
                  <a:srgbClr val="21295C"/>
                </a:solidFill>
                <a:latin typeface="Calibri" pitchFamily="34" charset="0"/>
                <a:ea typeface="Calibri" pitchFamily="34" charset="-122"/>
                <a:cs typeface="Calibri" pitchFamily="34" charset="-120"/>
              </a:rPr>
              <a:t>Where NRP sits in U.S. research computing</a:t>
            </a:r>
            <a:endParaRPr lang="en-US" sz="2800" dirty="0"/>
          </a:p>
        </p:txBody>
      </p:sp>
      <p:sp>
        <p:nvSpPr>
          <p:cNvPr id="4" name="Shape 2"/>
          <p:cNvSpPr/>
          <p:nvPr/>
        </p:nvSpPr>
        <p:spPr>
          <a:xfrm>
            <a:off x="457200" y="868680"/>
            <a:ext cx="8229600" cy="0"/>
          </a:xfrm>
          <a:prstGeom prst="line">
            <a:avLst/>
          </a:prstGeom>
          <a:noFill/>
          <a:ln w="9525">
            <a:solidFill>
              <a:srgbClr val="CBD5E1"/>
            </a:solidFill>
            <a:prstDash val="solid"/>
          </a:ln>
        </p:spPr>
        <p:txBody>
          <a:bodyPr/>
          <a:lstStyle/>
          <a:p>
            <a:endParaRPr lang="en-US"/>
          </a:p>
        </p:txBody>
      </p:sp>
      <p:sp>
        <p:nvSpPr>
          <p:cNvPr id="5" name="Shape 3"/>
          <p:cNvSpPr/>
          <p:nvPr/>
        </p:nvSpPr>
        <p:spPr>
          <a:xfrm>
            <a:off x="457200" y="1051560"/>
            <a:ext cx="1554480" cy="566928"/>
          </a:xfrm>
          <a:prstGeom prst="rect">
            <a:avLst/>
          </a:prstGeom>
          <a:solidFill>
            <a:srgbClr val="065A82"/>
          </a:solidFill>
          <a:ln w="6350">
            <a:solidFill>
              <a:srgbClr val="CBD5E1"/>
            </a:solidFill>
            <a:prstDash val="solid"/>
          </a:ln>
        </p:spPr>
        <p:txBody>
          <a:bodyPr/>
          <a:lstStyle/>
          <a:p>
            <a:endParaRPr lang="en-US"/>
          </a:p>
        </p:txBody>
      </p:sp>
      <p:sp>
        <p:nvSpPr>
          <p:cNvPr id="6" name="Text 4"/>
          <p:cNvSpPr/>
          <p:nvPr/>
        </p:nvSpPr>
        <p:spPr>
          <a:xfrm>
            <a:off x="548640" y="1097280"/>
            <a:ext cx="1417320" cy="475488"/>
          </a:xfrm>
          <a:prstGeom prst="rect">
            <a:avLst/>
          </a:prstGeom>
          <a:noFill/>
          <a:ln/>
        </p:spPr>
        <p:txBody>
          <a:bodyPr wrap="square" lIns="0" tIns="0" rIns="0" bIns="0" rtlCol="0" anchor="ctr"/>
          <a:lstStyle/>
          <a:p>
            <a:pPr marL="0" indent="0" algn="l">
              <a:buNone/>
            </a:pPr>
            <a:endParaRPr lang="en-US" sz="1100" dirty="0"/>
          </a:p>
        </p:txBody>
      </p:sp>
      <p:sp>
        <p:nvSpPr>
          <p:cNvPr id="7" name="Shape 5"/>
          <p:cNvSpPr/>
          <p:nvPr/>
        </p:nvSpPr>
        <p:spPr>
          <a:xfrm>
            <a:off x="2011680" y="1051560"/>
            <a:ext cx="1371600" cy="566928"/>
          </a:xfrm>
          <a:prstGeom prst="rect">
            <a:avLst/>
          </a:prstGeom>
          <a:solidFill>
            <a:srgbClr val="065A82"/>
          </a:solidFill>
          <a:ln w="6350">
            <a:solidFill>
              <a:srgbClr val="CBD5E1"/>
            </a:solidFill>
            <a:prstDash val="solid"/>
          </a:ln>
        </p:spPr>
        <p:txBody>
          <a:bodyPr/>
          <a:lstStyle/>
          <a:p>
            <a:endParaRPr lang="en-US"/>
          </a:p>
        </p:txBody>
      </p:sp>
      <p:sp>
        <p:nvSpPr>
          <p:cNvPr id="8" name="Text 6"/>
          <p:cNvSpPr/>
          <p:nvPr/>
        </p:nvSpPr>
        <p:spPr>
          <a:xfrm>
            <a:off x="2103120" y="1097280"/>
            <a:ext cx="1234440" cy="47548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NRP</a:t>
            </a:r>
            <a:endParaRPr lang="en-US" sz="1100" dirty="0"/>
          </a:p>
        </p:txBody>
      </p:sp>
      <p:sp>
        <p:nvSpPr>
          <p:cNvPr id="9" name="Shape 7"/>
          <p:cNvSpPr/>
          <p:nvPr/>
        </p:nvSpPr>
        <p:spPr>
          <a:xfrm>
            <a:off x="3383280" y="1051560"/>
            <a:ext cx="1371600" cy="566928"/>
          </a:xfrm>
          <a:prstGeom prst="rect">
            <a:avLst/>
          </a:prstGeom>
          <a:solidFill>
            <a:srgbClr val="065A82"/>
          </a:solidFill>
          <a:ln w="6350">
            <a:solidFill>
              <a:srgbClr val="CBD5E1"/>
            </a:solidFill>
            <a:prstDash val="solid"/>
          </a:ln>
        </p:spPr>
        <p:txBody>
          <a:bodyPr/>
          <a:lstStyle/>
          <a:p>
            <a:endParaRPr lang="en-US"/>
          </a:p>
        </p:txBody>
      </p:sp>
      <p:sp>
        <p:nvSpPr>
          <p:cNvPr id="10" name="Text 8"/>
          <p:cNvSpPr/>
          <p:nvPr/>
        </p:nvSpPr>
        <p:spPr>
          <a:xfrm>
            <a:off x="3474720" y="1097280"/>
            <a:ext cx="1234440" cy="47548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NSF ACCESS</a:t>
            </a:r>
            <a:endParaRPr lang="en-US" sz="1100" dirty="0"/>
          </a:p>
        </p:txBody>
      </p:sp>
      <p:sp>
        <p:nvSpPr>
          <p:cNvPr id="11" name="Shape 9"/>
          <p:cNvSpPr/>
          <p:nvPr/>
        </p:nvSpPr>
        <p:spPr>
          <a:xfrm>
            <a:off x="4754880" y="1051560"/>
            <a:ext cx="1371600" cy="566928"/>
          </a:xfrm>
          <a:prstGeom prst="rect">
            <a:avLst/>
          </a:prstGeom>
          <a:solidFill>
            <a:srgbClr val="065A82"/>
          </a:solidFill>
          <a:ln w="6350">
            <a:solidFill>
              <a:srgbClr val="CBD5E1"/>
            </a:solidFill>
            <a:prstDash val="solid"/>
          </a:ln>
        </p:spPr>
        <p:txBody>
          <a:bodyPr/>
          <a:lstStyle/>
          <a:p>
            <a:endParaRPr lang="en-US"/>
          </a:p>
        </p:txBody>
      </p:sp>
      <p:sp>
        <p:nvSpPr>
          <p:cNvPr id="12" name="Text 10"/>
          <p:cNvSpPr/>
          <p:nvPr/>
        </p:nvSpPr>
        <p:spPr>
          <a:xfrm>
            <a:off x="4846320" y="1097280"/>
            <a:ext cx="1234440" cy="47548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NAIRR pilot</a:t>
            </a:r>
            <a:endParaRPr lang="en-US" sz="1100" dirty="0"/>
          </a:p>
        </p:txBody>
      </p:sp>
      <p:sp>
        <p:nvSpPr>
          <p:cNvPr id="13" name="Shape 11"/>
          <p:cNvSpPr/>
          <p:nvPr/>
        </p:nvSpPr>
        <p:spPr>
          <a:xfrm>
            <a:off x="6126480" y="1051560"/>
            <a:ext cx="1371600" cy="566928"/>
          </a:xfrm>
          <a:prstGeom prst="rect">
            <a:avLst/>
          </a:prstGeom>
          <a:solidFill>
            <a:srgbClr val="065A82"/>
          </a:solidFill>
          <a:ln w="6350">
            <a:solidFill>
              <a:srgbClr val="CBD5E1"/>
            </a:solidFill>
            <a:prstDash val="solid"/>
          </a:ln>
        </p:spPr>
        <p:txBody>
          <a:bodyPr/>
          <a:lstStyle/>
          <a:p>
            <a:endParaRPr lang="en-US"/>
          </a:p>
        </p:txBody>
      </p:sp>
      <p:sp>
        <p:nvSpPr>
          <p:cNvPr id="14" name="Text 12"/>
          <p:cNvSpPr/>
          <p:nvPr/>
        </p:nvSpPr>
        <p:spPr>
          <a:xfrm>
            <a:off x="6217920" y="1097280"/>
            <a:ext cx="1234440" cy="47548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NERSC</a:t>
            </a:r>
            <a:endParaRPr lang="en-US" sz="1100" dirty="0"/>
          </a:p>
        </p:txBody>
      </p:sp>
      <p:sp>
        <p:nvSpPr>
          <p:cNvPr id="15" name="Shape 13"/>
          <p:cNvSpPr/>
          <p:nvPr/>
        </p:nvSpPr>
        <p:spPr>
          <a:xfrm>
            <a:off x="7498080" y="1051560"/>
            <a:ext cx="1371600" cy="566928"/>
          </a:xfrm>
          <a:prstGeom prst="rect">
            <a:avLst/>
          </a:prstGeom>
          <a:solidFill>
            <a:srgbClr val="065A82"/>
          </a:solidFill>
          <a:ln w="6350">
            <a:solidFill>
              <a:srgbClr val="CBD5E1"/>
            </a:solidFill>
            <a:prstDash val="solid"/>
          </a:ln>
        </p:spPr>
        <p:txBody>
          <a:bodyPr/>
          <a:lstStyle/>
          <a:p>
            <a:endParaRPr lang="en-US"/>
          </a:p>
        </p:txBody>
      </p:sp>
      <p:sp>
        <p:nvSpPr>
          <p:cNvPr id="16" name="Text 14"/>
          <p:cNvSpPr/>
          <p:nvPr/>
        </p:nvSpPr>
        <p:spPr>
          <a:xfrm>
            <a:off x="7589520" y="1097280"/>
            <a:ext cx="1234440" cy="47548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NDP</a:t>
            </a:r>
            <a:endParaRPr lang="en-US" sz="1100" dirty="0"/>
          </a:p>
        </p:txBody>
      </p:sp>
      <p:sp>
        <p:nvSpPr>
          <p:cNvPr id="17" name="Shape 15"/>
          <p:cNvSpPr/>
          <p:nvPr/>
        </p:nvSpPr>
        <p:spPr>
          <a:xfrm>
            <a:off x="457200" y="1618488"/>
            <a:ext cx="1554480" cy="566928"/>
          </a:xfrm>
          <a:prstGeom prst="rect">
            <a:avLst/>
          </a:prstGeom>
          <a:solidFill>
            <a:srgbClr val="FFFFFF"/>
          </a:solidFill>
          <a:ln w="6350">
            <a:solidFill>
              <a:srgbClr val="CBD5E1"/>
            </a:solidFill>
            <a:prstDash val="solid"/>
          </a:ln>
        </p:spPr>
        <p:txBody>
          <a:bodyPr/>
          <a:lstStyle/>
          <a:p>
            <a:endParaRPr lang="en-US"/>
          </a:p>
        </p:txBody>
      </p:sp>
      <p:sp>
        <p:nvSpPr>
          <p:cNvPr id="18" name="Text 16"/>
          <p:cNvSpPr/>
          <p:nvPr/>
        </p:nvSpPr>
        <p:spPr>
          <a:xfrm>
            <a:off x="548640" y="1664208"/>
            <a:ext cx="1417320" cy="475488"/>
          </a:xfrm>
          <a:prstGeom prst="rect">
            <a:avLst/>
          </a:prstGeom>
          <a:noFill/>
          <a:ln/>
        </p:spPr>
        <p:txBody>
          <a:bodyPr wrap="square" lIns="0" tIns="0" rIns="0" bIns="0" rtlCol="0" anchor="ctr"/>
          <a:lstStyle/>
          <a:p>
            <a:pPr marL="0" indent="0" algn="l">
              <a:buNone/>
            </a:pPr>
            <a:r>
              <a:rPr lang="en-US" sz="1000" b="1" dirty="0">
                <a:solidFill>
                  <a:srgbClr val="21295C"/>
                </a:solidFill>
                <a:latin typeface="Calibri" pitchFamily="34" charset="0"/>
                <a:ea typeface="Calibri" pitchFamily="34" charset="-122"/>
                <a:cs typeface="Calibri" pitchFamily="34" charset="-120"/>
              </a:rPr>
              <a:t>Primary purpose</a:t>
            </a:r>
            <a:endParaRPr lang="en-US" sz="1000" dirty="0"/>
          </a:p>
        </p:txBody>
      </p:sp>
      <p:sp>
        <p:nvSpPr>
          <p:cNvPr id="19" name="Shape 17"/>
          <p:cNvSpPr/>
          <p:nvPr/>
        </p:nvSpPr>
        <p:spPr>
          <a:xfrm>
            <a:off x="2011680" y="1618488"/>
            <a:ext cx="1371600" cy="566928"/>
          </a:xfrm>
          <a:prstGeom prst="rect">
            <a:avLst/>
          </a:prstGeom>
          <a:solidFill>
            <a:srgbClr val="FFFFFF"/>
          </a:solidFill>
          <a:ln w="6350">
            <a:solidFill>
              <a:srgbClr val="CBD5E1"/>
            </a:solidFill>
            <a:prstDash val="solid"/>
          </a:ln>
        </p:spPr>
        <p:txBody>
          <a:bodyPr/>
          <a:lstStyle/>
          <a:p>
            <a:endParaRPr lang="en-US"/>
          </a:p>
        </p:txBody>
      </p:sp>
      <p:sp>
        <p:nvSpPr>
          <p:cNvPr id="20" name="Text 18"/>
          <p:cNvSpPr/>
          <p:nvPr/>
        </p:nvSpPr>
        <p:spPr>
          <a:xfrm>
            <a:off x="2103120" y="1664208"/>
            <a:ext cx="1234440" cy="475488"/>
          </a:xfrm>
          <a:prstGeom prst="rect">
            <a:avLst/>
          </a:prstGeom>
          <a:noFill/>
          <a:ln/>
        </p:spPr>
        <p:txBody>
          <a:bodyPr wrap="square" lIns="0" tIns="0" rIns="0" bIns="0" rtlCol="0" anchor="ctr"/>
          <a:lstStyle/>
          <a:p>
            <a:pPr marL="0" indent="0" algn="l">
              <a:buNone/>
            </a:pPr>
            <a:r>
              <a:rPr lang="en-US" sz="1000" dirty="0">
                <a:solidFill>
                  <a:srgbClr val="374151"/>
                </a:solidFill>
                <a:latin typeface="Calibri" pitchFamily="34" charset="0"/>
                <a:ea typeface="Calibri" pitchFamily="34" charset="-122"/>
                <a:cs typeface="Calibri" pitchFamily="34" charset="-120"/>
              </a:rPr>
              <a:t>Research + education</a:t>
            </a:r>
            <a:endParaRPr lang="en-US" sz="1000" dirty="0"/>
          </a:p>
        </p:txBody>
      </p:sp>
      <p:sp>
        <p:nvSpPr>
          <p:cNvPr id="21" name="Shape 19"/>
          <p:cNvSpPr/>
          <p:nvPr/>
        </p:nvSpPr>
        <p:spPr>
          <a:xfrm>
            <a:off x="3383280" y="1618488"/>
            <a:ext cx="1371600" cy="566928"/>
          </a:xfrm>
          <a:prstGeom prst="rect">
            <a:avLst/>
          </a:prstGeom>
          <a:solidFill>
            <a:srgbClr val="FFFFFF"/>
          </a:solidFill>
          <a:ln w="6350">
            <a:solidFill>
              <a:srgbClr val="CBD5E1"/>
            </a:solidFill>
            <a:prstDash val="solid"/>
          </a:ln>
        </p:spPr>
        <p:txBody>
          <a:bodyPr/>
          <a:lstStyle/>
          <a:p>
            <a:endParaRPr lang="en-US"/>
          </a:p>
        </p:txBody>
      </p:sp>
      <p:sp>
        <p:nvSpPr>
          <p:cNvPr id="22" name="Text 20"/>
          <p:cNvSpPr/>
          <p:nvPr/>
        </p:nvSpPr>
        <p:spPr>
          <a:xfrm>
            <a:off x="3474720" y="1664208"/>
            <a:ext cx="1234440" cy="475488"/>
          </a:xfrm>
          <a:prstGeom prst="rect">
            <a:avLst/>
          </a:prstGeom>
          <a:noFill/>
          <a:ln/>
        </p:spPr>
        <p:txBody>
          <a:bodyPr wrap="square" lIns="0" tIns="0" rIns="0" bIns="0" rtlCol="0" anchor="ctr"/>
          <a:lstStyle/>
          <a:p>
            <a:pPr marL="0" indent="0" algn="l">
              <a:buNone/>
            </a:pPr>
            <a:r>
              <a:rPr lang="en-US" sz="1000" dirty="0">
                <a:solidFill>
                  <a:srgbClr val="374151"/>
                </a:solidFill>
                <a:latin typeface="Calibri" pitchFamily="34" charset="0"/>
                <a:ea typeface="Calibri" pitchFamily="34" charset="-122"/>
                <a:cs typeface="Calibri" pitchFamily="34" charset="-120"/>
              </a:rPr>
              <a:t>Allocations to NSF compute</a:t>
            </a:r>
            <a:endParaRPr lang="en-US" sz="1000" dirty="0"/>
          </a:p>
        </p:txBody>
      </p:sp>
      <p:sp>
        <p:nvSpPr>
          <p:cNvPr id="23" name="Shape 21"/>
          <p:cNvSpPr/>
          <p:nvPr/>
        </p:nvSpPr>
        <p:spPr>
          <a:xfrm>
            <a:off x="4754880" y="1618488"/>
            <a:ext cx="1371600" cy="566928"/>
          </a:xfrm>
          <a:prstGeom prst="rect">
            <a:avLst/>
          </a:prstGeom>
          <a:solidFill>
            <a:srgbClr val="FFFFFF"/>
          </a:solidFill>
          <a:ln w="6350">
            <a:solidFill>
              <a:srgbClr val="CBD5E1"/>
            </a:solidFill>
            <a:prstDash val="solid"/>
          </a:ln>
        </p:spPr>
        <p:txBody>
          <a:bodyPr/>
          <a:lstStyle/>
          <a:p>
            <a:endParaRPr lang="en-US"/>
          </a:p>
        </p:txBody>
      </p:sp>
      <p:sp>
        <p:nvSpPr>
          <p:cNvPr id="24" name="Text 22"/>
          <p:cNvSpPr/>
          <p:nvPr/>
        </p:nvSpPr>
        <p:spPr>
          <a:xfrm>
            <a:off x="4846320" y="1664208"/>
            <a:ext cx="1234440" cy="475488"/>
          </a:xfrm>
          <a:prstGeom prst="rect">
            <a:avLst/>
          </a:prstGeom>
          <a:noFill/>
          <a:ln/>
        </p:spPr>
        <p:txBody>
          <a:bodyPr wrap="square" lIns="0" tIns="0" rIns="0" bIns="0" rtlCol="0" anchor="ctr"/>
          <a:lstStyle/>
          <a:p>
            <a:pPr marL="0" indent="0" algn="l">
              <a:buNone/>
            </a:pPr>
            <a:r>
              <a:rPr lang="en-US" sz="1000" dirty="0">
                <a:solidFill>
                  <a:srgbClr val="374151"/>
                </a:solidFill>
                <a:latin typeface="Calibri" pitchFamily="34" charset="0"/>
                <a:ea typeface="Calibri" pitchFamily="34" charset="-122"/>
                <a:cs typeface="Calibri" pitchFamily="34" charset="-120"/>
              </a:rPr>
              <a:t>AI research resource</a:t>
            </a:r>
            <a:endParaRPr lang="en-US" sz="1000" dirty="0"/>
          </a:p>
        </p:txBody>
      </p:sp>
      <p:sp>
        <p:nvSpPr>
          <p:cNvPr id="25" name="Shape 23"/>
          <p:cNvSpPr/>
          <p:nvPr/>
        </p:nvSpPr>
        <p:spPr>
          <a:xfrm>
            <a:off x="6126480" y="1618488"/>
            <a:ext cx="1371600" cy="566928"/>
          </a:xfrm>
          <a:prstGeom prst="rect">
            <a:avLst/>
          </a:prstGeom>
          <a:solidFill>
            <a:srgbClr val="FFFFFF"/>
          </a:solidFill>
          <a:ln w="6350">
            <a:solidFill>
              <a:srgbClr val="CBD5E1"/>
            </a:solidFill>
            <a:prstDash val="solid"/>
          </a:ln>
        </p:spPr>
        <p:txBody>
          <a:bodyPr/>
          <a:lstStyle/>
          <a:p>
            <a:endParaRPr lang="en-US"/>
          </a:p>
        </p:txBody>
      </p:sp>
      <p:sp>
        <p:nvSpPr>
          <p:cNvPr id="26" name="Text 24"/>
          <p:cNvSpPr/>
          <p:nvPr/>
        </p:nvSpPr>
        <p:spPr>
          <a:xfrm>
            <a:off x="6217920" y="1664208"/>
            <a:ext cx="1234440" cy="475488"/>
          </a:xfrm>
          <a:prstGeom prst="rect">
            <a:avLst/>
          </a:prstGeom>
          <a:noFill/>
          <a:ln/>
        </p:spPr>
        <p:txBody>
          <a:bodyPr wrap="square" lIns="0" tIns="0" rIns="0" bIns="0" rtlCol="0" anchor="ctr"/>
          <a:lstStyle/>
          <a:p>
            <a:pPr marL="0" indent="0" algn="l">
              <a:buNone/>
            </a:pPr>
            <a:r>
              <a:rPr lang="en-US" sz="1000" dirty="0">
                <a:solidFill>
                  <a:srgbClr val="374151"/>
                </a:solidFill>
                <a:latin typeface="Calibri" pitchFamily="34" charset="0"/>
                <a:ea typeface="Calibri" pitchFamily="34" charset="-122"/>
                <a:cs typeface="Calibri" pitchFamily="34" charset="-120"/>
              </a:rPr>
              <a:t>DOE leadership computing</a:t>
            </a:r>
            <a:endParaRPr lang="en-US" sz="1000" dirty="0"/>
          </a:p>
        </p:txBody>
      </p:sp>
      <p:sp>
        <p:nvSpPr>
          <p:cNvPr id="27" name="Shape 25"/>
          <p:cNvSpPr/>
          <p:nvPr/>
        </p:nvSpPr>
        <p:spPr>
          <a:xfrm>
            <a:off x="7498080" y="1618488"/>
            <a:ext cx="1371600" cy="566928"/>
          </a:xfrm>
          <a:prstGeom prst="rect">
            <a:avLst/>
          </a:prstGeom>
          <a:solidFill>
            <a:srgbClr val="FFFFFF"/>
          </a:solidFill>
          <a:ln w="6350">
            <a:solidFill>
              <a:srgbClr val="CBD5E1"/>
            </a:solidFill>
            <a:prstDash val="solid"/>
          </a:ln>
        </p:spPr>
        <p:txBody>
          <a:bodyPr/>
          <a:lstStyle/>
          <a:p>
            <a:endParaRPr lang="en-US"/>
          </a:p>
        </p:txBody>
      </p:sp>
      <p:sp>
        <p:nvSpPr>
          <p:cNvPr id="28" name="Text 26"/>
          <p:cNvSpPr/>
          <p:nvPr/>
        </p:nvSpPr>
        <p:spPr>
          <a:xfrm>
            <a:off x="7589520" y="1664208"/>
            <a:ext cx="1234440" cy="475488"/>
          </a:xfrm>
          <a:prstGeom prst="rect">
            <a:avLst/>
          </a:prstGeom>
          <a:noFill/>
          <a:ln/>
        </p:spPr>
        <p:txBody>
          <a:bodyPr wrap="square" lIns="0" tIns="0" rIns="0" bIns="0" rtlCol="0" anchor="ctr"/>
          <a:lstStyle/>
          <a:p>
            <a:pPr marL="0" indent="0" algn="l">
              <a:buNone/>
            </a:pPr>
            <a:r>
              <a:rPr lang="en-US" sz="1000" dirty="0">
                <a:solidFill>
                  <a:srgbClr val="374151"/>
                </a:solidFill>
                <a:latin typeface="Calibri" pitchFamily="34" charset="0"/>
                <a:ea typeface="Calibri" pitchFamily="34" charset="-122"/>
                <a:cs typeface="Calibri" pitchFamily="34" charset="-120"/>
              </a:rPr>
              <a:t>Federated AI-ready data</a:t>
            </a:r>
            <a:endParaRPr lang="en-US" sz="1000" dirty="0"/>
          </a:p>
        </p:txBody>
      </p:sp>
      <p:sp>
        <p:nvSpPr>
          <p:cNvPr id="29" name="Shape 27"/>
          <p:cNvSpPr/>
          <p:nvPr/>
        </p:nvSpPr>
        <p:spPr>
          <a:xfrm>
            <a:off x="457200" y="2185416"/>
            <a:ext cx="1554480" cy="566928"/>
          </a:xfrm>
          <a:prstGeom prst="rect">
            <a:avLst/>
          </a:prstGeom>
          <a:solidFill>
            <a:srgbClr val="F4F6FA"/>
          </a:solidFill>
          <a:ln w="6350">
            <a:solidFill>
              <a:srgbClr val="CBD5E1"/>
            </a:solidFill>
            <a:prstDash val="solid"/>
          </a:ln>
        </p:spPr>
        <p:txBody>
          <a:bodyPr/>
          <a:lstStyle/>
          <a:p>
            <a:endParaRPr lang="en-US"/>
          </a:p>
        </p:txBody>
      </p:sp>
      <p:sp>
        <p:nvSpPr>
          <p:cNvPr id="30" name="Text 28"/>
          <p:cNvSpPr/>
          <p:nvPr/>
        </p:nvSpPr>
        <p:spPr>
          <a:xfrm>
            <a:off x="548640" y="2231136"/>
            <a:ext cx="1417320" cy="475488"/>
          </a:xfrm>
          <a:prstGeom prst="rect">
            <a:avLst/>
          </a:prstGeom>
          <a:noFill/>
          <a:ln/>
        </p:spPr>
        <p:txBody>
          <a:bodyPr wrap="square" lIns="0" tIns="0" rIns="0" bIns="0" rtlCol="0" anchor="ctr"/>
          <a:lstStyle/>
          <a:p>
            <a:pPr marL="0" indent="0" algn="l">
              <a:buNone/>
            </a:pPr>
            <a:r>
              <a:rPr lang="en-US" sz="1000" b="1" dirty="0">
                <a:solidFill>
                  <a:srgbClr val="21295C"/>
                </a:solidFill>
                <a:latin typeface="Calibri" pitchFamily="34" charset="0"/>
                <a:ea typeface="Calibri" pitchFamily="34" charset="-122"/>
                <a:cs typeface="Calibri" pitchFamily="34" charset="-120"/>
              </a:rPr>
              <a:t>Access model</a:t>
            </a:r>
            <a:endParaRPr lang="en-US" sz="1000" dirty="0"/>
          </a:p>
        </p:txBody>
      </p:sp>
      <p:sp>
        <p:nvSpPr>
          <p:cNvPr id="31" name="Shape 29"/>
          <p:cNvSpPr/>
          <p:nvPr/>
        </p:nvSpPr>
        <p:spPr>
          <a:xfrm>
            <a:off x="2011680" y="2185416"/>
            <a:ext cx="1371600" cy="566928"/>
          </a:xfrm>
          <a:prstGeom prst="rect">
            <a:avLst/>
          </a:prstGeom>
          <a:solidFill>
            <a:srgbClr val="F4F6FA"/>
          </a:solidFill>
          <a:ln w="6350">
            <a:solidFill>
              <a:srgbClr val="CBD5E1"/>
            </a:solidFill>
            <a:prstDash val="solid"/>
          </a:ln>
        </p:spPr>
        <p:txBody>
          <a:bodyPr/>
          <a:lstStyle/>
          <a:p>
            <a:endParaRPr lang="en-US"/>
          </a:p>
        </p:txBody>
      </p:sp>
      <p:sp>
        <p:nvSpPr>
          <p:cNvPr id="32" name="Text 30"/>
          <p:cNvSpPr/>
          <p:nvPr/>
        </p:nvSpPr>
        <p:spPr>
          <a:xfrm>
            <a:off x="2103120" y="2231136"/>
            <a:ext cx="1234440" cy="475488"/>
          </a:xfrm>
          <a:prstGeom prst="rect">
            <a:avLst/>
          </a:prstGeom>
          <a:noFill/>
          <a:ln/>
        </p:spPr>
        <p:txBody>
          <a:bodyPr wrap="square" lIns="0" tIns="0" rIns="0" bIns="0" rtlCol="0" anchor="ctr"/>
          <a:lstStyle/>
          <a:p>
            <a:pPr marL="0" indent="0" algn="l">
              <a:buNone/>
            </a:pPr>
            <a:r>
              <a:rPr lang="en-US" sz="1000" dirty="0">
                <a:solidFill>
                  <a:srgbClr val="374151"/>
                </a:solidFill>
                <a:latin typeface="Calibri" pitchFamily="34" charset="0"/>
                <a:ea typeface="Calibri" pitchFamily="34" charset="-122"/>
                <a:cs typeface="Calibri" pitchFamily="34" charset="-120"/>
              </a:rPr>
              <a:t>Open at point of use</a:t>
            </a:r>
            <a:endParaRPr lang="en-US" sz="1000" dirty="0"/>
          </a:p>
        </p:txBody>
      </p:sp>
      <p:sp>
        <p:nvSpPr>
          <p:cNvPr id="33" name="Shape 31"/>
          <p:cNvSpPr/>
          <p:nvPr/>
        </p:nvSpPr>
        <p:spPr>
          <a:xfrm>
            <a:off x="3383280" y="2185416"/>
            <a:ext cx="1371600" cy="566928"/>
          </a:xfrm>
          <a:prstGeom prst="rect">
            <a:avLst/>
          </a:prstGeom>
          <a:solidFill>
            <a:srgbClr val="F4F6FA"/>
          </a:solidFill>
          <a:ln w="6350">
            <a:solidFill>
              <a:srgbClr val="CBD5E1"/>
            </a:solidFill>
            <a:prstDash val="solid"/>
          </a:ln>
        </p:spPr>
        <p:txBody>
          <a:bodyPr/>
          <a:lstStyle/>
          <a:p>
            <a:endParaRPr lang="en-US"/>
          </a:p>
        </p:txBody>
      </p:sp>
      <p:sp>
        <p:nvSpPr>
          <p:cNvPr id="34" name="Text 32"/>
          <p:cNvSpPr/>
          <p:nvPr/>
        </p:nvSpPr>
        <p:spPr>
          <a:xfrm>
            <a:off x="3474720" y="2231136"/>
            <a:ext cx="1234440" cy="475488"/>
          </a:xfrm>
          <a:prstGeom prst="rect">
            <a:avLst/>
          </a:prstGeom>
          <a:noFill/>
          <a:ln/>
        </p:spPr>
        <p:txBody>
          <a:bodyPr wrap="square" lIns="0" tIns="0" rIns="0" bIns="0" rtlCol="0" anchor="ctr"/>
          <a:lstStyle/>
          <a:p>
            <a:pPr marL="0" indent="0" algn="l">
              <a:buNone/>
            </a:pPr>
            <a:r>
              <a:rPr lang="en-US" sz="1000" dirty="0">
                <a:solidFill>
                  <a:srgbClr val="374151"/>
                </a:solidFill>
                <a:latin typeface="Calibri" pitchFamily="34" charset="0"/>
                <a:ea typeface="Calibri" pitchFamily="34" charset="-122"/>
                <a:cs typeface="Calibri" pitchFamily="34" charset="-120"/>
              </a:rPr>
              <a:t>Proposal-based allocation</a:t>
            </a:r>
            <a:endParaRPr lang="en-US" sz="1000" dirty="0"/>
          </a:p>
        </p:txBody>
      </p:sp>
      <p:sp>
        <p:nvSpPr>
          <p:cNvPr id="35" name="Shape 33"/>
          <p:cNvSpPr/>
          <p:nvPr/>
        </p:nvSpPr>
        <p:spPr>
          <a:xfrm>
            <a:off x="4754880" y="2185416"/>
            <a:ext cx="1371600" cy="566928"/>
          </a:xfrm>
          <a:prstGeom prst="rect">
            <a:avLst/>
          </a:prstGeom>
          <a:solidFill>
            <a:srgbClr val="F4F6FA"/>
          </a:solidFill>
          <a:ln w="6350">
            <a:solidFill>
              <a:srgbClr val="CBD5E1"/>
            </a:solidFill>
            <a:prstDash val="solid"/>
          </a:ln>
        </p:spPr>
        <p:txBody>
          <a:bodyPr/>
          <a:lstStyle/>
          <a:p>
            <a:endParaRPr lang="en-US"/>
          </a:p>
        </p:txBody>
      </p:sp>
      <p:sp>
        <p:nvSpPr>
          <p:cNvPr id="36" name="Text 34"/>
          <p:cNvSpPr/>
          <p:nvPr/>
        </p:nvSpPr>
        <p:spPr>
          <a:xfrm>
            <a:off x="4846320" y="2231136"/>
            <a:ext cx="1234440" cy="475488"/>
          </a:xfrm>
          <a:prstGeom prst="rect">
            <a:avLst/>
          </a:prstGeom>
          <a:noFill/>
          <a:ln/>
        </p:spPr>
        <p:txBody>
          <a:bodyPr wrap="square" lIns="0" tIns="0" rIns="0" bIns="0" rtlCol="0" anchor="ctr"/>
          <a:lstStyle/>
          <a:p>
            <a:pPr marL="0" indent="0" algn="l">
              <a:buNone/>
            </a:pPr>
            <a:r>
              <a:rPr lang="en-US" sz="1000" dirty="0">
                <a:solidFill>
                  <a:srgbClr val="374151"/>
                </a:solidFill>
                <a:latin typeface="Calibri" pitchFamily="34" charset="0"/>
                <a:ea typeface="Calibri" pitchFamily="34" charset="-122"/>
                <a:cs typeface="Calibri" pitchFamily="34" charset="-120"/>
              </a:rPr>
              <a:t>3-page resource request</a:t>
            </a:r>
            <a:endParaRPr lang="en-US" sz="1000" dirty="0"/>
          </a:p>
        </p:txBody>
      </p:sp>
      <p:sp>
        <p:nvSpPr>
          <p:cNvPr id="37" name="Shape 35"/>
          <p:cNvSpPr/>
          <p:nvPr/>
        </p:nvSpPr>
        <p:spPr>
          <a:xfrm>
            <a:off x="6126480" y="2185416"/>
            <a:ext cx="1371600" cy="566928"/>
          </a:xfrm>
          <a:prstGeom prst="rect">
            <a:avLst/>
          </a:prstGeom>
          <a:solidFill>
            <a:srgbClr val="F4F6FA"/>
          </a:solidFill>
          <a:ln w="6350">
            <a:solidFill>
              <a:srgbClr val="CBD5E1"/>
            </a:solidFill>
            <a:prstDash val="solid"/>
          </a:ln>
        </p:spPr>
        <p:txBody>
          <a:bodyPr/>
          <a:lstStyle/>
          <a:p>
            <a:endParaRPr lang="en-US"/>
          </a:p>
        </p:txBody>
      </p:sp>
      <p:sp>
        <p:nvSpPr>
          <p:cNvPr id="38" name="Text 36"/>
          <p:cNvSpPr/>
          <p:nvPr/>
        </p:nvSpPr>
        <p:spPr>
          <a:xfrm>
            <a:off x="6217920" y="2231136"/>
            <a:ext cx="1234440" cy="475488"/>
          </a:xfrm>
          <a:prstGeom prst="rect">
            <a:avLst/>
          </a:prstGeom>
          <a:noFill/>
          <a:ln/>
        </p:spPr>
        <p:txBody>
          <a:bodyPr wrap="square" lIns="0" tIns="0" rIns="0" bIns="0" rtlCol="0" anchor="ctr"/>
          <a:lstStyle/>
          <a:p>
            <a:pPr marL="0" indent="0" algn="l">
              <a:buNone/>
            </a:pPr>
            <a:r>
              <a:rPr lang="en-US" sz="1000" dirty="0">
                <a:solidFill>
                  <a:srgbClr val="374151"/>
                </a:solidFill>
                <a:latin typeface="Calibri" pitchFamily="34" charset="0"/>
                <a:ea typeface="Calibri" pitchFamily="34" charset="-122"/>
                <a:cs typeface="Calibri" pitchFamily="34" charset="-120"/>
              </a:rPr>
              <a:t>DOE-aligned PI allocation</a:t>
            </a:r>
            <a:endParaRPr lang="en-US" sz="1000" dirty="0"/>
          </a:p>
        </p:txBody>
      </p:sp>
      <p:sp>
        <p:nvSpPr>
          <p:cNvPr id="39" name="Shape 37"/>
          <p:cNvSpPr/>
          <p:nvPr/>
        </p:nvSpPr>
        <p:spPr>
          <a:xfrm>
            <a:off x="7498080" y="2185416"/>
            <a:ext cx="1371600" cy="566928"/>
          </a:xfrm>
          <a:prstGeom prst="rect">
            <a:avLst/>
          </a:prstGeom>
          <a:solidFill>
            <a:srgbClr val="F4F6FA"/>
          </a:solidFill>
          <a:ln w="6350">
            <a:solidFill>
              <a:srgbClr val="CBD5E1"/>
            </a:solidFill>
            <a:prstDash val="solid"/>
          </a:ln>
        </p:spPr>
        <p:txBody>
          <a:bodyPr/>
          <a:lstStyle/>
          <a:p>
            <a:endParaRPr lang="en-US"/>
          </a:p>
        </p:txBody>
      </p:sp>
      <p:sp>
        <p:nvSpPr>
          <p:cNvPr id="40" name="Text 38"/>
          <p:cNvSpPr/>
          <p:nvPr/>
        </p:nvSpPr>
        <p:spPr>
          <a:xfrm>
            <a:off x="7589520" y="2231136"/>
            <a:ext cx="1234440" cy="475488"/>
          </a:xfrm>
          <a:prstGeom prst="rect">
            <a:avLst/>
          </a:prstGeom>
          <a:noFill/>
          <a:ln/>
        </p:spPr>
        <p:txBody>
          <a:bodyPr wrap="square" lIns="0" tIns="0" rIns="0" bIns="0" rtlCol="0" anchor="ctr"/>
          <a:lstStyle/>
          <a:p>
            <a:pPr marL="0" indent="0" algn="l">
              <a:buNone/>
            </a:pPr>
            <a:r>
              <a:rPr lang="en-US" sz="1000" dirty="0">
                <a:solidFill>
                  <a:srgbClr val="374151"/>
                </a:solidFill>
                <a:latin typeface="Calibri" pitchFamily="34" charset="0"/>
                <a:ea typeface="Calibri" pitchFamily="34" charset="-122"/>
                <a:cs typeface="Calibri" pitchFamily="34" charset="-120"/>
              </a:rPr>
              <a:t>Federation; API + endpoints</a:t>
            </a:r>
            <a:endParaRPr lang="en-US" sz="1000" dirty="0"/>
          </a:p>
        </p:txBody>
      </p:sp>
      <p:sp>
        <p:nvSpPr>
          <p:cNvPr id="41" name="Shape 39"/>
          <p:cNvSpPr/>
          <p:nvPr/>
        </p:nvSpPr>
        <p:spPr>
          <a:xfrm>
            <a:off x="457200" y="2752344"/>
            <a:ext cx="1554480" cy="566928"/>
          </a:xfrm>
          <a:prstGeom prst="rect">
            <a:avLst/>
          </a:prstGeom>
          <a:solidFill>
            <a:srgbClr val="FFFFFF"/>
          </a:solidFill>
          <a:ln w="6350">
            <a:solidFill>
              <a:srgbClr val="CBD5E1"/>
            </a:solidFill>
            <a:prstDash val="solid"/>
          </a:ln>
        </p:spPr>
        <p:txBody>
          <a:bodyPr/>
          <a:lstStyle/>
          <a:p>
            <a:endParaRPr lang="en-US"/>
          </a:p>
        </p:txBody>
      </p:sp>
      <p:sp>
        <p:nvSpPr>
          <p:cNvPr id="42" name="Text 40"/>
          <p:cNvSpPr/>
          <p:nvPr/>
        </p:nvSpPr>
        <p:spPr>
          <a:xfrm>
            <a:off x="548640" y="2798064"/>
            <a:ext cx="1417320" cy="475488"/>
          </a:xfrm>
          <a:prstGeom prst="rect">
            <a:avLst/>
          </a:prstGeom>
          <a:noFill/>
          <a:ln/>
        </p:spPr>
        <p:txBody>
          <a:bodyPr wrap="square" lIns="0" tIns="0" rIns="0" bIns="0" rtlCol="0" anchor="ctr"/>
          <a:lstStyle/>
          <a:p>
            <a:pPr marL="0" indent="0" algn="l">
              <a:buNone/>
            </a:pPr>
            <a:r>
              <a:rPr lang="en-US" sz="1000" b="1" dirty="0">
                <a:solidFill>
                  <a:srgbClr val="21295C"/>
                </a:solidFill>
                <a:latin typeface="Calibri" pitchFamily="34" charset="0"/>
                <a:ea typeface="Calibri" pitchFamily="34" charset="-122"/>
                <a:cs typeface="Calibri" pitchFamily="34" charset="-120"/>
              </a:rPr>
              <a:t>Scale</a:t>
            </a:r>
            <a:endParaRPr lang="en-US" sz="1000" dirty="0"/>
          </a:p>
        </p:txBody>
      </p:sp>
      <p:sp>
        <p:nvSpPr>
          <p:cNvPr id="43" name="Shape 41"/>
          <p:cNvSpPr/>
          <p:nvPr/>
        </p:nvSpPr>
        <p:spPr>
          <a:xfrm>
            <a:off x="2011680" y="2752344"/>
            <a:ext cx="1371600" cy="566928"/>
          </a:xfrm>
          <a:prstGeom prst="rect">
            <a:avLst/>
          </a:prstGeom>
          <a:solidFill>
            <a:srgbClr val="FFFFFF"/>
          </a:solidFill>
          <a:ln w="6350">
            <a:solidFill>
              <a:srgbClr val="CBD5E1"/>
            </a:solidFill>
            <a:prstDash val="solid"/>
          </a:ln>
        </p:spPr>
        <p:txBody>
          <a:bodyPr/>
          <a:lstStyle/>
          <a:p>
            <a:endParaRPr lang="en-US"/>
          </a:p>
        </p:txBody>
      </p:sp>
      <p:sp>
        <p:nvSpPr>
          <p:cNvPr id="44" name="Text 42"/>
          <p:cNvSpPr/>
          <p:nvPr/>
        </p:nvSpPr>
        <p:spPr>
          <a:xfrm>
            <a:off x="2103120" y="2798064"/>
            <a:ext cx="1234440" cy="475488"/>
          </a:xfrm>
          <a:prstGeom prst="rect">
            <a:avLst/>
          </a:prstGeom>
          <a:noFill/>
          <a:ln/>
        </p:spPr>
        <p:txBody>
          <a:bodyPr wrap="square" lIns="0" tIns="0" rIns="0" bIns="0" rtlCol="0" anchor="ctr"/>
          <a:lstStyle/>
          <a:p>
            <a:pPr marL="0" indent="0" algn="l">
              <a:buNone/>
            </a:pPr>
            <a:r>
              <a:rPr lang="en-US" sz="1000" dirty="0">
                <a:solidFill>
                  <a:srgbClr val="374151"/>
                </a:solidFill>
                <a:latin typeface="Calibri" pitchFamily="34" charset="0"/>
                <a:ea typeface="Calibri" pitchFamily="34" charset="-122"/>
                <a:cs typeface="Calibri" pitchFamily="34" charset="-120"/>
              </a:rPr>
              <a:t>5,800 users · 8K+ projects</a:t>
            </a:r>
            <a:endParaRPr lang="en-US" sz="1000" dirty="0"/>
          </a:p>
        </p:txBody>
      </p:sp>
      <p:sp>
        <p:nvSpPr>
          <p:cNvPr id="45" name="Shape 43"/>
          <p:cNvSpPr/>
          <p:nvPr/>
        </p:nvSpPr>
        <p:spPr>
          <a:xfrm>
            <a:off x="3383280" y="2752344"/>
            <a:ext cx="1371600" cy="566928"/>
          </a:xfrm>
          <a:prstGeom prst="rect">
            <a:avLst/>
          </a:prstGeom>
          <a:solidFill>
            <a:srgbClr val="FFFFFF"/>
          </a:solidFill>
          <a:ln w="6350">
            <a:solidFill>
              <a:srgbClr val="CBD5E1"/>
            </a:solidFill>
            <a:prstDash val="solid"/>
          </a:ln>
        </p:spPr>
        <p:txBody>
          <a:bodyPr/>
          <a:lstStyle/>
          <a:p>
            <a:endParaRPr lang="en-US"/>
          </a:p>
        </p:txBody>
      </p:sp>
      <p:sp>
        <p:nvSpPr>
          <p:cNvPr id="46" name="Text 44"/>
          <p:cNvSpPr/>
          <p:nvPr/>
        </p:nvSpPr>
        <p:spPr>
          <a:xfrm>
            <a:off x="3474720" y="2798064"/>
            <a:ext cx="1234440" cy="475488"/>
          </a:xfrm>
          <a:prstGeom prst="rect">
            <a:avLst/>
          </a:prstGeom>
          <a:noFill/>
          <a:ln/>
        </p:spPr>
        <p:txBody>
          <a:bodyPr wrap="square" lIns="0" tIns="0" rIns="0" bIns="0" rtlCol="0" anchor="ctr"/>
          <a:lstStyle/>
          <a:p>
            <a:pPr marL="0" indent="0" algn="l">
              <a:buNone/>
            </a:pPr>
            <a:r>
              <a:rPr lang="en-US" sz="1000" dirty="0">
                <a:solidFill>
                  <a:srgbClr val="374151"/>
                </a:solidFill>
                <a:latin typeface="Calibri" pitchFamily="34" charset="0"/>
                <a:ea typeface="Calibri" pitchFamily="34" charset="-122"/>
                <a:cs typeface="Calibri" pitchFamily="34" charset="-120"/>
              </a:rPr>
              <a:t>12K users / yr</a:t>
            </a:r>
            <a:endParaRPr lang="en-US" sz="1000" dirty="0"/>
          </a:p>
        </p:txBody>
      </p:sp>
      <p:sp>
        <p:nvSpPr>
          <p:cNvPr id="47" name="Shape 45"/>
          <p:cNvSpPr/>
          <p:nvPr/>
        </p:nvSpPr>
        <p:spPr>
          <a:xfrm>
            <a:off x="4754880" y="2752344"/>
            <a:ext cx="1371600" cy="566928"/>
          </a:xfrm>
          <a:prstGeom prst="rect">
            <a:avLst/>
          </a:prstGeom>
          <a:solidFill>
            <a:srgbClr val="FFFFFF"/>
          </a:solidFill>
          <a:ln w="6350">
            <a:solidFill>
              <a:srgbClr val="CBD5E1"/>
            </a:solidFill>
            <a:prstDash val="solid"/>
          </a:ln>
        </p:spPr>
        <p:txBody>
          <a:bodyPr/>
          <a:lstStyle/>
          <a:p>
            <a:endParaRPr lang="en-US"/>
          </a:p>
        </p:txBody>
      </p:sp>
      <p:sp>
        <p:nvSpPr>
          <p:cNvPr id="48" name="Text 46"/>
          <p:cNvSpPr/>
          <p:nvPr/>
        </p:nvSpPr>
        <p:spPr>
          <a:xfrm>
            <a:off x="4846320" y="2798064"/>
            <a:ext cx="1234440" cy="475488"/>
          </a:xfrm>
          <a:prstGeom prst="rect">
            <a:avLst/>
          </a:prstGeom>
          <a:noFill/>
          <a:ln/>
        </p:spPr>
        <p:txBody>
          <a:bodyPr wrap="square" lIns="0" tIns="0" rIns="0" bIns="0" rtlCol="0" anchor="ctr"/>
          <a:lstStyle/>
          <a:p>
            <a:pPr marL="0" indent="0" algn="l">
              <a:buNone/>
            </a:pPr>
            <a:r>
              <a:rPr lang="en-US" sz="1000" dirty="0">
                <a:solidFill>
                  <a:srgbClr val="374151"/>
                </a:solidFill>
                <a:latin typeface="Calibri" pitchFamily="34" charset="0"/>
                <a:ea typeface="Calibri" pitchFamily="34" charset="-122"/>
                <a:cs typeface="Calibri" pitchFamily="34" charset="-120"/>
              </a:rPr>
              <a:t>700+ projects · 6K+ students</a:t>
            </a:r>
            <a:endParaRPr lang="en-US" sz="1000" dirty="0"/>
          </a:p>
        </p:txBody>
      </p:sp>
      <p:sp>
        <p:nvSpPr>
          <p:cNvPr id="49" name="Shape 47"/>
          <p:cNvSpPr/>
          <p:nvPr/>
        </p:nvSpPr>
        <p:spPr>
          <a:xfrm>
            <a:off x="6126480" y="2752344"/>
            <a:ext cx="1371600" cy="566928"/>
          </a:xfrm>
          <a:prstGeom prst="rect">
            <a:avLst/>
          </a:prstGeom>
          <a:solidFill>
            <a:srgbClr val="FFFFFF"/>
          </a:solidFill>
          <a:ln w="6350">
            <a:solidFill>
              <a:srgbClr val="CBD5E1"/>
            </a:solidFill>
            <a:prstDash val="solid"/>
          </a:ln>
        </p:spPr>
        <p:txBody>
          <a:bodyPr/>
          <a:lstStyle/>
          <a:p>
            <a:endParaRPr lang="en-US"/>
          </a:p>
        </p:txBody>
      </p:sp>
      <p:sp>
        <p:nvSpPr>
          <p:cNvPr id="50" name="Text 48"/>
          <p:cNvSpPr/>
          <p:nvPr/>
        </p:nvSpPr>
        <p:spPr>
          <a:xfrm>
            <a:off x="6217920" y="2798064"/>
            <a:ext cx="1234440" cy="475488"/>
          </a:xfrm>
          <a:prstGeom prst="rect">
            <a:avLst/>
          </a:prstGeom>
          <a:noFill/>
          <a:ln/>
        </p:spPr>
        <p:txBody>
          <a:bodyPr wrap="square" lIns="0" tIns="0" rIns="0" bIns="0" rtlCol="0" anchor="ctr"/>
          <a:lstStyle/>
          <a:p>
            <a:pPr marL="0" indent="0" algn="l">
              <a:buNone/>
            </a:pPr>
            <a:r>
              <a:rPr lang="en-US" sz="1000" dirty="0">
                <a:solidFill>
                  <a:srgbClr val="374151"/>
                </a:solidFill>
                <a:latin typeface="Calibri" pitchFamily="34" charset="0"/>
                <a:ea typeface="Calibri" pitchFamily="34" charset="-122"/>
                <a:cs typeface="Calibri" pitchFamily="34" charset="-120"/>
              </a:rPr>
              <a:t>11K researchers / yr</a:t>
            </a:r>
            <a:endParaRPr lang="en-US" sz="1000" dirty="0"/>
          </a:p>
        </p:txBody>
      </p:sp>
      <p:sp>
        <p:nvSpPr>
          <p:cNvPr id="51" name="Shape 49"/>
          <p:cNvSpPr/>
          <p:nvPr/>
        </p:nvSpPr>
        <p:spPr>
          <a:xfrm>
            <a:off x="7498080" y="2752344"/>
            <a:ext cx="1371600" cy="566928"/>
          </a:xfrm>
          <a:prstGeom prst="rect">
            <a:avLst/>
          </a:prstGeom>
          <a:solidFill>
            <a:srgbClr val="FFFFFF"/>
          </a:solidFill>
          <a:ln w="6350">
            <a:solidFill>
              <a:srgbClr val="CBD5E1"/>
            </a:solidFill>
            <a:prstDash val="solid"/>
          </a:ln>
        </p:spPr>
        <p:txBody>
          <a:bodyPr/>
          <a:lstStyle/>
          <a:p>
            <a:endParaRPr lang="en-US"/>
          </a:p>
        </p:txBody>
      </p:sp>
      <p:sp>
        <p:nvSpPr>
          <p:cNvPr id="52" name="Text 50"/>
          <p:cNvSpPr/>
          <p:nvPr/>
        </p:nvSpPr>
        <p:spPr>
          <a:xfrm>
            <a:off x="7589520" y="2798064"/>
            <a:ext cx="1234440" cy="475488"/>
          </a:xfrm>
          <a:prstGeom prst="rect">
            <a:avLst/>
          </a:prstGeom>
          <a:noFill/>
          <a:ln/>
        </p:spPr>
        <p:txBody>
          <a:bodyPr wrap="square" lIns="0" tIns="0" rIns="0" bIns="0" rtlCol="0" anchor="ctr"/>
          <a:lstStyle/>
          <a:p>
            <a:pPr marL="0" indent="0" algn="l">
              <a:buNone/>
            </a:pPr>
            <a:r>
              <a:rPr lang="en-US" sz="1000" dirty="0">
                <a:solidFill>
                  <a:srgbClr val="374151"/>
                </a:solidFill>
                <a:latin typeface="Calibri" pitchFamily="34" charset="0"/>
                <a:ea typeface="Calibri" pitchFamily="34" charset="-122"/>
                <a:cs typeface="Calibri" pitchFamily="34" charset="-120"/>
              </a:rPr>
              <a:t>Federated data + workspaces</a:t>
            </a:r>
            <a:endParaRPr lang="en-US" sz="1000" dirty="0"/>
          </a:p>
        </p:txBody>
      </p:sp>
      <p:sp>
        <p:nvSpPr>
          <p:cNvPr id="53" name="Shape 51"/>
          <p:cNvSpPr/>
          <p:nvPr/>
        </p:nvSpPr>
        <p:spPr>
          <a:xfrm>
            <a:off x="457200" y="3319272"/>
            <a:ext cx="1554480" cy="566928"/>
          </a:xfrm>
          <a:prstGeom prst="rect">
            <a:avLst/>
          </a:prstGeom>
          <a:solidFill>
            <a:srgbClr val="F4F6FA"/>
          </a:solidFill>
          <a:ln w="6350">
            <a:solidFill>
              <a:srgbClr val="CBD5E1"/>
            </a:solidFill>
            <a:prstDash val="solid"/>
          </a:ln>
        </p:spPr>
        <p:txBody>
          <a:bodyPr/>
          <a:lstStyle/>
          <a:p>
            <a:endParaRPr lang="en-US"/>
          </a:p>
        </p:txBody>
      </p:sp>
      <p:sp>
        <p:nvSpPr>
          <p:cNvPr id="54" name="Text 52"/>
          <p:cNvSpPr/>
          <p:nvPr/>
        </p:nvSpPr>
        <p:spPr>
          <a:xfrm>
            <a:off x="548640" y="3364992"/>
            <a:ext cx="1417320" cy="475488"/>
          </a:xfrm>
          <a:prstGeom prst="rect">
            <a:avLst/>
          </a:prstGeom>
          <a:noFill/>
          <a:ln/>
        </p:spPr>
        <p:txBody>
          <a:bodyPr wrap="square" lIns="0" tIns="0" rIns="0" bIns="0" rtlCol="0" anchor="ctr"/>
          <a:lstStyle/>
          <a:p>
            <a:pPr marL="0" indent="0" algn="l">
              <a:buNone/>
            </a:pPr>
            <a:r>
              <a:rPr lang="en-US" sz="1000" b="1" dirty="0">
                <a:solidFill>
                  <a:srgbClr val="21295C"/>
                </a:solidFill>
                <a:latin typeface="Calibri" pitchFamily="34" charset="0"/>
                <a:ea typeface="Calibri" pitchFamily="34" charset="-122"/>
                <a:cs typeface="Calibri" pitchFamily="34" charset="-120"/>
              </a:rPr>
              <a:t>What you get</a:t>
            </a:r>
            <a:endParaRPr lang="en-US" sz="1000" dirty="0"/>
          </a:p>
        </p:txBody>
      </p:sp>
      <p:sp>
        <p:nvSpPr>
          <p:cNvPr id="55" name="Shape 53"/>
          <p:cNvSpPr/>
          <p:nvPr/>
        </p:nvSpPr>
        <p:spPr>
          <a:xfrm>
            <a:off x="2011680" y="3319272"/>
            <a:ext cx="1371600" cy="566928"/>
          </a:xfrm>
          <a:prstGeom prst="rect">
            <a:avLst/>
          </a:prstGeom>
          <a:solidFill>
            <a:srgbClr val="F4F6FA"/>
          </a:solidFill>
          <a:ln w="6350">
            <a:solidFill>
              <a:srgbClr val="CBD5E1"/>
            </a:solidFill>
            <a:prstDash val="solid"/>
          </a:ln>
        </p:spPr>
        <p:txBody>
          <a:bodyPr/>
          <a:lstStyle/>
          <a:p>
            <a:endParaRPr lang="en-US"/>
          </a:p>
        </p:txBody>
      </p:sp>
      <p:sp>
        <p:nvSpPr>
          <p:cNvPr id="56" name="Text 54"/>
          <p:cNvSpPr/>
          <p:nvPr/>
        </p:nvSpPr>
        <p:spPr>
          <a:xfrm>
            <a:off x="2103120" y="3364992"/>
            <a:ext cx="1234440" cy="475488"/>
          </a:xfrm>
          <a:prstGeom prst="rect">
            <a:avLst/>
          </a:prstGeom>
          <a:noFill/>
          <a:ln/>
        </p:spPr>
        <p:txBody>
          <a:bodyPr wrap="square" lIns="0" tIns="0" rIns="0" bIns="0" rtlCol="0" anchor="ctr"/>
          <a:lstStyle/>
          <a:p>
            <a:pPr marL="0" indent="0" algn="l">
              <a:buNone/>
            </a:pPr>
            <a:r>
              <a:rPr lang="en-US" sz="1000" dirty="0">
                <a:solidFill>
                  <a:srgbClr val="374151"/>
                </a:solidFill>
                <a:latin typeface="Calibri" pitchFamily="34" charset="0"/>
                <a:ea typeface="Calibri" pitchFamily="34" charset="-122"/>
                <a:cs typeface="Calibri" pitchFamily="34" charset="-120"/>
              </a:rPr>
              <a:t>K8s + Jupyter + LLMs</a:t>
            </a:r>
            <a:endParaRPr lang="en-US" sz="1000" dirty="0"/>
          </a:p>
        </p:txBody>
      </p:sp>
      <p:sp>
        <p:nvSpPr>
          <p:cNvPr id="57" name="Shape 55"/>
          <p:cNvSpPr/>
          <p:nvPr/>
        </p:nvSpPr>
        <p:spPr>
          <a:xfrm>
            <a:off x="3383280" y="3319272"/>
            <a:ext cx="1371600" cy="566928"/>
          </a:xfrm>
          <a:prstGeom prst="rect">
            <a:avLst/>
          </a:prstGeom>
          <a:solidFill>
            <a:srgbClr val="F4F6FA"/>
          </a:solidFill>
          <a:ln w="6350">
            <a:solidFill>
              <a:srgbClr val="CBD5E1"/>
            </a:solidFill>
            <a:prstDash val="solid"/>
          </a:ln>
        </p:spPr>
        <p:txBody>
          <a:bodyPr/>
          <a:lstStyle/>
          <a:p>
            <a:endParaRPr lang="en-US"/>
          </a:p>
        </p:txBody>
      </p:sp>
      <p:sp>
        <p:nvSpPr>
          <p:cNvPr id="58" name="Text 56"/>
          <p:cNvSpPr/>
          <p:nvPr/>
        </p:nvSpPr>
        <p:spPr>
          <a:xfrm>
            <a:off x="3474720" y="3364992"/>
            <a:ext cx="1234440" cy="475488"/>
          </a:xfrm>
          <a:prstGeom prst="rect">
            <a:avLst/>
          </a:prstGeom>
          <a:noFill/>
          <a:ln/>
        </p:spPr>
        <p:txBody>
          <a:bodyPr wrap="square" lIns="0" tIns="0" rIns="0" bIns="0" rtlCol="0" anchor="ctr"/>
          <a:lstStyle/>
          <a:p>
            <a:pPr marL="0" indent="0" algn="l">
              <a:buNone/>
            </a:pPr>
            <a:r>
              <a:rPr lang="en-US" sz="1000" dirty="0">
                <a:solidFill>
                  <a:srgbClr val="374151"/>
                </a:solidFill>
                <a:latin typeface="Calibri" pitchFamily="34" charset="0"/>
                <a:ea typeface="Calibri" pitchFamily="34" charset="-122"/>
                <a:cs typeface="Calibri" pitchFamily="34" charset="-120"/>
              </a:rPr>
              <a:t>Many systems, varying</a:t>
            </a:r>
            <a:endParaRPr lang="en-US" sz="1000" dirty="0"/>
          </a:p>
        </p:txBody>
      </p:sp>
      <p:sp>
        <p:nvSpPr>
          <p:cNvPr id="59" name="Shape 57"/>
          <p:cNvSpPr/>
          <p:nvPr/>
        </p:nvSpPr>
        <p:spPr>
          <a:xfrm>
            <a:off x="4754880" y="3319272"/>
            <a:ext cx="1371600" cy="566928"/>
          </a:xfrm>
          <a:prstGeom prst="rect">
            <a:avLst/>
          </a:prstGeom>
          <a:solidFill>
            <a:srgbClr val="F4F6FA"/>
          </a:solidFill>
          <a:ln w="6350">
            <a:solidFill>
              <a:srgbClr val="CBD5E1"/>
            </a:solidFill>
            <a:prstDash val="solid"/>
          </a:ln>
        </p:spPr>
        <p:txBody>
          <a:bodyPr/>
          <a:lstStyle/>
          <a:p>
            <a:endParaRPr lang="en-US"/>
          </a:p>
        </p:txBody>
      </p:sp>
      <p:sp>
        <p:nvSpPr>
          <p:cNvPr id="60" name="Text 58"/>
          <p:cNvSpPr/>
          <p:nvPr/>
        </p:nvSpPr>
        <p:spPr>
          <a:xfrm>
            <a:off x="4846320" y="3364992"/>
            <a:ext cx="1234440" cy="475488"/>
          </a:xfrm>
          <a:prstGeom prst="rect">
            <a:avLst/>
          </a:prstGeom>
          <a:noFill/>
          <a:ln/>
        </p:spPr>
        <p:txBody>
          <a:bodyPr wrap="square" lIns="0" tIns="0" rIns="0" bIns="0" rtlCol="0" anchor="ctr"/>
          <a:lstStyle/>
          <a:p>
            <a:pPr marL="0" indent="0" algn="l">
              <a:buNone/>
            </a:pPr>
            <a:r>
              <a:rPr lang="en-US" sz="1000" dirty="0">
                <a:solidFill>
                  <a:srgbClr val="374151"/>
                </a:solidFill>
                <a:latin typeface="Calibri" pitchFamily="34" charset="0"/>
                <a:ea typeface="Calibri" pitchFamily="34" charset="-122"/>
                <a:cs typeface="Calibri" pitchFamily="34" charset="-120"/>
              </a:rPr>
              <a:t>Industry &amp; academic GPUs</a:t>
            </a:r>
            <a:endParaRPr lang="en-US" sz="1000" dirty="0"/>
          </a:p>
        </p:txBody>
      </p:sp>
      <p:sp>
        <p:nvSpPr>
          <p:cNvPr id="61" name="Shape 59"/>
          <p:cNvSpPr/>
          <p:nvPr/>
        </p:nvSpPr>
        <p:spPr>
          <a:xfrm>
            <a:off x="6126480" y="3319272"/>
            <a:ext cx="1371600" cy="566928"/>
          </a:xfrm>
          <a:prstGeom prst="rect">
            <a:avLst/>
          </a:prstGeom>
          <a:solidFill>
            <a:srgbClr val="F4F6FA"/>
          </a:solidFill>
          <a:ln w="6350">
            <a:solidFill>
              <a:srgbClr val="CBD5E1"/>
            </a:solidFill>
            <a:prstDash val="solid"/>
          </a:ln>
        </p:spPr>
        <p:txBody>
          <a:bodyPr/>
          <a:lstStyle/>
          <a:p>
            <a:endParaRPr lang="en-US"/>
          </a:p>
        </p:txBody>
      </p:sp>
      <p:sp>
        <p:nvSpPr>
          <p:cNvPr id="62" name="Text 60"/>
          <p:cNvSpPr/>
          <p:nvPr/>
        </p:nvSpPr>
        <p:spPr>
          <a:xfrm>
            <a:off x="6217920" y="3364992"/>
            <a:ext cx="1234440" cy="475488"/>
          </a:xfrm>
          <a:prstGeom prst="rect">
            <a:avLst/>
          </a:prstGeom>
          <a:noFill/>
          <a:ln/>
        </p:spPr>
        <p:txBody>
          <a:bodyPr wrap="square" lIns="0" tIns="0" rIns="0" bIns="0" rtlCol="0" anchor="ctr"/>
          <a:lstStyle/>
          <a:p>
            <a:pPr marL="0" indent="0" algn="l">
              <a:buNone/>
            </a:pPr>
            <a:r>
              <a:rPr lang="en-US" sz="1000" dirty="0">
                <a:solidFill>
                  <a:srgbClr val="374151"/>
                </a:solidFill>
                <a:latin typeface="Calibri" pitchFamily="34" charset="0"/>
                <a:ea typeface="Calibri" pitchFamily="34" charset="-122"/>
                <a:cs typeface="Calibri" pitchFamily="34" charset="-120"/>
              </a:rPr>
              <a:t>Perlmutter, Cori successors</a:t>
            </a:r>
            <a:endParaRPr lang="en-US" sz="1000" dirty="0"/>
          </a:p>
        </p:txBody>
      </p:sp>
      <p:sp>
        <p:nvSpPr>
          <p:cNvPr id="63" name="Shape 61"/>
          <p:cNvSpPr/>
          <p:nvPr/>
        </p:nvSpPr>
        <p:spPr>
          <a:xfrm>
            <a:off x="7498080" y="3319272"/>
            <a:ext cx="1371600" cy="566928"/>
          </a:xfrm>
          <a:prstGeom prst="rect">
            <a:avLst/>
          </a:prstGeom>
          <a:solidFill>
            <a:srgbClr val="F4F6FA"/>
          </a:solidFill>
          <a:ln w="6350">
            <a:solidFill>
              <a:srgbClr val="CBD5E1"/>
            </a:solidFill>
            <a:prstDash val="solid"/>
          </a:ln>
        </p:spPr>
        <p:txBody>
          <a:bodyPr/>
          <a:lstStyle/>
          <a:p>
            <a:endParaRPr lang="en-US"/>
          </a:p>
        </p:txBody>
      </p:sp>
      <p:sp>
        <p:nvSpPr>
          <p:cNvPr id="64" name="Text 62"/>
          <p:cNvSpPr/>
          <p:nvPr/>
        </p:nvSpPr>
        <p:spPr>
          <a:xfrm>
            <a:off x="7589520" y="3364992"/>
            <a:ext cx="1234440" cy="475488"/>
          </a:xfrm>
          <a:prstGeom prst="rect">
            <a:avLst/>
          </a:prstGeom>
          <a:noFill/>
          <a:ln/>
        </p:spPr>
        <p:txBody>
          <a:bodyPr wrap="square" lIns="0" tIns="0" rIns="0" bIns="0" rtlCol="0" anchor="ctr"/>
          <a:lstStyle/>
          <a:p>
            <a:pPr marL="0" indent="0" algn="l">
              <a:buNone/>
            </a:pPr>
            <a:r>
              <a:rPr lang="en-US" sz="1000" dirty="0">
                <a:solidFill>
                  <a:srgbClr val="374151"/>
                </a:solidFill>
                <a:latin typeface="Calibri" pitchFamily="34" charset="0"/>
                <a:ea typeface="Calibri" pitchFamily="34" charset="-122"/>
                <a:cs typeface="Calibri" pitchFamily="34" charset="-120"/>
              </a:rPr>
              <a:t>Data catalogs, classrooms</a:t>
            </a:r>
            <a:endParaRPr lang="en-US" sz="1000" dirty="0"/>
          </a:p>
        </p:txBody>
      </p:sp>
      <p:sp>
        <p:nvSpPr>
          <p:cNvPr id="65" name="Text 63"/>
          <p:cNvSpPr/>
          <p:nvPr/>
        </p:nvSpPr>
        <p:spPr>
          <a:xfrm>
            <a:off x="457200" y="4023360"/>
            <a:ext cx="8229600" cy="64008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Notes: ACCESS is the primary NSF allocation gateway. NAIRR is the federal AI testbed (NSF-led, multi-agency). NERSC is the DOE Office of Science compute center. NDP is the data layer that increasingly works alongside NRP.</a:t>
            </a:r>
            <a:endParaRPr lang="en-US" sz="1000" dirty="0"/>
          </a:p>
        </p:txBody>
      </p:sp>
      <p:sp>
        <p:nvSpPr>
          <p:cNvPr id="66" name="Text 64"/>
          <p:cNvSpPr/>
          <p:nvPr/>
        </p:nvSpPr>
        <p:spPr>
          <a:xfrm>
            <a:off x="457200" y="4800600"/>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NRP @ 7NRP  ·  ITS AI Community of Practice  ·  May 2026</a:t>
            </a:r>
            <a:endParaRPr lang="en-US" sz="900" dirty="0"/>
          </a:p>
        </p:txBody>
      </p:sp>
      <p:sp>
        <p:nvSpPr>
          <p:cNvPr id="67" name="Text 65"/>
          <p:cNvSpPr/>
          <p:nvPr/>
        </p:nvSpPr>
        <p:spPr>
          <a:xfrm>
            <a:off x="8229600" y="4800600"/>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15 / 19</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lIns="0" tIns="0" rIns="0" bIns="0" rtlCol="0" anchor="ctr"/>
          <a:lstStyle/>
          <a:p>
            <a:pPr marL="0" indent="0" algn="l">
              <a:buNone/>
            </a:pPr>
            <a:r>
              <a:rPr lang="en-US" sz="1100" b="1" kern="0" spc="400" dirty="0">
                <a:solidFill>
                  <a:srgbClr val="1C7293"/>
                </a:solidFill>
                <a:latin typeface="Calibri" pitchFamily="34" charset="0"/>
                <a:ea typeface="Calibri" pitchFamily="34" charset="-122"/>
                <a:cs typeface="Calibri" pitchFamily="34" charset="-120"/>
              </a:rPr>
              <a:t>WHERE THIS IS GOING</a:t>
            </a:r>
            <a:endParaRPr lang="en-US" sz="1100" dirty="0"/>
          </a:p>
        </p:txBody>
      </p:sp>
      <p:sp>
        <p:nvSpPr>
          <p:cNvPr id="3" name="Text 1"/>
          <p:cNvSpPr/>
          <p:nvPr/>
        </p:nvSpPr>
        <p:spPr>
          <a:xfrm>
            <a:off x="457200" y="292608"/>
            <a:ext cx="8229600" cy="548640"/>
          </a:xfrm>
          <a:prstGeom prst="rect">
            <a:avLst/>
          </a:prstGeom>
          <a:noFill/>
          <a:ln/>
        </p:spPr>
        <p:txBody>
          <a:bodyPr wrap="square" lIns="0" tIns="0" rIns="0" bIns="0" rtlCol="0" anchor="ctr"/>
          <a:lstStyle/>
          <a:p>
            <a:pPr marL="0" indent="0" algn="l">
              <a:buNone/>
            </a:pPr>
            <a:r>
              <a:rPr lang="en-US" sz="2800" b="1" dirty="0">
                <a:solidFill>
                  <a:srgbClr val="21295C"/>
                </a:solidFill>
                <a:latin typeface="Calibri" pitchFamily="34" charset="0"/>
                <a:ea typeface="Calibri" pitchFamily="34" charset="-122"/>
                <a:cs typeface="Calibri" pitchFamily="34" charset="-120"/>
              </a:rPr>
              <a:t>What's next: agents, data, and an AI-ready ecosystem</a:t>
            </a:r>
            <a:endParaRPr lang="en-US" sz="2800" dirty="0"/>
          </a:p>
        </p:txBody>
      </p:sp>
      <p:sp>
        <p:nvSpPr>
          <p:cNvPr id="4" name="Shape 2"/>
          <p:cNvSpPr/>
          <p:nvPr/>
        </p:nvSpPr>
        <p:spPr>
          <a:xfrm>
            <a:off x="457200" y="868680"/>
            <a:ext cx="8229600" cy="0"/>
          </a:xfrm>
          <a:prstGeom prst="line">
            <a:avLst/>
          </a:prstGeom>
          <a:noFill/>
          <a:ln w="9525">
            <a:solidFill>
              <a:srgbClr val="CBD5E1"/>
            </a:solidFill>
            <a:prstDash val="solid"/>
          </a:ln>
        </p:spPr>
        <p:txBody>
          <a:bodyPr/>
          <a:lstStyle/>
          <a:p>
            <a:endParaRPr lang="en-US"/>
          </a:p>
        </p:txBody>
      </p:sp>
      <p:sp>
        <p:nvSpPr>
          <p:cNvPr id="5" name="Shape 3"/>
          <p:cNvSpPr/>
          <p:nvPr/>
        </p:nvSpPr>
        <p:spPr>
          <a:xfrm>
            <a:off x="457200" y="1097280"/>
            <a:ext cx="365760" cy="365760"/>
          </a:xfrm>
          <a:prstGeom prst="ellipse">
            <a:avLst/>
          </a:prstGeom>
          <a:solidFill>
            <a:srgbClr val="1C7293"/>
          </a:solidFill>
          <a:ln w="12700">
            <a:solidFill>
              <a:srgbClr val="1C7293"/>
            </a:solidFill>
            <a:prstDash val="solid"/>
          </a:ln>
        </p:spPr>
        <p:txBody>
          <a:bodyPr/>
          <a:lstStyle/>
          <a:p>
            <a:endParaRPr lang="en-US"/>
          </a:p>
        </p:txBody>
      </p:sp>
      <p:sp>
        <p:nvSpPr>
          <p:cNvPr id="6" name="Text 4"/>
          <p:cNvSpPr/>
          <p:nvPr/>
        </p:nvSpPr>
        <p:spPr>
          <a:xfrm>
            <a:off x="457200" y="10972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960120" y="1051560"/>
            <a:ext cx="7772400" cy="310896"/>
          </a:xfrm>
          <a:prstGeom prst="rect">
            <a:avLst/>
          </a:prstGeom>
          <a:noFill/>
          <a:ln/>
        </p:spPr>
        <p:txBody>
          <a:bodyPr wrap="square" lIns="0" tIns="0" rIns="0" bIns="0" rtlCol="0" anchor="ctr"/>
          <a:lstStyle/>
          <a:p>
            <a:pPr marL="0" indent="0">
              <a:buNone/>
            </a:pPr>
            <a:r>
              <a:rPr lang="en-US" sz="1400" b="1" dirty="0">
                <a:solidFill>
                  <a:srgbClr val="21295C"/>
                </a:solidFill>
                <a:latin typeface="Calibri" pitchFamily="34" charset="0"/>
                <a:ea typeface="Calibri" pitchFamily="34" charset="-122"/>
                <a:cs typeface="Calibri" pitchFamily="34" charset="-120"/>
              </a:rPr>
              <a:t>Agentic AI on top of trusted infrastructure</a:t>
            </a:r>
            <a:endParaRPr lang="en-US" sz="1400" dirty="0"/>
          </a:p>
        </p:txBody>
      </p:sp>
      <p:sp>
        <p:nvSpPr>
          <p:cNvPr id="8" name="Text 6"/>
          <p:cNvSpPr/>
          <p:nvPr/>
        </p:nvSpPr>
        <p:spPr>
          <a:xfrm>
            <a:off x="960120" y="1371600"/>
            <a:ext cx="7772400" cy="548640"/>
          </a:xfrm>
          <a:prstGeom prst="rect">
            <a:avLst/>
          </a:prstGeom>
          <a:noFill/>
          <a:ln/>
        </p:spPr>
        <p:txBody>
          <a:bodyPr wrap="square" lIns="0" tIns="0" rIns="0" bIns="0" rtlCol="0" anchor="ctr"/>
          <a:lstStyle/>
          <a:p>
            <a:pPr marL="0" indent="0">
              <a:buNone/>
            </a:pPr>
            <a:r>
              <a:rPr lang="en-US" sz="1100" dirty="0">
                <a:solidFill>
                  <a:srgbClr val="374151"/>
                </a:solidFill>
                <a:latin typeface="Calibri" pitchFamily="34" charset="0"/>
                <a:ea typeface="Calibri" pitchFamily="34" charset="-122"/>
                <a:cs typeface="Calibri" pitchFamily="34" charset="-120"/>
              </a:rPr>
              <a:t>Not better chatbots — agents that discover data, assemble workflows, and act on national-scale scientific systems. The compute demand is just beginning to land.</a:t>
            </a:r>
            <a:endParaRPr lang="en-US" sz="1100" dirty="0"/>
          </a:p>
        </p:txBody>
      </p:sp>
      <p:sp>
        <p:nvSpPr>
          <p:cNvPr id="9" name="Shape 7"/>
          <p:cNvSpPr/>
          <p:nvPr/>
        </p:nvSpPr>
        <p:spPr>
          <a:xfrm>
            <a:off x="457200" y="1947672"/>
            <a:ext cx="365760" cy="365760"/>
          </a:xfrm>
          <a:prstGeom prst="ellipse">
            <a:avLst/>
          </a:prstGeom>
          <a:solidFill>
            <a:srgbClr val="1C7293"/>
          </a:solidFill>
          <a:ln w="12700">
            <a:solidFill>
              <a:srgbClr val="1C7293"/>
            </a:solidFill>
            <a:prstDash val="solid"/>
          </a:ln>
        </p:spPr>
        <p:txBody>
          <a:bodyPr/>
          <a:lstStyle/>
          <a:p>
            <a:endParaRPr lang="en-US"/>
          </a:p>
        </p:txBody>
      </p:sp>
      <p:sp>
        <p:nvSpPr>
          <p:cNvPr id="10" name="Text 8"/>
          <p:cNvSpPr/>
          <p:nvPr/>
        </p:nvSpPr>
        <p:spPr>
          <a:xfrm>
            <a:off x="457200" y="1947672"/>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960120" y="1901952"/>
            <a:ext cx="7772400" cy="310896"/>
          </a:xfrm>
          <a:prstGeom prst="rect">
            <a:avLst/>
          </a:prstGeom>
          <a:noFill/>
          <a:ln/>
        </p:spPr>
        <p:txBody>
          <a:bodyPr wrap="square" lIns="0" tIns="0" rIns="0" bIns="0" rtlCol="0" anchor="ctr"/>
          <a:lstStyle/>
          <a:p>
            <a:pPr marL="0" indent="0">
              <a:buNone/>
            </a:pPr>
            <a:r>
              <a:rPr lang="en-US" sz="1400" b="1" dirty="0">
                <a:solidFill>
                  <a:srgbClr val="21295C"/>
                </a:solidFill>
                <a:latin typeface="Calibri" pitchFamily="34" charset="0"/>
                <a:ea typeface="Calibri" pitchFamily="34" charset="-122"/>
                <a:cs typeface="Calibri" pitchFamily="34" charset="-120"/>
              </a:rPr>
              <a:t>Federation of NRP + NDP</a:t>
            </a:r>
            <a:endParaRPr lang="en-US" sz="1400" dirty="0"/>
          </a:p>
        </p:txBody>
      </p:sp>
      <p:sp>
        <p:nvSpPr>
          <p:cNvPr id="12" name="Text 10"/>
          <p:cNvSpPr/>
          <p:nvPr/>
        </p:nvSpPr>
        <p:spPr>
          <a:xfrm>
            <a:off x="960120" y="2221992"/>
            <a:ext cx="7772400" cy="548640"/>
          </a:xfrm>
          <a:prstGeom prst="rect">
            <a:avLst/>
          </a:prstGeom>
          <a:noFill/>
          <a:ln/>
        </p:spPr>
        <p:txBody>
          <a:bodyPr wrap="square" lIns="0" tIns="0" rIns="0" bIns="0" rtlCol="0" anchor="ctr"/>
          <a:lstStyle/>
          <a:p>
            <a:pPr marL="0" indent="0">
              <a:buNone/>
            </a:pPr>
            <a:r>
              <a:rPr lang="en-US" sz="1100" dirty="0">
                <a:solidFill>
                  <a:srgbClr val="374151"/>
                </a:solidFill>
                <a:latin typeface="Calibri" pitchFamily="34" charset="0"/>
                <a:ea typeface="Calibri" pitchFamily="34" charset="-122"/>
                <a:cs typeface="Calibri" pitchFamily="34" charset="-120"/>
              </a:rPr>
              <a:t>NDP endpoints deployable anywhere — campus, edge, cloud — connected to a national catalog. "Workflow is not teamflow." Sharing data is becoming as important as sharing code.</a:t>
            </a:r>
            <a:endParaRPr lang="en-US" sz="1100" dirty="0"/>
          </a:p>
        </p:txBody>
      </p:sp>
      <p:sp>
        <p:nvSpPr>
          <p:cNvPr id="13" name="Shape 11"/>
          <p:cNvSpPr/>
          <p:nvPr/>
        </p:nvSpPr>
        <p:spPr>
          <a:xfrm>
            <a:off x="457200" y="2798064"/>
            <a:ext cx="365760" cy="365760"/>
          </a:xfrm>
          <a:prstGeom prst="ellipse">
            <a:avLst/>
          </a:prstGeom>
          <a:solidFill>
            <a:srgbClr val="1C7293"/>
          </a:solidFill>
          <a:ln w="12700">
            <a:solidFill>
              <a:srgbClr val="1C7293"/>
            </a:solidFill>
            <a:prstDash val="solid"/>
          </a:ln>
        </p:spPr>
        <p:txBody>
          <a:bodyPr/>
          <a:lstStyle/>
          <a:p>
            <a:endParaRPr lang="en-US"/>
          </a:p>
        </p:txBody>
      </p:sp>
      <p:sp>
        <p:nvSpPr>
          <p:cNvPr id="14" name="Text 12"/>
          <p:cNvSpPr/>
          <p:nvPr/>
        </p:nvSpPr>
        <p:spPr>
          <a:xfrm>
            <a:off x="457200" y="2798064"/>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p:nvPr/>
        </p:nvSpPr>
        <p:spPr>
          <a:xfrm>
            <a:off x="960120" y="2752344"/>
            <a:ext cx="7772400" cy="310896"/>
          </a:xfrm>
          <a:prstGeom prst="rect">
            <a:avLst/>
          </a:prstGeom>
          <a:noFill/>
          <a:ln/>
        </p:spPr>
        <p:txBody>
          <a:bodyPr wrap="square" lIns="0" tIns="0" rIns="0" bIns="0" rtlCol="0" anchor="ctr"/>
          <a:lstStyle/>
          <a:p>
            <a:pPr marL="0" indent="0">
              <a:buNone/>
            </a:pPr>
            <a:r>
              <a:rPr lang="en-US" sz="1400" b="1" dirty="0">
                <a:solidFill>
                  <a:srgbClr val="21295C"/>
                </a:solidFill>
                <a:latin typeface="Calibri" pitchFamily="34" charset="0"/>
                <a:ea typeface="Calibri" pitchFamily="34" charset="-122"/>
                <a:cs typeface="Calibri" pitchFamily="34" charset="-120"/>
              </a:rPr>
              <a:t>From edge to HPC, one continuum</a:t>
            </a:r>
            <a:endParaRPr lang="en-US" sz="1400" dirty="0"/>
          </a:p>
        </p:txBody>
      </p:sp>
      <p:sp>
        <p:nvSpPr>
          <p:cNvPr id="16" name="Text 14"/>
          <p:cNvSpPr/>
          <p:nvPr/>
        </p:nvSpPr>
        <p:spPr>
          <a:xfrm>
            <a:off x="960120" y="3072384"/>
            <a:ext cx="7772400" cy="548640"/>
          </a:xfrm>
          <a:prstGeom prst="rect">
            <a:avLst/>
          </a:prstGeom>
          <a:noFill/>
          <a:ln/>
        </p:spPr>
        <p:txBody>
          <a:bodyPr wrap="square" lIns="0" tIns="0" rIns="0" bIns="0" rtlCol="0" anchor="ctr"/>
          <a:lstStyle/>
          <a:p>
            <a:pPr marL="0" indent="0">
              <a:buNone/>
            </a:pPr>
            <a:r>
              <a:rPr lang="en-US" sz="1100" dirty="0">
                <a:solidFill>
                  <a:srgbClr val="374151"/>
                </a:solidFill>
                <a:latin typeface="Calibri" pitchFamily="34" charset="0"/>
                <a:ea typeface="Calibri" pitchFamily="34" charset="-122"/>
                <a:cs typeface="Calibri" pitchFamily="34" charset="-120"/>
              </a:rPr>
              <a:t>Sage Grande sensors, drones in vineyards, AI inference on a Mac Studio in a winery, JupyterHubs on shared GPUs, and leadership-class systems like LCCF — same ecosystem.</a:t>
            </a:r>
            <a:endParaRPr lang="en-US" sz="1100" dirty="0"/>
          </a:p>
        </p:txBody>
      </p:sp>
      <p:sp>
        <p:nvSpPr>
          <p:cNvPr id="17" name="Shape 15"/>
          <p:cNvSpPr/>
          <p:nvPr/>
        </p:nvSpPr>
        <p:spPr>
          <a:xfrm>
            <a:off x="457200" y="3648456"/>
            <a:ext cx="365760" cy="365760"/>
          </a:xfrm>
          <a:prstGeom prst="ellipse">
            <a:avLst/>
          </a:prstGeom>
          <a:solidFill>
            <a:srgbClr val="1C7293"/>
          </a:solidFill>
          <a:ln w="12700">
            <a:solidFill>
              <a:srgbClr val="1C7293"/>
            </a:solidFill>
            <a:prstDash val="solid"/>
          </a:ln>
        </p:spPr>
        <p:txBody>
          <a:bodyPr/>
          <a:lstStyle/>
          <a:p>
            <a:endParaRPr lang="en-US"/>
          </a:p>
        </p:txBody>
      </p:sp>
      <p:sp>
        <p:nvSpPr>
          <p:cNvPr id="18" name="Text 16"/>
          <p:cNvSpPr/>
          <p:nvPr/>
        </p:nvSpPr>
        <p:spPr>
          <a:xfrm>
            <a:off x="457200" y="3648456"/>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7"/>
          <p:cNvSpPr/>
          <p:nvPr/>
        </p:nvSpPr>
        <p:spPr>
          <a:xfrm>
            <a:off x="960120" y="3602736"/>
            <a:ext cx="7772400" cy="310896"/>
          </a:xfrm>
          <a:prstGeom prst="rect">
            <a:avLst/>
          </a:prstGeom>
          <a:noFill/>
          <a:ln/>
        </p:spPr>
        <p:txBody>
          <a:bodyPr wrap="square" lIns="0" tIns="0" rIns="0" bIns="0" rtlCol="0" anchor="ctr"/>
          <a:lstStyle/>
          <a:p>
            <a:pPr marL="0" indent="0">
              <a:buNone/>
            </a:pPr>
            <a:r>
              <a:rPr lang="en-US" sz="1400" b="1" dirty="0">
                <a:solidFill>
                  <a:srgbClr val="21295C"/>
                </a:solidFill>
                <a:latin typeface="Calibri" pitchFamily="34" charset="0"/>
                <a:ea typeface="Calibri" pitchFamily="34" charset="-122"/>
                <a:cs typeface="Calibri" pitchFamily="34" charset="-120"/>
              </a:rPr>
              <a:t>Sustainability of the pilots</a:t>
            </a:r>
            <a:endParaRPr lang="en-US" sz="1400" dirty="0"/>
          </a:p>
        </p:txBody>
      </p:sp>
      <p:sp>
        <p:nvSpPr>
          <p:cNvPr id="20" name="Text 18"/>
          <p:cNvSpPr/>
          <p:nvPr/>
        </p:nvSpPr>
        <p:spPr>
          <a:xfrm>
            <a:off x="960120" y="3922776"/>
            <a:ext cx="7772400" cy="548640"/>
          </a:xfrm>
          <a:prstGeom prst="rect">
            <a:avLst/>
          </a:prstGeom>
          <a:noFill/>
          <a:ln/>
        </p:spPr>
        <p:txBody>
          <a:bodyPr wrap="square" lIns="0" tIns="0" rIns="0" bIns="0" rtlCol="0" anchor="ctr"/>
          <a:lstStyle/>
          <a:p>
            <a:pPr marL="0" indent="0">
              <a:buNone/>
            </a:pPr>
            <a:r>
              <a:rPr lang="en-US" sz="1100" dirty="0">
                <a:solidFill>
                  <a:srgbClr val="374151"/>
                </a:solidFill>
                <a:latin typeface="Calibri" pitchFamily="34" charset="0"/>
                <a:ea typeface="Calibri" pitchFamily="34" charset="-122"/>
                <a:cs typeface="Calibri" pitchFamily="34" charset="-120"/>
              </a:rPr>
              <a:t>NAIRR is on a path from pilot → foundation → at-scale. NRP is exploring sustained funding models. NSF reorganization is real but "NSF is open" — proposals are still being reviewed.</a:t>
            </a:r>
            <a:endParaRPr lang="en-US" sz="1100" dirty="0"/>
          </a:p>
        </p:txBody>
      </p:sp>
      <p:sp>
        <p:nvSpPr>
          <p:cNvPr id="21" name="Text 19"/>
          <p:cNvSpPr/>
          <p:nvPr/>
        </p:nvSpPr>
        <p:spPr>
          <a:xfrm>
            <a:off x="457200" y="4800600"/>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NRP @ 7NRP  ·  ITS AI Community of Practice  ·  May 2026</a:t>
            </a:r>
            <a:endParaRPr lang="en-US" sz="900" dirty="0"/>
          </a:p>
        </p:txBody>
      </p:sp>
      <p:sp>
        <p:nvSpPr>
          <p:cNvPr id="22" name="Text 20"/>
          <p:cNvSpPr/>
          <p:nvPr/>
        </p:nvSpPr>
        <p:spPr>
          <a:xfrm>
            <a:off x="8229600" y="4800600"/>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16 / 19</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lIns="0" tIns="0" rIns="0" bIns="0" rtlCol="0" anchor="ctr"/>
          <a:lstStyle/>
          <a:p>
            <a:pPr marL="0" indent="0" algn="l">
              <a:buNone/>
            </a:pPr>
            <a:r>
              <a:rPr lang="en-US" sz="1100" b="1" kern="0" spc="400" dirty="0">
                <a:solidFill>
                  <a:srgbClr val="1C7293"/>
                </a:solidFill>
                <a:latin typeface="Calibri" pitchFamily="34" charset="0"/>
                <a:ea typeface="Calibri" pitchFamily="34" charset="-122"/>
                <a:cs typeface="Calibri" pitchFamily="34" charset="-120"/>
              </a:rPr>
              <a:t>KEY TAKEAWAYS</a:t>
            </a:r>
            <a:endParaRPr lang="en-US" sz="1100" dirty="0"/>
          </a:p>
        </p:txBody>
      </p:sp>
      <p:sp>
        <p:nvSpPr>
          <p:cNvPr id="3" name="Text 1"/>
          <p:cNvSpPr/>
          <p:nvPr/>
        </p:nvSpPr>
        <p:spPr>
          <a:xfrm>
            <a:off x="457200" y="292608"/>
            <a:ext cx="8229600" cy="548640"/>
          </a:xfrm>
          <a:prstGeom prst="rect">
            <a:avLst/>
          </a:prstGeom>
          <a:noFill/>
          <a:ln/>
        </p:spPr>
        <p:txBody>
          <a:bodyPr wrap="square" lIns="0" tIns="0" rIns="0" bIns="0" rtlCol="0" anchor="ctr"/>
          <a:lstStyle/>
          <a:p>
            <a:pPr marL="0" indent="0" algn="l">
              <a:buNone/>
            </a:pPr>
            <a:r>
              <a:rPr lang="en-US" sz="2800" b="1" dirty="0">
                <a:solidFill>
                  <a:srgbClr val="21295C"/>
                </a:solidFill>
                <a:latin typeface="Calibri" pitchFamily="34" charset="0"/>
                <a:ea typeface="Calibri" pitchFamily="34" charset="-122"/>
                <a:cs typeface="Calibri" pitchFamily="34" charset="-120"/>
              </a:rPr>
              <a:t>Five things I'd like you to walk away with</a:t>
            </a:r>
            <a:endParaRPr lang="en-US" sz="2800" dirty="0"/>
          </a:p>
        </p:txBody>
      </p:sp>
      <p:sp>
        <p:nvSpPr>
          <p:cNvPr id="4" name="Shape 2"/>
          <p:cNvSpPr/>
          <p:nvPr/>
        </p:nvSpPr>
        <p:spPr>
          <a:xfrm>
            <a:off x="457200" y="868680"/>
            <a:ext cx="8229600" cy="0"/>
          </a:xfrm>
          <a:prstGeom prst="line">
            <a:avLst/>
          </a:prstGeom>
          <a:noFill/>
          <a:ln w="9525">
            <a:solidFill>
              <a:srgbClr val="CBD5E1"/>
            </a:solidFill>
            <a:prstDash val="solid"/>
          </a:ln>
        </p:spPr>
        <p:txBody>
          <a:bodyPr/>
          <a:lstStyle/>
          <a:p>
            <a:endParaRPr lang="en-US"/>
          </a:p>
        </p:txBody>
      </p:sp>
      <p:sp>
        <p:nvSpPr>
          <p:cNvPr id="5" name="Shape 3"/>
          <p:cNvSpPr/>
          <p:nvPr/>
        </p:nvSpPr>
        <p:spPr>
          <a:xfrm>
            <a:off x="457200" y="1051560"/>
            <a:ext cx="73152" cy="594360"/>
          </a:xfrm>
          <a:prstGeom prst="rect">
            <a:avLst/>
          </a:prstGeom>
          <a:solidFill>
            <a:srgbClr val="C99B2D"/>
          </a:solidFill>
          <a:ln w="12700">
            <a:solidFill>
              <a:srgbClr val="C99B2D"/>
            </a:solidFill>
            <a:prstDash val="solid"/>
          </a:ln>
        </p:spPr>
        <p:txBody>
          <a:bodyPr/>
          <a:lstStyle/>
          <a:p>
            <a:endParaRPr lang="en-US"/>
          </a:p>
        </p:txBody>
      </p:sp>
      <p:sp>
        <p:nvSpPr>
          <p:cNvPr id="6" name="Text 4"/>
          <p:cNvSpPr/>
          <p:nvPr/>
        </p:nvSpPr>
        <p:spPr>
          <a:xfrm>
            <a:off x="685800" y="1051560"/>
            <a:ext cx="7863840" cy="292608"/>
          </a:xfrm>
          <a:prstGeom prst="rect">
            <a:avLst/>
          </a:prstGeom>
          <a:noFill/>
          <a:ln/>
        </p:spPr>
        <p:txBody>
          <a:bodyPr wrap="square" lIns="0" tIns="0" rIns="0" bIns="0" rtlCol="0" anchor="ctr"/>
          <a:lstStyle/>
          <a:p>
            <a:pPr marL="0" indent="0">
              <a:buNone/>
            </a:pPr>
            <a:r>
              <a:rPr lang="en-US" sz="1400" b="1" dirty="0">
                <a:solidFill>
                  <a:srgbClr val="21295C"/>
                </a:solidFill>
                <a:latin typeface="Calibri" pitchFamily="34" charset="0"/>
                <a:ea typeface="Calibri" pitchFamily="34" charset="-122"/>
                <a:cs typeface="Calibri" pitchFamily="34" charset="-120"/>
              </a:rPr>
              <a:t>NRP is real, free, and growing fast.</a:t>
            </a:r>
            <a:endParaRPr lang="en-US" sz="1400" dirty="0"/>
          </a:p>
        </p:txBody>
      </p:sp>
      <p:sp>
        <p:nvSpPr>
          <p:cNvPr id="7" name="Text 5"/>
          <p:cNvSpPr/>
          <p:nvPr/>
        </p:nvSpPr>
        <p:spPr>
          <a:xfrm>
            <a:off x="685800" y="1344168"/>
            <a:ext cx="7863840" cy="365760"/>
          </a:xfrm>
          <a:prstGeom prst="rect">
            <a:avLst/>
          </a:prstGeom>
          <a:noFill/>
          <a:ln/>
        </p:spPr>
        <p:txBody>
          <a:bodyPr wrap="square" lIns="0" tIns="0" rIns="0" bIns="0" rtlCol="0" anchor="ctr"/>
          <a:lstStyle/>
          <a:p>
            <a:pPr marL="0" indent="0">
              <a:buNone/>
            </a:pPr>
            <a:r>
              <a:rPr lang="en-US" sz="1150" dirty="0">
                <a:solidFill>
                  <a:srgbClr val="374151"/>
                </a:solidFill>
                <a:latin typeface="Calibri" pitchFamily="34" charset="0"/>
                <a:ea typeface="Calibri" pitchFamily="34" charset="-122"/>
                <a:cs typeface="Calibri" pitchFamily="34" charset="-120"/>
              </a:rPr>
              <a:t>129 sites · 1,532 GPUs · 5,800 users · 90% reach it through Jupyter. Cal Poly is already on it.</a:t>
            </a:r>
            <a:endParaRPr lang="en-US" sz="1150" dirty="0"/>
          </a:p>
        </p:txBody>
      </p:sp>
      <p:sp>
        <p:nvSpPr>
          <p:cNvPr id="8" name="Shape 6"/>
          <p:cNvSpPr/>
          <p:nvPr/>
        </p:nvSpPr>
        <p:spPr>
          <a:xfrm>
            <a:off x="457200" y="1728216"/>
            <a:ext cx="73152" cy="594360"/>
          </a:xfrm>
          <a:prstGeom prst="rect">
            <a:avLst/>
          </a:prstGeom>
          <a:solidFill>
            <a:srgbClr val="C99B2D"/>
          </a:solidFill>
          <a:ln w="12700">
            <a:solidFill>
              <a:srgbClr val="C99B2D"/>
            </a:solidFill>
            <a:prstDash val="solid"/>
          </a:ln>
        </p:spPr>
        <p:txBody>
          <a:bodyPr/>
          <a:lstStyle/>
          <a:p>
            <a:endParaRPr lang="en-US"/>
          </a:p>
        </p:txBody>
      </p:sp>
      <p:sp>
        <p:nvSpPr>
          <p:cNvPr id="9" name="Text 7"/>
          <p:cNvSpPr/>
          <p:nvPr/>
        </p:nvSpPr>
        <p:spPr>
          <a:xfrm>
            <a:off x="685800" y="1728216"/>
            <a:ext cx="7863840" cy="292608"/>
          </a:xfrm>
          <a:prstGeom prst="rect">
            <a:avLst/>
          </a:prstGeom>
          <a:noFill/>
          <a:ln/>
        </p:spPr>
        <p:txBody>
          <a:bodyPr wrap="square" lIns="0" tIns="0" rIns="0" bIns="0" rtlCol="0" anchor="ctr"/>
          <a:lstStyle/>
          <a:p>
            <a:pPr marL="0" indent="0">
              <a:buNone/>
            </a:pPr>
            <a:r>
              <a:rPr lang="en-US" sz="1400" b="1" dirty="0">
                <a:solidFill>
                  <a:srgbClr val="21295C"/>
                </a:solidFill>
                <a:latin typeface="Calibri" pitchFamily="34" charset="0"/>
                <a:ea typeface="Calibri" pitchFamily="34" charset="-122"/>
                <a:cs typeface="Calibri" pitchFamily="34" charset="-120"/>
              </a:rPr>
              <a:t>Kubernetes is the substrate; Jupyter is the front door.</a:t>
            </a:r>
            <a:endParaRPr lang="en-US" sz="1400" dirty="0"/>
          </a:p>
        </p:txBody>
      </p:sp>
      <p:sp>
        <p:nvSpPr>
          <p:cNvPr id="10" name="Text 8"/>
          <p:cNvSpPr/>
          <p:nvPr/>
        </p:nvSpPr>
        <p:spPr>
          <a:xfrm>
            <a:off x="685800" y="2020824"/>
            <a:ext cx="7863840" cy="365760"/>
          </a:xfrm>
          <a:prstGeom prst="rect">
            <a:avLst/>
          </a:prstGeom>
          <a:noFill/>
          <a:ln/>
        </p:spPr>
        <p:txBody>
          <a:bodyPr wrap="square" lIns="0" tIns="0" rIns="0" bIns="0" rtlCol="0" anchor="ctr"/>
          <a:lstStyle/>
          <a:p>
            <a:pPr marL="0" indent="0">
              <a:buNone/>
            </a:pPr>
            <a:r>
              <a:rPr lang="en-US" sz="1150" dirty="0">
                <a:solidFill>
                  <a:srgbClr val="374151"/>
                </a:solidFill>
                <a:latin typeface="Calibri" pitchFamily="34" charset="0"/>
                <a:ea typeface="Calibri" pitchFamily="34" charset="-122"/>
                <a:cs typeface="Calibri" pitchFamily="34" charset="-120"/>
              </a:rPr>
              <a:t>Most users never see K8s. The interesting thing is the notebook layer — and now the LLM service on top.</a:t>
            </a:r>
            <a:endParaRPr lang="en-US" sz="1150" dirty="0"/>
          </a:p>
        </p:txBody>
      </p:sp>
      <p:sp>
        <p:nvSpPr>
          <p:cNvPr id="11" name="Shape 9"/>
          <p:cNvSpPr/>
          <p:nvPr/>
        </p:nvSpPr>
        <p:spPr>
          <a:xfrm>
            <a:off x="457200" y="2404872"/>
            <a:ext cx="73152" cy="594360"/>
          </a:xfrm>
          <a:prstGeom prst="rect">
            <a:avLst/>
          </a:prstGeom>
          <a:solidFill>
            <a:srgbClr val="C99B2D"/>
          </a:solidFill>
          <a:ln w="12700">
            <a:solidFill>
              <a:srgbClr val="C99B2D"/>
            </a:solidFill>
            <a:prstDash val="solid"/>
          </a:ln>
        </p:spPr>
        <p:txBody>
          <a:bodyPr/>
          <a:lstStyle/>
          <a:p>
            <a:endParaRPr lang="en-US"/>
          </a:p>
        </p:txBody>
      </p:sp>
      <p:sp>
        <p:nvSpPr>
          <p:cNvPr id="12" name="Text 10"/>
          <p:cNvSpPr/>
          <p:nvPr/>
        </p:nvSpPr>
        <p:spPr>
          <a:xfrm>
            <a:off x="685800" y="2404872"/>
            <a:ext cx="7863840" cy="292608"/>
          </a:xfrm>
          <a:prstGeom prst="rect">
            <a:avLst/>
          </a:prstGeom>
          <a:noFill/>
          <a:ln/>
        </p:spPr>
        <p:txBody>
          <a:bodyPr wrap="square" lIns="0" tIns="0" rIns="0" bIns="0" rtlCol="0" anchor="ctr"/>
          <a:lstStyle/>
          <a:p>
            <a:pPr marL="0" indent="0">
              <a:buNone/>
            </a:pPr>
            <a:r>
              <a:rPr lang="en-US" sz="1400" b="1" dirty="0">
                <a:solidFill>
                  <a:srgbClr val="21295C"/>
                </a:solidFill>
                <a:latin typeface="Calibri" pitchFamily="34" charset="0"/>
                <a:ea typeface="Calibri" pitchFamily="34" charset="-122"/>
                <a:cs typeface="Calibri" pitchFamily="34" charset="-120"/>
              </a:rPr>
              <a:t>Research and education, side by side.</a:t>
            </a:r>
            <a:endParaRPr lang="en-US" sz="1400" dirty="0"/>
          </a:p>
        </p:txBody>
      </p:sp>
      <p:sp>
        <p:nvSpPr>
          <p:cNvPr id="13" name="Text 11"/>
          <p:cNvSpPr/>
          <p:nvPr/>
        </p:nvSpPr>
        <p:spPr>
          <a:xfrm>
            <a:off x="685800" y="2664693"/>
            <a:ext cx="7863840" cy="365760"/>
          </a:xfrm>
          <a:prstGeom prst="rect">
            <a:avLst/>
          </a:prstGeom>
          <a:noFill/>
          <a:ln/>
        </p:spPr>
        <p:txBody>
          <a:bodyPr wrap="square" lIns="0" tIns="0" rIns="0" bIns="0" rtlCol="0" anchor="ctr"/>
          <a:lstStyle/>
          <a:p>
            <a:pPr marL="0" indent="0">
              <a:buNone/>
            </a:pPr>
            <a:r>
              <a:rPr lang="en-US" sz="1150" dirty="0">
                <a:solidFill>
                  <a:srgbClr val="374151"/>
                </a:solidFill>
                <a:latin typeface="Calibri" pitchFamily="34" charset="0"/>
                <a:ea typeface="Calibri" pitchFamily="34" charset="-122"/>
                <a:cs typeface="Calibri" pitchFamily="34" charset="-120"/>
              </a:rPr>
              <a:t>Jupyter is how most users reach NRP — but a significant share of cluster usage runs through direct Kubernetes-based workflows. The platform serves teaching and research at once.</a:t>
            </a:r>
            <a:endParaRPr lang="en-US" sz="1150" dirty="0"/>
          </a:p>
        </p:txBody>
      </p:sp>
      <p:sp>
        <p:nvSpPr>
          <p:cNvPr id="14" name="Shape 12"/>
          <p:cNvSpPr/>
          <p:nvPr/>
        </p:nvSpPr>
        <p:spPr>
          <a:xfrm>
            <a:off x="457200" y="3081528"/>
            <a:ext cx="73152" cy="594360"/>
          </a:xfrm>
          <a:prstGeom prst="rect">
            <a:avLst/>
          </a:prstGeom>
          <a:solidFill>
            <a:srgbClr val="C99B2D"/>
          </a:solidFill>
          <a:ln w="12700">
            <a:solidFill>
              <a:srgbClr val="C99B2D"/>
            </a:solidFill>
            <a:prstDash val="solid"/>
          </a:ln>
        </p:spPr>
        <p:txBody>
          <a:bodyPr/>
          <a:lstStyle/>
          <a:p>
            <a:endParaRPr lang="en-US"/>
          </a:p>
        </p:txBody>
      </p:sp>
      <p:sp>
        <p:nvSpPr>
          <p:cNvPr id="15" name="Text 13"/>
          <p:cNvSpPr/>
          <p:nvPr/>
        </p:nvSpPr>
        <p:spPr>
          <a:xfrm>
            <a:off x="685800" y="3081528"/>
            <a:ext cx="7863840" cy="292608"/>
          </a:xfrm>
          <a:prstGeom prst="rect">
            <a:avLst/>
          </a:prstGeom>
          <a:noFill/>
          <a:ln/>
        </p:spPr>
        <p:txBody>
          <a:bodyPr wrap="square" lIns="0" tIns="0" rIns="0" bIns="0" rtlCol="0" anchor="ctr"/>
          <a:lstStyle/>
          <a:p>
            <a:pPr marL="0" indent="0">
              <a:buNone/>
            </a:pPr>
            <a:r>
              <a:rPr lang="en-US" sz="1400" b="1" dirty="0">
                <a:solidFill>
                  <a:srgbClr val="21295C"/>
                </a:solidFill>
                <a:latin typeface="Calibri" pitchFamily="34" charset="0"/>
                <a:ea typeface="Calibri" pitchFamily="34" charset="-122"/>
                <a:cs typeface="Calibri" pitchFamily="34" charset="-120"/>
              </a:rPr>
              <a:t>California is central — and Cal Poly fits the profile.</a:t>
            </a:r>
            <a:endParaRPr lang="en-US" sz="1400" dirty="0"/>
          </a:p>
        </p:txBody>
      </p:sp>
      <p:sp>
        <p:nvSpPr>
          <p:cNvPr id="16" name="Text 14"/>
          <p:cNvSpPr/>
          <p:nvPr/>
        </p:nvSpPr>
        <p:spPr>
          <a:xfrm>
            <a:off x="685800" y="3374136"/>
            <a:ext cx="7863840" cy="365760"/>
          </a:xfrm>
          <a:prstGeom prst="rect">
            <a:avLst/>
          </a:prstGeom>
          <a:noFill/>
          <a:ln/>
        </p:spPr>
        <p:txBody>
          <a:bodyPr wrap="square" lIns="0" tIns="0" rIns="0" bIns="0" rtlCol="0" anchor="ctr"/>
          <a:lstStyle/>
          <a:p>
            <a:pPr marL="0" indent="0">
              <a:buNone/>
            </a:pPr>
            <a:r>
              <a:rPr lang="en-US" sz="1150" dirty="0">
                <a:solidFill>
                  <a:srgbClr val="374151"/>
                </a:solidFill>
                <a:latin typeface="Calibri" pitchFamily="34" charset="0"/>
                <a:ea typeface="Calibri" pitchFamily="34" charset="-122"/>
                <a:cs typeface="Calibri" pitchFamily="34" charset="-120"/>
              </a:rPr>
              <a:t>72% of LLM token usage is in CA. CENIC is the network. The sister CSUs are running their own playbooks today.</a:t>
            </a:r>
            <a:endParaRPr lang="en-US" sz="1150" dirty="0"/>
          </a:p>
        </p:txBody>
      </p:sp>
      <p:sp>
        <p:nvSpPr>
          <p:cNvPr id="17" name="Shape 15"/>
          <p:cNvSpPr/>
          <p:nvPr/>
        </p:nvSpPr>
        <p:spPr>
          <a:xfrm>
            <a:off x="457200" y="3758184"/>
            <a:ext cx="73152" cy="594360"/>
          </a:xfrm>
          <a:prstGeom prst="rect">
            <a:avLst/>
          </a:prstGeom>
          <a:solidFill>
            <a:srgbClr val="C99B2D"/>
          </a:solidFill>
          <a:ln w="12700">
            <a:solidFill>
              <a:srgbClr val="C99B2D"/>
            </a:solidFill>
            <a:prstDash val="solid"/>
          </a:ln>
        </p:spPr>
        <p:txBody>
          <a:bodyPr/>
          <a:lstStyle/>
          <a:p>
            <a:endParaRPr lang="en-US"/>
          </a:p>
        </p:txBody>
      </p:sp>
      <p:sp>
        <p:nvSpPr>
          <p:cNvPr id="18" name="Text 16"/>
          <p:cNvSpPr/>
          <p:nvPr/>
        </p:nvSpPr>
        <p:spPr>
          <a:xfrm>
            <a:off x="685800" y="3758184"/>
            <a:ext cx="7863840" cy="292608"/>
          </a:xfrm>
          <a:prstGeom prst="rect">
            <a:avLst/>
          </a:prstGeom>
          <a:noFill/>
          <a:ln/>
        </p:spPr>
        <p:txBody>
          <a:bodyPr wrap="square" lIns="0" tIns="0" rIns="0" bIns="0" rtlCol="0" anchor="ctr"/>
          <a:lstStyle/>
          <a:p>
            <a:pPr marL="0" indent="0">
              <a:buNone/>
            </a:pPr>
            <a:r>
              <a:rPr lang="en-US" sz="1400" b="1" dirty="0">
                <a:solidFill>
                  <a:srgbClr val="21295C"/>
                </a:solidFill>
                <a:latin typeface="Calibri" pitchFamily="34" charset="0"/>
                <a:ea typeface="Calibri" pitchFamily="34" charset="-122"/>
                <a:cs typeface="Calibri" pitchFamily="34" charset="-120"/>
              </a:rPr>
              <a:t>The boundary between research, education, and IT is dissolving.</a:t>
            </a:r>
            <a:endParaRPr lang="en-US" sz="1400" dirty="0"/>
          </a:p>
        </p:txBody>
      </p:sp>
      <p:sp>
        <p:nvSpPr>
          <p:cNvPr id="19" name="Text 17"/>
          <p:cNvSpPr/>
          <p:nvPr/>
        </p:nvSpPr>
        <p:spPr>
          <a:xfrm>
            <a:off x="685800" y="4050792"/>
            <a:ext cx="7863840" cy="365760"/>
          </a:xfrm>
          <a:prstGeom prst="rect">
            <a:avLst/>
          </a:prstGeom>
          <a:noFill/>
          <a:ln/>
        </p:spPr>
        <p:txBody>
          <a:bodyPr wrap="square" lIns="0" tIns="0" rIns="0" bIns="0" rtlCol="0" anchor="ctr"/>
          <a:lstStyle/>
          <a:p>
            <a:pPr marL="0" indent="0">
              <a:buNone/>
            </a:pPr>
            <a:r>
              <a:rPr lang="en-US" sz="1150" dirty="0">
                <a:solidFill>
                  <a:srgbClr val="374151"/>
                </a:solidFill>
                <a:latin typeface="Calibri" pitchFamily="34" charset="0"/>
                <a:ea typeface="Calibri" pitchFamily="34" charset="-122"/>
                <a:cs typeface="Calibri" pitchFamily="34" charset="-120"/>
              </a:rPr>
              <a:t>Digital assets in the classroom, AI tutors, federated data, agentic workflows — this work crosses every silo we have.</a:t>
            </a:r>
            <a:endParaRPr lang="en-US" sz="1150" dirty="0"/>
          </a:p>
        </p:txBody>
      </p:sp>
      <p:sp>
        <p:nvSpPr>
          <p:cNvPr id="20" name="Text 18"/>
          <p:cNvSpPr/>
          <p:nvPr/>
        </p:nvSpPr>
        <p:spPr>
          <a:xfrm>
            <a:off x="457200" y="4800600"/>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NRP @ 7NRP  ·  ITS AI Community of Practice  ·  May 2026</a:t>
            </a:r>
            <a:endParaRPr lang="en-US" sz="900" dirty="0"/>
          </a:p>
        </p:txBody>
      </p:sp>
      <p:sp>
        <p:nvSpPr>
          <p:cNvPr id="21" name="Text 19"/>
          <p:cNvSpPr/>
          <p:nvPr/>
        </p:nvSpPr>
        <p:spPr>
          <a:xfrm>
            <a:off x="8229600" y="4800600"/>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17 / 19</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lIns="0" tIns="0" rIns="0" bIns="0" rtlCol="0" anchor="ctr"/>
          <a:lstStyle/>
          <a:p>
            <a:pPr marL="0" indent="0" algn="l">
              <a:buNone/>
            </a:pPr>
            <a:r>
              <a:rPr lang="en-US" sz="1100" b="1" kern="0" spc="400" dirty="0">
                <a:solidFill>
                  <a:srgbClr val="1C7293"/>
                </a:solidFill>
                <a:latin typeface="Calibri" pitchFamily="34" charset="0"/>
                <a:ea typeface="Calibri" pitchFamily="34" charset="-122"/>
                <a:cs typeface="Calibri" pitchFamily="34" charset="-120"/>
              </a:rPr>
              <a:t>RESOURCES</a:t>
            </a:r>
            <a:endParaRPr lang="en-US" sz="1100" dirty="0"/>
          </a:p>
        </p:txBody>
      </p:sp>
      <p:sp>
        <p:nvSpPr>
          <p:cNvPr id="3" name="Text 1"/>
          <p:cNvSpPr/>
          <p:nvPr/>
        </p:nvSpPr>
        <p:spPr>
          <a:xfrm>
            <a:off x="457200" y="292608"/>
            <a:ext cx="8229600" cy="548640"/>
          </a:xfrm>
          <a:prstGeom prst="rect">
            <a:avLst/>
          </a:prstGeom>
          <a:noFill/>
          <a:ln/>
        </p:spPr>
        <p:txBody>
          <a:bodyPr wrap="square" lIns="0" tIns="0" rIns="0" bIns="0" rtlCol="0" anchor="ctr"/>
          <a:lstStyle/>
          <a:p>
            <a:pPr marL="0" indent="0" algn="l">
              <a:buNone/>
            </a:pPr>
            <a:r>
              <a:rPr lang="en-US" sz="2800" b="1" dirty="0">
                <a:solidFill>
                  <a:srgbClr val="21295C"/>
                </a:solidFill>
                <a:latin typeface="Calibri" pitchFamily="34" charset="0"/>
                <a:ea typeface="Calibri" pitchFamily="34" charset="-122"/>
                <a:cs typeface="Calibri" pitchFamily="34" charset="-120"/>
              </a:rPr>
              <a:t>Where to learn more</a:t>
            </a:r>
            <a:endParaRPr lang="en-US" sz="2800" dirty="0"/>
          </a:p>
        </p:txBody>
      </p:sp>
      <p:sp>
        <p:nvSpPr>
          <p:cNvPr id="4" name="Shape 2"/>
          <p:cNvSpPr/>
          <p:nvPr/>
        </p:nvSpPr>
        <p:spPr>
          <a:xfrm>
            <a:off x="457200" y="868680"/>
            <a:ext cx="8229600" cy="0"/>
          </a:xfrm>
          <a:prstGeom prst="line">
            <a:avLst/>
          </a:prstGeom>
          <a:noFill/>
          <a:ln w="9525">
            <a:solidFill>
              <a:srgbClr val="CBD5E1"/>
            </a:solidFill>
            <a:prstDash val="solid"/>
          </a:ln>
        </p:spPr>
        <p:txBody>
          <a:bodyPr/>
          <a:lstStyle/>
          <a:p>
            <a:endParaRPr lang="en-US"/>
          </a:p>
        </p:txBody>
      </p:sp>
      <p:sp>
        <p:nvSpPr>
          <p:cNvPr id="5" name="Text 3"/>
          <p:cNvSpPr/>
          <p:nvPr/>
        </p:nvSpPr>
        <p:spPr>
          <a:xfrm>
            <a:off x="457200" y="1051560"/>
            <a:ext cx="4023360" cy="274320"/>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Platforms &amp; access</a:t>
            </a:r>
            <a:endParaRPr lang="en-US" sz="1300" dirty="0"/>
          </a:p>
        </p:txBody>
      </p:sp>
      <p:sp>
        <p:nvSpPr>
          <p:cNvPr id="6" name="Text 4"/>
          <p:cNvSpPr/>
          <p:nvPr/>
        </p:nvSpPr>
        <p:spPr>
          <a:xfrm>
            <a:off x="457200" y="1371600"/>
            <a:ext cx="4023360" cy="274320"/>
          </a:xfrm>
          <a:prstGeom prst="rect">
            <a:avLst/>
          </a:prstGeom>
          <a:noFill/>
          <a:ln/>
        </p:spPr>
        <p:txBody>
          <a:bodyPr wrap="square" lIns="0" tIns="0" rIns="0" bIns="0"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nrp.ai</a:t>
            </a:r>
            <a:endParaRPr lang="en-US" sz="1200" dirty="0"/>
          </a:p>
        </p:txBody>
      </p:sp>
      <p:sp>
        <p:nvSpPr>
          <p:cNvPr id="7" name="Text 5"/>
          <p:cNvSpPr/>
          <p:nvPr/>
        </p:nvSpPr>
        <p:spPr>
          <a:xfrm>
            <a:off x="457200" y="1645920"/>
            <a:ext cx="4023360" cy="292608"/>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The platform itself — sign in, get a namespace, read the docs</a:t>
            </a:r>
            <a:endParaRPr lang="en-US" sz="1050" dirty="0"/>
          </a:p>
        </p:txBody>
      </p:sp>
      <p:sp>
        <p:nvSpPr>
          <p:cNvPr id="8" name="Text 6"/>
          <p:cNvSpPr/>
          <p:nvPr/>
        </p:nvSpPr>
        <p:spPr>
          <a:xfrm>
            <a:off x="457200" y="1965960"/>
            <a:ext cx="4023360" cy="274320"/>
          </a:xfrm>
          <a:prstGeom prst="rect">
            <a:avLst/>
          </a:prstGeom>
          <a:noFill/>
          <a:ln/>
        </p:spPr>
        <p:txBody>
          <a:bodyPr wrap="square" lIns="0" tIns="0" rIns="0" bIns="0"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nrp.ai/llmtoken</a:t>
            </a:r>
            <a:endParaRPr lang="en-US" sz="1200" dirty="0"/>
          </a:p>
        </p:txBody>
      </p:sp>
      <p:sp>
        <p:nvSpPr>
          <p:cNvPr id="9" name="Text 7"/>
          <p:cNvSpPr/>
          <p:nvPr/>
        </p:nvSpPr>
        <p:spPr>
          <a:xfrm>
            <a:off x="457200" y="2240280"/>
            <a:ext cx="4023360" cy="292608"/>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Generate an LLM API token</a:t>
            </a:r>
            <a:endParaRPr lang="en-US" sz="1050" dirty="0"/>
          </a:p>
        </p:txBody>
      </p:sp>
      <p:sp>
        <p:nvSpPr>
          <p:cNvPr id="10" name="Text 8"/>
          <p:cNvSpPr/>
          <p:nvPr/>
        </p:nvSpPr>
        <p:spPr>
          <a:xfrm>
            <a:off x="457200" y="2560320"/>
            <a:ext cx="4023360" cy="274320"/>
          </a:xfrm>
          <a:prstGeom prst="rect">
            <a:avLst/>
          </a:prstGeom>
          <a:noFill/>
          <a:ln/>
        </p:spPr>
        <p:txBody>
          <a:bodyPr wrap="square" lIns="0" tIns="0" rIns="0" bIns="0"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nationaldataplatform.org</a:t>
            </a:r>
            <a:endParaRPr lang="en-US" sz="1200" dirty="0"/>
          </a:p>
        </p:txBody>
      </p:sp>
      <p:sp>
        <p:nvSpPr>
          <p:cNvPr id="11" name="Text 9"/>
          <p:cNvSpPr/>
          <p:nvPr/>
        </p:nvSpPr>
        <p:spPr>
          <a:xfrm>
            <a:off x="457200" y="2834640"/>
            <a:ext cx="4023360" cy="292608"/>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NDP catalog, classrooms, federation docs</a:t>
            </a:r>
            <a:endParaRPr lang="en-US" sz="1050" dirty="0"/>
          </a:p>
        </p:txBody>
      </p:sp>
      <p:sp>
        <p:nvSpPr>
          <p:cNvPr id="12" name="Text 10"/>
          <p:cNvSpPr/>
          <p:nvPr/>
        </p:nvSpPr>
        <p:spPr>
          <a:xfrm>
            <a:off x="457200" y="3154680"/>
            <a:ext cx="4023360" cy="274320"/>
          </a:xfrm>
          <a:prstGeom prst="rect">
            <a:avLst/>
          </a:prstGeom>
          <a:noFill/>
          <a:ln/>
        </p:spPr>
        <p:txBody>
          <a:bodyPr wrap="square" lIns="0" tIns="0" rIns="0" bIns="0"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nairrpilot.org</a:t>
            </a:r>
            <a:endParaRPr lang="en-US" sz="1200" dirty="0"/>
          </a:p>
        </p:txBody>
      </p:sp>
      <p:sp>
        <p:nvSpPr>
          <p:cNvPr id="13" name="Text 11"/>
          <p:cNvSpPr/>
          <p:nvPr/>
        </p:nvSpPr>
        <p:spPr>
          <a:xfrm>
            <a:off x="457200" y="3429000"/>
            <a:ext cx="4023360" cy="292608"/>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NAIRR resource request form (~6 week turnaround)</a:t>
            </a:r>
            <a:endParaRPr lang="en-US" sz="1050" dirty="0"/>
          </a:p>
        </p:txBody>
      </p:sp>
      <p:sp>
        <p:nvSpPr>
          <p:cNvPr id="14" name="Text 12"/>
          <p:cNvSpPr/>
          <p:nvPr/>
        </p:nvSpPr>
        <p:spPr>
          <a:xfrm>
            <a:off x="4663440" y="1051560"/>
            <a:ext cx="4023360" cy="274320"/>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Communities &amp; curricula</a:t>
            </a:r>
            <a:endParaRPr lang="en-US" sz="1300" dirty="0"/>
          </a:p>
        </p:txBody>
      </p:sp>
      <p:sp>
        <p:nvSpPr>
          <p:cNvPr id="15" name="Text 13"/>
          <p:cNvSpPr/>
          <p:nvPr/>
        </p:nvSpPr>
        <p:spPr>
          <a:xfrm>
            <a:off x="4663440" y="1371600"/>
            <a:ext cx="4023360" cy="274320"/>
          </a:xfrm>
          <a:prstGeom prst="rect">
            <a:avLst/>
          </a:prstGeom>
          <a:noFill/>
          <a:ln/>
        </p:spPr>
        <p:txBody>
          <a:bodyPr wrap="square" lIns="0" tIns="0" rIns="0" bIns="0"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dash.nrp-nautilus.io</a:t>
            </a:r>
            <a:endParaRPr lang="en-US" sz="1200" dirty="0"/>
          </a:p>
        </p:txBody>
      </p:sp>
      <p:sp>
        <p:nvSpPr>
          <p:cNvPr id="16" name="Text 14"/>
          <p:cNvSpPr/>
          <p:nvPr/>
        </p:nvSpPr>
        <p:spPr>
          <a:xfrm>
            <a:off x="4663440" y="1645920"/>
            <a:ext cx="4023360" cy="292608"/>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NRP user dashboard and Grafana metrics</a:t>
            </a:r>
            <a:endParaRPr lang="en-US" sz="1050" dirty="0"/>
          </a:p>
        </p:txBody>
      </p:sp>
      <p:sp>
        <p:nvSpPr>
          <p:cNvPr id="17" name="Text 15"/>
          <p:cNvSpPr/>
          <p:nvPr/>
        </p:nvSpPr>
        <p:spPr>
          <a:xfrm>
            <a:off x="4663440" y="1965960"/>
            <a:ext cx="4023360" cy="274320"/>
          </a:xfrm>
          <a:prstGeom prst="rect">
            <a:avLst/>
          </a:prstGeom>
          <a:noFill/>
          <a:ln/>
        </p:spPr>
        <p:txBody>
          <a:bodyPr wrap="square" lIns="0" tIns="0" rIns="0" bIns="0"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data8.org / data6 curriculum</a:t>
            </a:r>
            <a:endParaRPr lang="en-US" sz="1200" dirty="0"/>
          </a:p>
        </p:txBody>
      </p:sp>
      <p:sp>
        <p:nvSpPr>
          <p:cNvPr id="18" name="Text 16"/>
          <p:cNvSpPr/>
          <p:nvPr/>
        </p:nvSpPr>
        <p:spPr>
          <a:xfrm>
            <a:off x="4663440" y="2240280"/>
            <a:ext cx="4023360" cy="292608"/>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Open intro data-science course, K-12 through CCC</a:t>
            </a:r>
            <a:endParaRPr lang="en-US" sz="1050" dirty="0"/>
          </a:p>
        </p:txBody>
      </p:sp>
      <p:sp>
        <p:nvSpPr>
          <p:cNvPr id="19" name="Text 17"/>
          <p:cNvSpPr/>
          <p:nvPr/>
        </p:nvSpPr>
        <p:spPr>
          <a:xfrm>
            <a:off x="4663440" y="2560320"/>
            <a:ext cx="4023360" cy="274320"/>
          </a:xfrm>
          <a:prstGeom prst="rect">
            <a:avLst/>
          </a:prstGeom>
          <a:noFill/>
          <a:ln/>
        </p:spPr>
        <p:txBody>
          <a:bodyPr wrap="square" lIns="0" tIns="0" rIns="0" bIns="0"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carpentries.org</a:t>
            </a:r>
            <a:endParaRPr lang="en-US" sz="1200" dirty="0"/>
          </a:p>
        </p:txBody>
      </p:sp>
      <p:sp>
        <p:nvSpPr>
          <p:cNvPr id="20" name="Text 18"/>
          <p:cNvSpPr/>
          <p:nvPr/>
        </p:nvSpPr>
        <p:spPr>
          <a:xfrm>
            <a:off x="4663440" y="2834640"/>
            <a:ext cx="4023360" cy="292608"/>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Open data/computational skills training community</a:t>
            </a:r>
            <a:endParaRPr lang="en-US" sz="1050" dirty="0"/>
          </a:p>
        </p:txBody>
      </p:sp>
      <p:sp>
        <p:nvSpPr>
          <p:cNvPr id="21" name="Text 19"/>
          <p:cNvSpPr/>
          <p:nvPr/>
        </p:nvSpPr>
        <p:spPr>
          <a:xfrm>
            <a:off x="4663440" y="3154680"/>
            <a:ext cx="4023360" cy="274320"/>
          </a:xfrm>
          <a:prstGeom prst="rect">
            <a:avLst/>
          </a:prstGeom>
          <a:noFill/>
          <a:ln/>
        </p:spPr>
        <p:txBody>
          <a:bodyPr wrap="square" lIns="0" tIns="0" rIns="0" bIns="0"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scil.ucsd.edu</a:t>
            </a:r>
            <a:endParaRPr lang="en-US" sz="1200" dirty="0"/>
          </a:p>
        </p:txBody>
      </p:sp>
      <p:sp>
        <p:nvSpPr>
          <p:cNvPr id="22" name="Text 20"/>
          <p:cNvSpPr/>
          <p:nvPr/>
        </p:nvSpPr>
        <p:spPr>
          <a:xfrm>
            <a:off x="4663440" y="3429000"/>
            <a:ext cx="4023360" cy="292608"/>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Societal Computing &amp; Innovation Lab — wildfire, climate, etc.</a:t>
            </a:r>
            <a:endParaRPr lang="en-US" sz="1050" dirty="0"/>
          </a:p>
        </p:txBody>
      </p:sp>
      <p:sp>
        <p:nvSpPr>
          <p:cNvPr id="23" name="Shape 21"/>
          <p:cNvSpPr/>
          <p:nvPr/>
        </p:nvSpPr>
        <p:spPr>
          <a:xfrm>
            <a:off x="457200" y="4160520"/>
            <a:ext cx="8229600" cy="411480"/>
          </a:xfrm>
          <a:prstGeom prst="rect">
            <a:avLst/>
          </a:prstGeom>
          <a:solidFill>
            <a:srgbClr val="E8EEF5"/>
          </a:solidFill>
          <a:ln w="12700">
            <a:solidFill>
              <a:srgbClr val="E8EEF5"/>
            </a:solidFill>
            <a:prstDash val="solid"/>
          </a:ln>
        </p:spPr>
        <p:txBody>
          <a:bodyPr/>
          <a:lstStyle/>
          <a:p>
            <a:endParaRPr lang="en-US"/>
          </a:p>
        </p:txBody>
      </p:sp>
      <p:sp>
        <p:nvSpPr>
          <p:cNvPr id="24" name="Text 22"/>
          <p:cNvSpPr/>
          <p:nvPr/>
        </p:nvSpPr>
        <p:spPr>
          <a:xfrm>
            <a:off x="640080" y="4160520"/>
            <a:ext cx="7863840" cy="411480"/>
          </a:xfrm>
          <a:prstGeom prst="rect">
            <a:avLst/>
          </a:prstGeom>
          <a:noFill/>
          <a:ln/>
        </p:spPr>
        <p:txBody>
          <a:bodyPr wrap="square" lIns="0" tIns="0" rIns="0" bIns="0" rtlCol="0" anchor="ctr"/>
          <a:lstStyle/>
          <a:p>
            <a:pPr marL="0" indent="0" algn="l">
              <a:buNone/>
            </a:pPr>
            <a:r>
              <a:rPr lang="en-US" sz="1200" i="1" dirty="0">
                <a:solidFill>
                  <a:srgbClr val="1A2233"/>
                </a:solidFill>
                <a:latin typeface="Calibri" pitchFamily="34" charset="0"/>
                <a:ea typeface="Calibri" pitchFamily="34" charset="-122"/>
                <a:cs typeface="Calibri" pitchFamily="34" charset="-120"/>
              </a:rPr>
              <a:t>Want to talk further? brianspo@calpoly.edu  ·  Slides and notes available on request.</a:t>
            </a:r>
            <a:endParaRPr lang="en-US" sz="1200" dirty="0"/>
          </a:p>
        </p:txBody>
      </p:sp>
      <p:sp>
        <p:nvSpPr>
          <p:cNvPr id="25" name="Text 23"/>
          <p:cNvSpPr/>
          <p:nvPr/>
        </p:nvSpPr>
        <p:spPr>
          <a:xfrm>
            <a:off x="457200" y="4800600"/>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NRP @ 7NRP  ·  ITS AI Community of Practice  ·  May 2026</a:t>
            </a:r>
            <a:endParaRPr lang="en-US" sz="900" dirty="0"/>
          </a:p>
        </p:txBody>
      </p:sp>
      <p:sp>
        <p:nvSpPr>
          <p:cNvPr id="26" name="Text 24"/>
          <p:cNvSpPr/>
          <p:nvPr/>
        </p:nvSpPr>
        <p:spPr>
          <a:xfrm>
            <a:off x="8229600" y="4800600"/>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18 / 19</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9B2D"/>
          </a:solidFill>
          <a:ln w="12700">
            <a:solidFill>
              <a:srgbClr val="C99B2D"/>
            </a:solidFill>
            <a:prstDash val="solid"/>
          </a:ln>
        </p:spPr>
        <p:txBody>
          <a:bodyPr/>
          <a:lstStyle/>
          <a:p>
            <a:endParaRPr lang="en-US"/>
          </a:p>
        </p:txBody>
      </p:sp>
      <p:sp>
        <p:nvSpPr>
          <p:cNvPr id="3" name="Text 1"/>
          <p:cNvSpPr/>
          <p:nvPr/>
        </p:nvSpPr>
        <p:spPr>
          <a:xfrm>
            <a:off x="640080" y="1463040"/>
            <a:ext cx="7863840" cy="502920"/>
          </a:xfrm>
          <a:prstGeom prst="rect">
            <a:avLst/>
          </a:prstGeom>
          <a:noFill/>
          <a:ln/>
        </p:spPr>
        <p:txBody>
          <a:bodyPr wrap="square" lIns="0" tIns="0" rIns="0" bIns="0" rtlCol="0" anchor="ctr"/>
          <a:lstStyle/>
          <a:p>
            <a:pPr marL="0" indent="0">
              <a:buNone/>
            </a:pPr>
            <a:r>
              <a:rPr lang="en-US" sz="1600" b="1" kern="0" spc="800" dirty="0">
                <a:solidFill>
                  <a:srgbClr val="9CC2DC"/>
                </a:solidFill>
                <a:latin typeface="Calibri" pitchFamily="34" charset="0"/>
                <a:ea typeface="Calibri" pitchFamily="34" charset="-122"/>
                <a:cs typeface="Calibri" pitchFamily="34" charset="-120"/>
              </a:rPr>
              <a:t>QUESTIONS</a:t>
            </a:r>
            <a:endParaRPr lang="en-US" sz="1600" dirty="0"/>
          </a:p>
        </p:txBody>
      </p:sp>
      <p:sp>
        <p:nvSpPr>
          <p:cNvPr id="4" name="Text 2"/>
          <p:cNvSpPr/>
          <p:nvPr/>
        </p:nvSpPr>
        <p:spPr>
          <a:xfrm>
            <a:off x="640080" y="1965960"/>
            <a:ext cx="7863840" cy="100584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What's catching your attention?</a:t>
            </a:r>
            <a:endParaRPr lang="en-US" sz="3600" dirty="0"/>
          </a:p>
        </p:txBody>
      </p:sp>
      <p:sp>
        <p:nvSpPr>
          <p:cNvPr id="5" name="Text 3"/>
          <p:cNvSpPr/>
          <p:nvPr/>
        </p:nvSpPr>
        <p:spPr>
          <a:xfrm>
            <a:off x="640080" y="4114800"/>
            <a:ext cx="786384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Brian Spolarich</a:t>
            </a:r>
            <a:r>
              <a:rPr lang="en-US" sz="1400" dirty="0">
                <a:solidFill>
                  <a:srgbClr val="B9C7DA"/>
                </a:solidFill>
                <a:latin typeface="Calibri" pitchFamily="34" charset="0"/>
                <a:ea typeface="Calibri" pitchFamily="34" charset="-122"/>
                <a:cs typeface="Calibri" pitchFamily="34" charset="-120"/>
              </a:rPr>
              <a:t>  ·  brianspo@calpoly.edu  ·  ITS AI Community of Practice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TotalTime>
  <Words>6580</Words>
  <Application>Microsoft Macintosh PowerPoint</Application>
  <PresentationFormat>On-screen Show (16:9)</PresentationFormat>
  <Paragraphs>386</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National Research Platform — Insights from 7NRP</dc:title>
  <dc:subject>NRP overview for ITS AI Community of Practice</dc:subject>
  <dc:creator>Brian Spolarich</dc:creator>
  <cp:lastModifiedBy>Brian W. Spolarich</cp:lastModifiedBy>
  <cp:revision>2</cp:revision>
  <dcterms:created xsi:type="dcterms:W3CDTF">2026-05-20T18:46:06Z</dcterms:created>
  <dcterms:modified xsi:type="dcterms:W3CDTF">2026-05-20T19:25:47Z</dcterms:modified>
</cp:coreProperties>
</file>